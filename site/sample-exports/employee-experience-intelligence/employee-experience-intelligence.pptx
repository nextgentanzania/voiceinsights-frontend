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B7A75"/>
          </a:solidFill>
          <a:ln w="12700">
            <a:solidFill>
              <a:srgbClr val="0B7A75"/>
            </a:solidFill>
            <a:prstDash val="solid"/>
          </a:ln>
        </p:spPr>
      </p:sp>
      <p:sp>
        <p:nvSpPr>
          <p:cNvPr id="3" name="Shape 1"/>
          <p:cNvSpPr/>
          <p:nvPr/>
        </p:nvSpPr>
        <p:spPr>
          <a:xfrm>
            <a:off x="0" y="1536192"/>
            <a:ext cx="12191695" cy="91440"/>
          </a:xfrm>
          <a:prstGeom prst="rect">
            <a:avLst/>
          </a:prstGeom>
          <a:solidFill>
            <a:srgbClr val="D4AF37"/>
          </a:solidFill>
          <a:ln w="12700">
            <a:solidFill>
              <a:srgbClr val="D4AF37"/>
            </a:solidFill>
            <a:prstDash val="solid"/>
          </a:ln>
        </p:spPr>
      </p:sp>
      <p:sp>
        <p:nvSpPr>
          <p:cNvPr id="4" name="Shape 2"/>
          <p:cNvSpPr/>
          <p:nvPr/>
        </p:nvSpPr>
        <p:spPr>
          <a:xfrm>
            <a:off x="1234440" y="1408176"/>
            <a:ext cx="2057400" cy="64008"/>
          </a:xfrm>
          <a:prstGeom prst="rect">
            <a:avLst/>
          </a:prstGeom>
          <a:solidFill>
            <a:srgbClr val="D4AF37"/>
          </a:solidFill>
          <a:ln w="12700">
            <a:solidFill>
              <a:srgbClr val="D4AF37"/>
            </a:solidFill>
            <a:prstDash val="solid"/>
          </a:ln>
        </p:spPr>
      </p:sp>
      <p:pic>
        <p:nvPicPr>
          <p:cNvPr id="5" name="Image 0" descr="preencoded.png">    </p:cNvPr>
          <p:cNvPicPr>
            <a:picLocks noChangeAspect="1"/>
          </p:cNvPicPr>
          <p:nvPr/>
        </p:nvPicPr>
        <p:blipFill>
          <a:blip r:embed="rId1"/>
          <a:stretch>
            <a:fillRect/>
          </a:stretch>
        </p:blipFill>
        <p:spPr>
          <a:xfrm>
            <a:off x="594360" y="320040"/>
            <a:ext cx="777240" cy="548640"/>
          </a:xfrm>
          <a:prstGeom prst="rect">
            <a:avLst/>
          </a:prstGeom>
        </p:spPr>
      </p:pic>
      <p:sp>
        <p:nvSpPr>
          <p:cNvPr id="6" name="Text 3"/>
          <p:cNvSpPr/>
          <p:nvPr/>
        </p:nvSpPr>
        <p:spPr>
          <a:xfrm>
            <a:off x="1508760" y="42976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7" name="Text 4"/>
          <p:cNvSpPr/>
          <p:nvPr/>
        </p:nvSpPr>
        <p:spPr>
          <a:xfrm>
            <a:off x="594360" y="1234440"/>
            <a:ext cx="7132320" cy="228600"/>
          </a:xfrm>
          <a:prstGeom prst="rect">
            <a:avLst/>
          </a:prstGeom>
          <a:noFill/>
          <a:ln/>
        </p:spPr>
        <p:txBody>
          <a:bodyPr wrap="square" lIns="0" tIns="0" rIns="0" bIns="0" rtlCol="0" anchor="ctr"/>
          <a:lstStyle/>
          <a:p>
            <a:pPr indent="0" marL="0">
              <a:buNone/>
            </a:pPr>
            <a:r>
              <a:rPr lang="en-US" sz="900" b="1" spc="100" kern="0" dirty="0">
                <a:solidFill>
                  <a:srgbClr val="D4AF37"/>
                </a:solidFill>
              </a:rPr>
              <a:t>FLAGSHIP SYNTHETIC DEMONSTRATION PUBLICATION | COVER 7</a:t>
            </a:r>
            <a:endParaRPr lang="en-US" sz="900" dirty="0"/>
          </a:p>
        </p:txBody>
      </p:sp>
      <p:sp>
        <p:nvSpPr>
          <p:cNvPr id="8" name="Text 5"/>
          <p:cNvSpPr/>
          <p:nvPr/>
        </p:nvSpPr>
        <p:spPr>
          <a:xfrm>
            <a:off x="594360" y="1828800"/>
            <a:ext cx="7589520" cy="1371600"/>
          </a:xfrm>
          <a:prstGeom prst="rect">
            <a:avLst/>
          </a:prstGeom>
          <a:noFill/>
          <a:ln/>
        </p:spPr>
        <p:txBody>
          <a:bodyPr wrap="square" lIns="0" tIns="0" rIns="0" bIns="0" rtlCol="0" anchor="ctr"/>
          <a:lstStyle/>
          <a:p>
            <a:pPr indent="0" marL="0">
              <a:buNone/>
            </a:pPr>
            <a:r>
              <a:rPr lang="en-US" sz="3000" b="1" dirty="0">
                <a:solidFill>
                  <a:srgbClr val="FFFFFF"/>
                </a:solidFill>
              </a:rPr>
              <a:t>Employee Experience Intelligence Report</a:t>
            </a:r>
            <a:endParaRPr lang="en-US" sz="3000" dirty="0"/>
          </a:p>
        </p:txBody>
      </p:sp>
      <p:sp>
        <p:nvSpPr>
          <p:cNvPr id="9" name="Text 6"/>
          <p:cNvSpPr/>
          <p:nvPr/>
        </p:nvSpPr>
        <p:spPr>
          <a:xfrm>
            <a:off x="594360" y="3566160"/>
            <a:ext cx="5943600" cy="320040"/>
          </a:xfrm>
          <a:prstGeom prst="rect">
            <a:avLst/>
          </a:prstGeom>
          <a:noFill/>
          <a:ln/>
        </p:spPr>
        <p:txBody>
          <a:bodyPr wrap="square" lIns="0" tIns="0" rIns="0" bIns="0" rtlCol="0" anchor="ctr"/>
          <a:lstStyle/>
          <a:p>
            <a:pPr indent="0" marL="0">
              <a:buNone/>
            </a:pPr>
            <a:r>
              <a:rPr lang="en-US" sz="1600" dirty="0">
                <a:solidFill>
                  <a:srgbClr val="DDE9E4"/>
                </a:solidFill>
              </a:rPr>
              <a:t>Rwanda | Workforce Experience</a:t>
            </a:r>
            <a:endParaRPr lang="en-US" sz="1600" dirty="0"/>
          </a:p>
        </p:txBody>
      </p:sp>
      <p:sp>
        <p:nvSpPr>
          <p:cNvPr id="10" name="Text 7"/>
          <p:cNvSpPr/>
          <p:nvPr/>
        </p:nvSpPr>
        <p:spPr>
          <a:xfrm>
            <a:off x="594360" y="4526280"/>
            <a:ext cx="6035040" cy="640080"/>
          </a:xfrm>
          <a:prstGeom prst="rect">
            <a:avLst/>
          </a:prstGeom>
          <a:noFill/>
          <a:ln/>
        </p:spPr>
        <p:txBody>
          <a:bodyPr wrap="square" lIns="0" tIns="0" rIns="0" bIns="0" rtlCol="0" anchor="ctr"/>
          <a:lstStyle/>
          <a:p>
            <a:pPr indent="0" marL="0">
              <a:buNone/>
            </a:pPr>
            <a:r>
              <a:rPr lang="en-US" sz="1100" dirty="0">
                <a:solidFill>
                  <a:srgbClr val="FFFFFF"/>
                </a:solidFill>
              </a:rPr>
              <a:t>Prepared by VoiceInsights Africa</a:t>
            </a:r>
            <a:endParaRPr lang="en-US" sz="1100" dirty="0"/>
          </a:p>
          <a:p>
            <a:pPr indent="0" marL="0">
              <a:buNone/>
            </a:pPr>
            <a:r>
              <a:rPr lang="en-US" sz="1100" dirty="0">
                <a:solidFill>
                  <a:srgbClr val="FFFFFF"/>
                </a:solidFill>
              </a:rPr>
              <a:t>Every Voice. Every Language. Every Insight.</a:t>
            </a:r>
            <a:endParaRPr lang="en-US" sz="1100" dirty="0"/>
          </a:p>
        </p:txBody>
      </p:sp>
      <p:sp>
        <p:nvSpPr>
          <p:cNvPr id="11" name="Text 8"/>
          <p:cNvSpPr/>
          <p:nvPr/>
        </p:nvSpPr>
        <p:spPr>
          <a:xfrm>
            <a:off x="9555480" y="5394960"/>
            <a:ext cx="2194560" cy="640080"/>
          </a:xfrm>
          <a:prstGeom prst="rect">
            <a:avLst/>
          </a:prstGeom>
          <a:noFill/>
          <a:ln/>
        </p:spPr>
        <p:txBody>
          <a:bodyPr wrap="square" lIns="0" tIns="0" rIns="0" bIns="0" rtlCol="0" anchor="ctr"/>
          <a:lstStyle/>
          <a:p>
            <a:pPr algn="ctr" indent="0" marL="0">
              <a:buNone/>
            </a:pPr>
            <a:r>
              <a:rPr lang="en-US" sz="1100" b="1" dirty="0">
                <a:solidFill>
                  <a:srgbClr val="FFFFFF"/>
                </a:solidFill>
              </a:rPr>
              <a:t>SYNTHETIC DATA</a:t>
            </a:r>
            <a:endParaRPr lang="en-US" sz="1100" dirty="0"/>
          </a:p>
          <a:p>
            <a:pPr algn="ctr" indent="0" marL="0">
              <a:buNone/>
            </a:pPr>
            <a:r>
              <a:rPr lang="en-US" sz="1100" b="1" dirty="0">
                <a:solidFill>
                  <a:srgbClr val="FFFFFF"/>
                </a:solidFill>
              </a:rPr>
              <a:t>Not official statistics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EXECUTIVE BRIEF</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The decision in five minutes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This flagship synthetic demonstration publication examines workforce experience performance in Rwanda. The governed evidence model identifies uneven progress, concentrated risks and actionable opportunities. Findings are linked to synthetic source records, recommendations carry named accountability fields, and all statistical claims are generated from one internally consistent dataset.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Set manager quality as an executive performance measure for workforce experience.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Improvement is achievable within 12–18 months if ownership, resourcing and evidence review are maintained.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PERFORMANCE AND CONFIDENCE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Executive dashboard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03 | Synthetic Demonstration Publication</a:t>
            </a:r>
            <a:endParaRPr lang="en-US" sz="700" dirty="0"/>
          </a:p>
        </p:txBody>
      </p:sp>
      <p:sp>
        <p:nvSpPr>
          <p:cNvPr id="8" name="Shape 5"/>
          <p:cNvSpPr/>
          <p:nvPr/>
        </p:nvSpPr>
        <p:spPr>
          <a:xfrm>
            <a:off x="548640" y="1874520"/>
            <a:ext cx="2514600" cy="1280160"/>
          </a:xfrm>
          <a:prstGeom prst="roundRect">
            <a:avLst>
              <a:gd name="adj" fmla="val 5714"/>
            </a:avLst>
          </a:prstGeom>
          <a:solidFill>
            <a:srgbClr val="FFFFFF"/>
          </a:solidFill>
          <a:ln w="12700">
            <a:solidFill>
              <a:srgbClr val="D8E5DF"/>
            </a:solidFill>
            <a:prstDash val="solid"/>
          </a:ln>
        </p:spPr>
      </p:sp>
      <p:sp>
        <p:nvSpPr>
          <p:cNvPr id="9" name="Text 6"/>
          <p:cNvSpPr/>
          <p:nvPr/>
        </p:nvSpPr>
        <p:spPr>
          <a:xfrm>
            <a:off x="713232" y="2121408"/>
            <a:ext cx="2148840" cy="411480"/>
          </a:xfrm>
          <a:prstGeom prst="rect">
            <a:avLst/>
          </a:prstGeom>
          <a:noFill/>
          <a:ln/>
        </p:spPr>
        <p:txBody>
          <a:bodyPr wrap="square" lIns="0" tIns="0" rIns="0" bIns="0" rtlCol="0" anchor="ctr"/>
          <a:lstStyle/>
          <a:p>
            <a:pPr indent="0" marL="0">
              <a:buNone/>
            </a:pPr>
            <a:r>
              <a:rPr lang="en-US" sz="2500" b="1" dirty="0">
                <a:solidFill>
                  <a:srgbClr val="102A43"/>
                </a:solidFill>
              </a:rPr>
              <a:t>4609</a:t>
            </a:r>
            <a:endParaRPr lang="en-US" sz="2500" dirty="0"/>
          </a:p>
        </p:txBody>
      </p:sp>
      <p:sp>
        <p:nvSpPr>
          <p:cNvPr id="10" name="Text 7"/>
          <p:cNvSpPr/>
          <p:nvPr/>
        </p:nvSpPr>
        <p:spPr>
          <a:xfrm>
            <a:off x="71323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Synthetic responses</a:t>
            </a:r>
            <a:endParaRPr lang="en-US" sz="1000" dirty="0"/>
          </a:p>
        </p:txBody>
      </p:sp>
      <p:sp>
        <p:nvSpPr>
          <p:cNvPr id="11" name="Shape 8"/>
          <p:cNvSpPr/>
          <p:nvPr/>
        </p:nvSpPr>
        <p:spPr>
          <a:xfrm>
            <a:off x="3337560" y="1874520"/>
            <a:ext cx="2514600" cy="1280160"/>
          </a:xfrm>
          <a:prstGeom prst="roundRect">
            <a:avLst>
              <a:gd name="adj" fmla="val 5714"/>
            </a:avLst>
          </a:prstGeom>
          <a:solidFill>
            <a:srgbClr val="FFFFFF"/>
          </a:solidFill>
          <a:ln w="12700">
            <a:solidFill>
              <a:srgbClr val="D8E5DF"/>
            </a:solidFill>
            <a:prstDash val="solid"/>
          </a:ln>
        </p:spPr>
      </p:sp>
      <p:sp>
        <p:nvSpPr>
          <p:cNvPr id="12" name="Text 9"/>
          <p:cNvSpPr/>
          <p:nvPr/>
        </p:nvSpPr>
        <p:spPr>
          <a:xfrm>
            <a:off x="3502152" y="2121408"/>
            <a:ext cx="2148840" cy="411480"/>
          </a:xfrm>
          <a:prstGeom prst="rect">
            <a:avLst/>
          </a:prstGeom>
          <a:noFill/>
          <a:ln/>
        </p:spPr>
        <p:txBody>
          <a:bodyPr wrap="square" lIns="0" tIns="0" rIns="0" bIns="0" rtlCol="0" anchor="ctr"/>
          <a:lstStyle/>
          <a:p>
            <a:pPr indent="0" marL="0">
              <a:buNone/>
            </a:pPr>
            <a:r>
              <a:rPr lang="en-US" sz="2500" b="1" dirty="0">
                <a:solidFill>
                  <a:srgbClr val="102A43"/>
                </a:solidFill>
              </a:rPr>
              <a:t>82%</a:t>
            </a:r>
            <a:endParaRPr lang="en-US" sz="2500" dirty="0"/>
          </a:p>
        </p:txBody>
      </p:sp>
      <p:sp>
        <p:nvSpPr>
          <p:cNvPr id="13" name="Text 10"/>
          <p:cNvSpPr/>
          <p:nvPr/>
        </p:nvSpPr>
        <p:spPr>
          <a:xfrm>
            <a:off x="350215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Response rate</a:t>
            </a:r>
            <a:endParaRPr lang="en-US" sz="1000" dirty="0"/>
          </a:p>
        </p:txBody>
      </p:sp>
      <p:sp>
        <p:nvSpPr>
          <p:cNvPr id="14" name="Shape 11"/>
          <p:cNvSpPr/>
          <p:nvPr/>
        </p:nvSpPr>
        <p:spPr>
          <a:xfrm>
            <a:off x="6126480" y="1874520"/>
            <a:ext cx="2514600" cy="1280160"/>
          </a:xfrm>
          <a:prstGeom prst="roundRect">
            <a:avLst>
              <a:gd name="adj" fmla="val 5714"/>
            </a:avLst>
          </a:prstGeom>
          <a:solidFill>
            <a:srgbClr val="FFFFFF"/>
          </a:solidFill>
          <a:ln w="12700">
            <a:solidFill>
              <a:srgbClr val="D8E5DF"/>
            </a:solidFill>
            <a:prstDash val="solid"/>
          </a:ln>
        </p:spPr>
      </p:sp>
      <p:sp>
        <p:nvSpPr>
          <p:cNvPr id="15" name="Text 12"/>
          <p:cNvSpPr/>
          <p:nvPr/>
        </p:nvSpPr>
        <p:spPr>
          <a:xfrm>
            <a:off x="6291072" y="2121408"/>
            <a:ext cx="2148840" cy="411480"/>
          </a:xfrm>
          <a:prstGeom prst="rect">
            <a:avLst/>
          </a:prstGeom>
          <a:noFill/>
          <a:ln/>
        </p:spPr>
        <p:txBody>
          <a:bodyPr wrap="square" lIns="0" tIns="0" rIns="0" bIns="0" rtlCol="0" anchor="ctr"/>
          <a:lstStyle/>
          <a:p>
            <a:pPr indent="0" marL="0">
              <a:buNone/>
            </a:pPr>
            <a:r>
              <a:rPr lang="en-US" sz="2500" b="1" dirty="0">
                <a:solidFill>
                  <a:srgbClr val="102A43"/>
                </a:solidFill>
              </a:rPr>
              <a:t>4</a:t>
            </a:r>
            <a:endParaRPr lang="en-US" sz="2500" dirty="0"/>
          </a:p>
        </p:txBody>
      </p:sp>
      <p:sp>
        <p:nvSpPr>
          <p:cNvPr id="16" name="Text 13"/>
          <p:cNvSpPr/>
          <p:nvPr/>
        </p:nvSpPr>
        <p:spPr>
          <a:xfrm>
            <a:off x="629107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Regions</a:t>
            </a:r>
            <a:endParaRPr lang="en-US" sz="1000" dirty="0"/>
          </a:p>
        </p:txBody>
      </p:sp>
      <p:sp>
        <p:nvSpPr>
          <p:cNvPr id="17" name="Shape 14"/>
          <p:cNvSpPr/>
          <p:nvPr/>
        </p:nvSpPr>
        <p:spPr>
          <a:xfrm>
            <a:off x="8915400" y="1874520"/>
            <a:ext cx="2514600" cy="1280160"/>
          </a:xfrm>
          <a:prstGeom prst="roundRect">
            <a:avLst>
              <a:gd name="adj" fmla="val 5714"/>
            </a:avLst>
          </a:prstGeom>
          <a:solidFill>
            <a:srgbClr val="FFFFFF"/>
          </a:solidFill>
          <a:ln w="12700">
            <a:solidFill>
              <a:srgbClr val="D8E5DF"/>
            </a:solidFill>
            <a:prstDash val="solid"/>
          </a:ln>
        </p:spPr>
      </p:sp>
      <p:sp>
        <p:nvSpPr>
          <p:cNvPr id="18" name="Text 15"/>
          <p:cNvSpPr/>
          <p:nvPr/>
        </p:nvSpPr>
        <p:spPr>
          <a:xfrm>
            <a:off x="9079992" y="2121408"/>
            <a:ext cx="2148840" cy="411480"/>
          </a:xfrm>
          <a:prstGeom prst="rect">
            <a:avLst/>
          </a:prstGeom>
          <a:noFill/>
          <a:ln/>
        </p:spPr>
        <p:txBody>
          <a:bodyPr wrap="square" lIns="0" tIns="0" rIns="0" bIns="0" rtlCol="0" anchor="ctr"/>
          <a:lstStyle/>
          <a:p>
            <a:pPr indent="0" marL="0">
              <a:buNone/>
            </a:pPr>
            <a:r>
              <a:rPr lang="en-US" sz="2500" b="1" dirty="0">
                <a:solidFill>
                  <a:srgbClr val="102A43"/>
                </a:solidFill>
              </a:rPr>
              <a:t>82/100</a:t>
            </a:r>
            <a:endParaRPr lang="en-US" sz="2500" dirty="0"/>
          </a:p>
        </p:txBody>
      </p:sp>
      <p:sp>
        <p:nvSpPr>
          <p:cNvPr id="19" name="Text 16"/>
          <p:cNvSpPr/>
          <p:nvPr/>
        </p:nvSpPr>
        <p:spPr>
          <a:xfrm>
            <a:off x="907999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Demonstration readiness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CRITICAL FINDINGS</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Three findings require leadership attention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Across Rwanda's synthetic study areas, manager effectiveness is the clearest differentiator of workforce experience performance. The evidence is strongest in Kigali Headquarters, where rural women face the largest gap. If the pattern remains unaddressed for twelve months, it is likely to weaken equity, delivery confidence and the durability of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Across Rwanda's synthetic study areas, psychological safety is the clearest differentiator of workforce experience performance. The evidence is strongest in Eastern Operations, where young adults face the largest gap. If the pattern remains unaddressed for twelve months, it is likely to weaken equity, delivery confidence and the durability of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Across Rwanda's synthetic study areas, career mobility is the clearest differentiator of workforce experience performance. The evidence is strongest in Western Operations, where persons with disabilities face the largest gap. If the pattern remains unaddressed for twelve months, it is likely to weaken equity, delivery confidence and the durability of outcomes.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REGIONAL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Outcomes vary materially by region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05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Kigali Headquarters</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3198571" cy="201168"/>
          </a:xfrm>
          <a:prstGeom prst="roundRect">
            <a:avLst>
              <a:gd name="adj" fmla="val 13636"/>
            </a:avLst>
          </a:prstGeom>
          <a:solidFill>
            <a:srgbClr val="07883F"/>
          </a:solidFill>
          <a:ln w="12700">
            <a:solidFill>
              <a:srgbClr val="07883F"/>
            </a:solidFill>
            <a:prstDash val="solid"/>
          </a:ln>
        </p:spPr>
      </p:sp>
      <p:sp>
        <p:nvSpPr>
          <p:cNvPr id="11" name="Text 8"/>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53%</a:t>
            </a:r>
            <a:endParaRPr lang="en-US" sz="1000" dirty="0"/>
          </a:p>
        </p:txBody>
      </p:sp>
      <p:sp>
        <p:nvSpPr>
          <p:cNvPr id="12" name="Text 9"/>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Eastern Operations</a:t>
            </a:r>
            <a:endParaRPr lang="en-US" sz="1100" dirty="0"/>
          </a:p>
        </p:txBody>
      </p:sp>
      <p:sp>
        <p:nvSpPr>
          <p:cNvPr id="13" name="Shape 10"/>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4" name="Shape 11"/>
          <p:cNvSpPr/>
          <p:nvPr/>
        </p:nvSpPr>
        <p:spPr>
          <a:xfrm>
            <a:off x="3383280" y="2423160"/>
            <a:ext cx="3258922" cy="201168"/>
          </a:xfrm>
          <a:prstGeom prst="roundRect">
            <a:avLst>
              <a:gd name="adj" fmla="val 13636"/>
            </a:avLst>
          </a:prstGeom>
          <a:solidFill>
            <a:srgbClr val="D4AF37"/>
          </a:solidFill>
          <a:ln w="12700">
            <a:solidFill>
              <a:srgbClr val="D4AF37"/>
            </a:solidFill>
            <a:prstDash val="solid"/>
          </a:ln>
        </p:spPr>
      </p:sp>
      <p:sp>
        <p:nvSpPr>
          <p:cNvPr id="15" name="Text 12"/>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54%</a:t>
            </a:r>
            <a:endParaRPr lang="en-US" sz="1000" dirty="0"/>
          </a:p>
        </p:txBody>
      </p:sp>
      <p:sp>
        <p:nvSpPr>
          <p:cNvPr id="16" name="Text 13"/>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Western Operations</a:t>
            </a:r>
            <a:endParaRPr lang="en-US" sz="1100" dirty="0"/>
          </a:p>
        </p:txBody>
      </p:sp>
      <p:sp>
        <p:nvSpPr>
          <p:cNvPr id="17" name="Shape 14"/>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18" name="Shape 15"/>
          <p:cNvSpPr/>
          <p:nvPr/>
        </p:nvSpPr>
        <p:spPr>
          <a:xfrm>
            <a:off x="3383280" y="3044952"/>
            <a:ext cx="3319272" cy="201168"/>
          </a:xfrm>
          <a:prstGeom prst="roundRect">
            <a:avLst>
              <a:gd name="adj" fmla="val 13636"/>
            </a:avLst>
          </a:prstGeom>
          <a:solidFill>
            <a:srgbClr val="07883F"/>
          </a:solidFill>
          <a:ln w="12700">
            <a:solidFill>
              <a:srgbClr val="07883F"/>
            </a:solidFill>
            <a:prstDash val="solid"/>
          </a:ln>
        </p:spPr>
      </p:sp>
      <p:sp>
        <p:nvSpPr>
          <p:cNvPr id="19" name="Text 16"/>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55%</a:t>
            </a:r>
            <a:endParaRPr lang="en-US" sz="1000" dirty="0"/>
          </a:p>
        </p:txBody>
      </p:sp>
      <p:sp>
        <p:nvSpPr>
          <p:cNvPr id="20" name="Text 17"/>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Remote Workforce</a:t>
            </a:r>
            <a:endParaRPr lang="en-US" sz="1100" dirty="0"/>
          </a:p>
        </p:txBody>
      </p:sp>
      <p:sp>
        <p:nvSpPr>
          <p:cNvPr id="21" name="Shape 18"/>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2" name="Shape 19"/>
          <p:cNvSpPr/>
          <p:nvPr/>
        </p:nvSpPr>
        <p:spPr>
          <a:xfrm>
            <a:off x="3383280" y="3666744"/>
            <a:ext cx="3379622" cy="201168"/>
          </a:xfrm>
          <a:prstGeom prst="roundRect">
            <a:avLst>
              <a:gd name="adj" fmla="val 13636"/>
            </a:avLst>
          </a:prstGeom>
          <a:solidFill>
            <a:srgbClr val="D4AF37"/>
          </a:solidFill>
          <a:ln w="12700">
            <a:solidFill>
              <a:srgbClr val="D4AF37"/>
            </a:solidFill>
            <a:prstDash val="solid"/>
          </a:ln>
        </p:spPr>
      </p:sp>
      <p:sp>
        <p:nvSpPr>
          <p:cNvPr id="23" name="Text 20"/>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INDICATOR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Target gaps reveal where delivery is slipping</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06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Manager effectiveness score</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3862426" cy="201168"/>
          </a:xfrm>
          <a:prstGeom prst="roundRect">
            <a:avLst>
              <a:gd name="adj" fmla="val 13636"/>
            </a:avLst>
          </a:prstGeom>
          <a:solidFill>
            <a:srgbClr val="07883F"/>
          </a:solidFill>
          <a:ln w="12700">
            <a:solidFill>
              <a:srgbClr val="07883F"/>
            </a:solidFill>
            <a:prstDash val="solid"/>
          </a:ln>
        </p:spPr>
      </p:sp>
      <p:sp>
        <p:nvSpPr>
          <p:cNvPr id="11" name="Shape 8"/>
          <p:cNvSpPr/>
          <p:nvPr/>
        </p:nvSpPr>
        <p:spPr>
          <a:xfrm>
            <a:off x="8694115" y="1737360"/>
            <a:ext cx="0" cy="347472"/>
          </a:xfrm>
          <a:prstGeom prst="line">
            <a:avLst/>
          </a:prstGeom>
          <a:noFill/>
          <a:ln w="19050">
            <a:solidFill>
              <a:srgbClr val="102A43"/>
            </a:solidFill>
            <a:prstDash val="solid"/>
          </a:ln>
        </p:spPr>
      </p:sp>
      <p:sp>
        <p:nvSpPr>
          <p:cNvPr id="12" name="Text 9"/>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64% / target 88%</a:t>
            </a:r>
            <a:endParaRPr lang="en-US" sz="1000" dirty="0"/>
          </a:p>
        </p:txBody>
      </p:sp>
      <p:sp>
        <p:nvSpPr>
          <p:cNvPr id="13" name="Text 10"/>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Psychological safety index</a:t>
            </a:r>
            <a:endParaRPr lang="en-US" sz="1100" dirty="0"/>
          </a:p>
        </p:txBody>
      </p:sp>
      <p:sp>
        <p:nvSpPr>
          <p:cNvPr id="14" name="Shape 11"/>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5" name="Shape 12"/>
          <p:cNvSpPr/>
          <p:nvPr/>
        </p:nvSpPr>
        <p:spPr>
          <a:xfrm>
            <a:off x="3383280" y="2423160"/>
            <a:ext cx="3922776" cy="201168"/>
          </a:xfrm>
          <a:prstGeom prst="roundRect">
            <a:avLst>
              <a:gd name="adj" fmla="val 13636"/>
            </a:avLst>
          </a:prstGeom>
          <a:solidFill>
            <a:srgbClr val="D4AF37"/>
          </a:solidFill>
          <a:ln w="12700">
            <a:solidFill>
              <a:srgbClr val="D4AF37"/>
            </a:solidFill>
            <a:prstDash val="solid"/>
          </a:ln>
        </p:spPr>
      </p:sp>
      <p:sp>
        <p:nvSpPr>
          <p:cNvPr id="16" name="Shape 13"/>
          <p:cNvSpPr/>
          <p:nvPr/>
        </p:nvSpPr>
        <p:spPr>
          <a:xfrm>
            <a:off x="8754466" y="2359152"/>
            <a:ext cx="0" cy="347472"/>
          </a:xfrm>
          <a:prstGeom prst="line">
            <a:avLst/>
          </a:prstGeom>
          <a:noFill/>
          <a:ln w="19050">
            <a:solidFill>
              <a:srgbClr val="102A43"/>
            </a:solidFill>
            <a:prstDash val="solid"/>
          </a:ln>
        </p:spPr>
      </p:sp>
      <p:sp>
        <p:nvSpPr>
          <p:cNvPr id="17" name="Text 14"/>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65% / target 89%</a:t>
            </a:r>
            <a:endParaRPr lang="en-US" sz="1000" dirty="0"/>
          </a:p>
        </p:txBody>
      </p:sp>
      <p:sp>
        <p:nvSpPr>
          <p:cNvPr id="18" name="Text 15"/>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Internal mobility rate</a:t>
            </a:r>
            <a:endParaRPr lang="en-US" sz="1100" dirty="0"/>
          </a:p>
        </p:txBody>
      </p:sp>
      <p:sp>
        <p:nvSpPr>
          <p:cNvPr id="19" name="Shape 16"/>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20" name="Shape 17"/>
          <p:cNvSpPr/>
          <p:nvPr/>
        </p:nvSpPr>
        <p:spPr>
          <a:xfrm>
            <a:off x="3383280" y="3044952"/>
            <a:ext cx="3983126" cy="201168"/>
          </a:xfrm>
          <a:prstGeom prst="roundRect">
            <a:avLst>
              <a:gd name="adj" fmla="val 13636"/>
            </a:avLst>
          </a:prstGeom>
          <a:solidFill>
            <a:srgbClr val="07883F"/>
          </a:solidFill>
          <a:ln w="12700">
            <a:solidFill>
              <a:srgbClr val="07883F"/>
            </a:solidFill>
            <a:prstDash val="solid"/>
          </a:ln>
        </p:spPr>
      </p:sp>
      <p:sp>
        <p:nvSpPr>
          <p:cNvPr id="21" name="Shape 18"/>
          <p:cNvSpPr/>
          <p:nvPr/>
        </p:nvSpPr>
        <p:spPr>
          <a:xfrm>
            <a:off x="8814816" y="2980944"/>
            <a:ext cx="0" cy="347472"/>
          </a:xfrm>
          <a:prstGeom prst="line">
            <a:avLst/>
          </a:prstGeom>
          <a:noFill/>
          <a:ln w="19050">
            <a:solidFill>
              <a:srgbClr val="102A43"/>
            </a:solidFill>
            <a:prstDash val="solid"/>
          </a:ln>
        </p:spPr>
      </p:sp>
      <p:sp>
        <p:nvSpPr>
          <p:cNvPr id="22" name="Text 19"/>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66% / target 90%</a:t>
            </a:r>
            <a:endParaRPr lang="en-US" sz="1000" dirty="0"/>
          </a:p>
        </p:txBody>
      </p:sp>
      <p:sp>
        <p:nvSpPr>
          <p:cNvPr id="23" name="Text 20"/>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Critical-talent retention</a:t>
            </a:r>
            <a:endParaRPr lang="en-US" sz="1100" dirty="0"/>
          </a:p>
        </p:txBody>
      </p:sp>
      <p:sp>
        <p:nvSpPr>
          <p:cNvPr id="24" name="Shape 21"/>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5" name="Shape 22"/>
          <p:cNvSpPr/>
          <p:nvPr/>
        </p:nvSpPr>
        <p:spPr>
          <a:xfrm>
            <a:off x="3383280" y="3666744"/>
            <a:ext cx="4043477" cy="201168"/>
          </a:xfrm>
          <a:prstGeom prst="roundRect">
            <a:avLst>
              <a:gd name="adj" fmla="val 13636"/>
            </a:avLst>
          </a:prstGeom>
          <a:solidFill>
            <a:srgbClr val="D4AF37"/>
          </a:solidFill>
          <a:ln w="12700">
            <a:solidFill>
              <a:srgbClr val="D4AF37"/>
            </a:solidFill>
            <a:prstDash val="solid"/>
          </a:ln>
        </p:spPr>
      </p:sp>
      <p:sp>
        <p:nvSpPr>
          <p:cNvPr id="26" name="Shape 23"/>
          <p:cNvSpPr/>
          <p:nvPr/>
        </p:nvSpPr>
        <p:spPr>
          <a:xfrm>
            <a:off x="8875166" y="3602736"/>
            <a:ext cx="0" cy="347472"/>
          </a:xfrm>
          <a:prstGeom prst="line">
            <a:avLst/>
          </a:prstGeom>
          <a:noFill/>
          <a:ln w="19050">
            <a:solidFill>
              <a:srgbClr val="102A43"/>
            </a:solidFill>
            <a:prstDash val="solid"/>
          </a:ln>
        </p:spPr>
      </p:sp>
      <p:sp>
        <p:nvSpPr>
          <p:cNvPr id="27" name="Text 24"/>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67% / target 91%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RESPONDENT VOICE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What respondents are telling decision-makers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07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“In Kigali Headquarters, manager effectiveness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Eastern Operations, psychological safety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Western Operations, career mobility shapes whether persons with disabilities can turn services into lasting outcomes.”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DECISION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Priority decisions and accountable owners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08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Set manager quality as an executive performance measure for workforce experience.</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Protect confidential speak-up and response pathways for workforce experience.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Publish transparent internal mobility criteria for workforce experience.</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Rebalance workload in the highest-burnout functions for workforce experience.</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Create evidence-led retention plans for critical roles for workforce experience.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STRATEGIC CONSEQUENCE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The cost of inaction compounds over time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09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Without corrective action, existing gaps are likely to persist and may increase the future cost of recovery.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 medium-scale reprioritization is indicated; formal costing and fiduciary review are required.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IMPLEMENTATION</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A phased implementation roadmap</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10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Set manager quality as an executive performance measure for workforce experience.</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Protect confidential speak-up and response pathways for workforce experience.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Publish transparent internal mobility criteria for workforce experience.</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Rebalance workload in the highest-burnout functions for workforce experience.</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Create evidence-led retention plans for critical roles for workforce experience.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EVIDENCE LINEAGE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Every material claim links back to evidence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11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“In Kigali Headquarters, manager effectiveness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Eastern Operations, psychological safety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Western Operations, career mobility shapes whether persons with disabilities can turn services into lasting outcomes.”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Remote Workforce, workload sustainability shapes whether frontline workers can turn services into lasting outcomes.”</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Kigali Headquarters, critical-talent retention shapes whether low-income households can turn services into lasting outcomes.”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STATISTICAL ASSURANCE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Methodology designed for reproducibility</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sampling design: Stratified multi-stage synthetic demonstration design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sampling frame: Synthetic frame covering programme-relevant population groups in Rwanda</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stratification: ["Region","Urban/rural","Sex","Age","Disability status"]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sample size: 4609</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weighting: Post-stratification weights normalized to the synthetic population frame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INTERNATIONAL ALIGNMENT</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Standards are applied where genuinely relevant</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13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Data Protection and Privacy Controls: The publication uses governed response, evidence and export data.</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Responsible AI: AI-assisted interpretation requires grounding, human review, privacy and limitations.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Accessibility: Publications must be readable and operable across formats and assistive technologies.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SDG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SDG contribution is transparent and bounded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SDG Context-specific — Primary. Contribution mapping only; no attribution or institutional endorsement is implied.</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PUBLICATION INTEGRITY</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Limitations and responsible interpretation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15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All content is synthetic and must not be interpreted as official statistics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Geographic references are illustrative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Budget implications are directional and require formal costing</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Causal claims are not made without an appropriate design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2A4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94360" y="411480"/>
            <a:ext cx="777240" cy="548640"/>
          </a:xfrm>
          <a:prstGeom prst="rect">
            <a:avLst/>
          </a:prstGeom>
        </p:spPr>
      </p:pic>
      <p:sp>
        <p:nvSpPr>
          <p:cNvPr id="3" name="Text 0"/>
          <p:cNvSpPr/>
          <p:nvPr/>
        </p:nvSpPr>
        <p:spPr>
          <a:xfrm>
            <a:off x="1508760" y="52120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4" name="Text 1"/>
          <p:cNvSpPr/>
          <p:nvPr/>
        </p:nvSpPr>
        <p:spPr>
          <a:xfrm>
            <a:off x="594360" y="1965960"/>
            <a:ext cx="7589520" cy="1005840"/>
          </a:xfrm>
          <a:prstGeom prst="rect">
            <a:avLst/>
          </a:prstGeom>
          <a:noFill/>
          <a:ln/>
        </p:spPr>
        <p:txBody>
          <a:bodyPr wrap="square" lIns="0" tIns="0" rIns="0" bIns="0" rtlCol="0" anchor="ctr"/>
          <a:lstStyle/>
          <a:p>
            <a:pPr indent="0" marL="0">
              <a:buNone/>
            </a:pPr>
            <a:r>
              <a:rPr lang="en-US" sz="3000" b="1" dirty="0">
                <a:solidFill>
                  <a:srgbClr val="FFFFFF"/>
                </a:solidFill>
              </a:rPr>
              <a:t>From every voice to an accountable decision</a:t>
            </a:r>
            <a:endParaRPr lang="en-US" sz="3000" dirty="0"/>
          </a:p>
        </p:txBody>
      </p:sp>
      <p:sp>
        <p:nvSpPr>
          <p:cNvPr id="5" name="Text 2"/>
          <p:cNvSpPr/>
          <p:nvPr/>
        </p:nvSpPr>
        <p:spPr>
          <a:xfrm>
            <a:off x="594360" y="3337560"/>
            <a:ext cx="6400800" cy="320040"/>
          </a:xfrm>
          <a:prstGeom prst="rect">
            <a:avLst/>
          </a:prstGeom>
          <a:noFill/>
          <a:ln/>
        </p:spPr>
        <p:txBody>
          <a:bodyPr wrap="square" lIns="0" tIns="0" rIns="0" bIns="0" rtlCol="0" anchor="ctr"/>
          <a:lstStyle/>
          <a:p>
            <a:pPr indent="0" marL="0">
              <a:buNone/>
            </a:pPr>
            <a:r>
              <a:rPr lang="en-US" sz="1700" dirty="0">
                <a:solidFill>
                  <a:srgbClr val="D4AF37"/>
                </a:solidFill>
              </a:rPr>
              <a:t>Every Voice. Every Language. Every Insight.</a:t>
            </a:r>
            <a:endParaRPr lang="en-US" sz="1700" dirty="0"/>
          </a:p>
        </p:txBody>
      </p:sp>
      <p:sp>
        <p:nvSpPr>
          <p:cNvPr id="6" name="Shape 3"/>
          <p:cNvSpPr/>
          <p:nvPr/>
        </p:nvSpPr>
        <p:spPr>
          <a:xfrm>
            <a:off x="9235440" y="0"/>
            <a:ext cx="2956255" cy="6858000"/>
          </a:xfrm>
          <a:prstGeom prst="rect">
            <a:avLst/>
          </a:prstGeom>
          <a:solidFill>
            <a:srgbClr val="07883F"/>
          </a:solidFill>
          <a:ln w="12700">
            <a:solidFill>
              <a:srgbClr val="07883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VoiceInsights Africa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Employee Experience Intelligence Report</dc:title>
  <dc:subject>Synthetic Demonstration Publication</dc:subject>
  <dc:creator>VoiceInsights Africa</dc:creator>
  <cp:lastModifiedBy>VoiceInsights Africa</cp:lastModifiedBy>
  <cp:revision>1</cp:revision>
  <dcterms:created xsi:type="dcterms:W3CDTF">2026-07-12T22:51:25Z</dcterms:created>
  <dcterms:modified xsi:type="dcterms:W3CDTF">2026-07-12T22:51:25Z</dcterms:modified>
</cp:coreProperties>
</file>