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slide" Target="slides/slide31.xml"/><Relationship Id="rId32" Type="http://schemas.openxmlformats.org/officeDocument/2006/relationships/slide" Target="slides/slide32.xml"/><Relationship Id="rId33" Type="http://schemas.openxmlformats.org/officeDocument/2006/relationships/slide" Target="slides/slide33.xml"/><Relationship Id="rId34" Type="http://schemas.openxmlformats.org/officeDocument/2006/relationships/slide" Target="slides/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251D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4" name="Accent panel"/>
          <p:cNvSpPr/>
          <p:nvPr/>
        </p:nvSpPr>
        <p:spPr>
          <a:xfrm>
            <a:off x="9300000" y="0"/>
            <a:ext cx="2892000" cy="6858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Gold rule"/>
          <p:cNvSpPr/>
          <p:nvPr/>
        </p:nvSpPr>
        <p:spPr>
          <a:xfrm>
            <a:off x="8880000" y="0"/>
            <a:ext cx="120000" cy="6858000"/>
          </a:xfrm>
          <a:prstGeom prst="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6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0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1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FFFFFF"/>
                </a:solidFill>
                <a:latin typeface="Aptos"/>
              </a:rPr>
              <a:t>VOICEINSIGHTS AFRICA</a:t>
            </a:r>
          </a:p>
        </p:txBody>
      </p:sp>
      <p:sp>
        <p:nvSpPr>
          <p:cNvPr id="12" name="Classification"/>
          <p:cNvSpPr txBox="1"/>
          <p:nvPr/>
        </p:nvSpPr>
        <p:spPr>
          <a:xfrm>
            <a:off x="640000" y="1160000"/>
            <a:ext cx="7100000" cy="4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250" b="1">
                <a:solidFill>
                  <a:srgbClr val="D4AF37"/>
                </a:solidFill>
                <a:latin typeface="Aptos"/>
              </a:rPr>
              <a:t>FLAGSHIP SYNTHETIC DEMONSTRATION PUBLICATION</a:t>
            </a:r>
          </a:p>
        </p:txBody>
      </p:sp>
      <p:sp>
        <p:nvSpPr>
          <p:cNvPr id="13" name="Title"/>
          <p:cNvSpPr txBox="1"/>
          <p:nvPr/>
        </p:nvSpPr>
        <p:spPr>
          <a:xfrm>
            <a:off x="640000" y="1760000"/>
            <a:ext cx="7600000" cy="19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3600" b="1">
                <a:solidFill>
                  <a:srgbClr val="FFFFFF"/>
                </a:solidFill>
                <a:latin typeface="Aptos"/>
              </a:rPr>
              <a:t>Employee Experience Intelligence Report</a:t>
            </a:r>
          </a:p>
        </p:txBody>
      </p:sp>
      <p:sp>
        <p:nvSpPr>
          <p:cNvPr id="14" name="Subtitle"/>
          <p:cNvSpPr txBox="1"/>
          <p:nvPr/>
        </p:nvSpPr>
        <p:spPr>
          <a:xfrm>
            <a:off x="640000" y="3900000"/>
            <a:ext cx="6900000" cy="4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800">
                <a:solidFill>
                  <a:srgbClr val="D8E5DF"/>
                </a:solidFill>
                <a:latin typeface="Aptos"/>
              </a:rPr>
              <a:t>Rwanda | Employee Experience</a:t>
            </a:r>
          </a:p>
        </p:txBody>
      </p:sp>
      <p:sp>
        <p:nvSpPr>
          <p:cNvPr id="15" name="Prepared"/>
          <p:cNvSpPr txBox="1"/>
          <p:nvPr/>
        </p:nvSpPr>
        <p:spPr>
          <a:xfrm>
            <a:off x="640000" y="5000000"/>
            <a:ext cx="6500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FFFFFF"/>
                </a:solidFill>
                <a:latin typeface="Aptos"/>
              </a:rPr>
              <a:t>Prepared by VoiceInsights Africa Every Voice. Every Language. Every Insight.</a:t>
            </a:r>
          </a:p>
        </p:txBody>
      </p:sp>
      <p:sp>
        <p:nvSpPr>
          <p:cNvPr id="16" name="Notice"/>
          <p:cNvSpPr txBox="1"/>
          <p:nvPr/>
        </p:nvSpPr>
        <p:spPr>
          <a:xfrm>
            <a:off x="9550000" y="5260000"/>
            <a:ext cx="2050000" cy="65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SYNTHETIC DATA Not official statistics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Five-minute leadership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executive brief: Corporate leadership's attention should shift from monitoring employee experience performance to acting on the specific groups and locations the evidence flags as most exposed.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Set manager quality as an executive performance measure.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Protect confidential speak-up and response pathways.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 snapshot: Publish transparent internal mobility criteria.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 findings: Manager effectiveness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What matters, why it matters and what must be decided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Executive Brief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summary: This is not a status update on employee experience performance in Rwanda — it is a decision brief. The governed evidence behind it shows uneven progress, concentrated risk, and a small number of opportunities worth acting on now. Nothing here is asserted without a source: findings are evidence-linked, recommendations are owned, and the underlying dataset is internally consistent throughout.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decision: Set manager quality as an executive performance measure.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Accountable choices for leadership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Priority Decisions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Set manager quality as an executive performance measure.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confidential speak-up and response pathways.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transparent internal mobility criteria.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Rebalance workload in the highest-burnout functions.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evidence-led retention plans for critical roles.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Evidence-backed signals requiring attention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Critical Findings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Manager effectiveness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Psychological safety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Career mobility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Workload sustainability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Critical-talent retention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Claim-to-source lineage and confidence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 Book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“Rural women in Kigali Headquarters put it plainly: manager effectiveness is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“Why does Eastern Operations lag behind? Ask young adults, and the answer comes back to psychological safety.”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“Elsewhere, career mobility might be a footnote. For persons with disabilities in Western Operations,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“Frontline workers in Remote Workforce frame it simply: when workload sustainability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“In Kigali Headquarters, critical-talent retention shapes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Evidence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evidence: “Rural women in Kigali Headquarters put it plainly: manager effectiveness is what decides whether progress holds or slips back.”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“Why does Eastern Operations lag behind? Ask young adults, and the answer comes back to psychological safety.”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“Elsewhere, career mobility might be a footnote. For persons with disabilities in Western Operations, it is the whole story.”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“Frontline workers in Remote Workforce frame it simply: when workload sustainability breaks down, everything else does too.”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evidence: “In Kigali Headquarters, critical-talent retention shapes whether low-income households can turn services into lasting outcomes.”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Sampling, weighting, uncertainty and reproducibility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Statistical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Prioritisation for management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and Opportunity Matrix</a:t>
            </a:r>
          </a:p>
        </p:txBody>
      </p:sp>
      <p:sp>
        <p:nvSpPr>
          <p:cNvPr id="12" name="Risk panel"/>
          <p:cNvSpPr/>
          <p:nvPr/>
        </p:nvSpPr>
        <p:spPr>
          <a:xfrm>
            <a:off x="640000" y="2050000"/>
            <a:ext cx="5200000" cy="3400000"/>
          </a:xfrm>
          <a:prstGeom prst="roundRect">
            <a:avLst/>
          </a:prstGeom>
          <a:solidFill>
            <a:srgbClr val="FFF2F0"/>
          </a:solidFill>
          <a:ln w="12700">
            <a:solidFill>
              <a:srgbClr val="E7C5BF"/>
            </a:solidFill>
          </a:ln>
        </p:spPr>
      </p:sp>
      <p:sp>
        <p:nvSpPr>
          <p:cNvPr id="13" name="Opportunity panel"/>
          <p:cNvSpPr/>
          <p:nvPr/>
        </p:nvSpPr>
        <p:spPr>
          <a:xfrm>
            <a:off x="5980000" y="2050000"/>
            <a:ext cx="5200000" cy="3400000"/>
          </a:xfrm>
          <a:prstGeom prst="roundRect">
            <a:avLst/>
          </a:prstGeom>
          <a:solidFill>
            <a:srgbClr val="ECF7F1"/>
          </a:solidFill>
          <a:ln w="12700">
            <a:solidFill>
              <a:srgbClr val="B8DCCB"/>
            </a:solidFill>
          </a:ln>
        </p:spPr>
      </p:sp>
      <p:sp>
        <p:nvSpPr>
          <p:cNvPr id="14" name="Risk title"/>
          <p:cNvSpPr txBox="1"/>
          <p:nvPr/>
        </p:nvSpPr>
        <p:spPr>
          <a:xfrm>
            <a:off x="94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A33A2B"/>
                </a:solidFill>
                <a:latin typeface="Aptos"/>
              </a:rPr>
              <a:t>CRITICAL RISKS</a:t>
            </a:r>
          </a:p>
        </p:txBody>
      </p:sp>
      <p:sp>
        <p:nvSpPr>
          <p:cNvPr id="15" name="Opportunity title"/>
          <p:cNvSpPr txBox="1"/>
          <p:nvPr/>
        </p:nvSpPr>
        <p:spPr>
          <a:xfrm>
            <a:off x="6280000" y="2320000"/>
            <a:ext cx="440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350" b="1">
                <a:solidFill>
                  <a:srgbClr val="0B6E4F"/>
                </a:solidFill>
                <a:latin typeface="Aptos"/>
              </a:rPr>
              <a:t>TOP OPPORTUNITIES</a:t>
            </a:r>
          </a:p>
        </p:txBody>
      </p:sp>
      <p:sp>
        <p:nvSpPr>
          <p:cNvPr id="16" name="Risks"/>
          <p:cNvSpPr txBox="1"/>
          <p:nvPr/>
        </p:nvSpPr>
        <p:spPr>
          <a:xfrm>
            <a:off x="94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532B25"/>
                </a:solidFill>
                <a:latin typeface="Aptos"/>
              </a:rPr>
              <a:t>1. Uneven implementation widens existing disparities in employee experience 2. Delayed financing weakens delivery confidence in employee experience</a:t>
            </a:r>
          </a:p>
        </p:txBody>
      </p:sp>
      <p:sp>
        <p:nvSpPr>
          <p:cNvPr id="17" name="Opportunities"/>
          <p:cNvSpPr txBox="1"/>
          <p:nvPr/>
        </p:nvSpPr>
        <p:spPr>
          <a:xfrm>
            <a:off x="6280000" y="2850000"/>
            <a:ext cx="4400000" cy="22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64C3A"/>
                </a:solidFill>
                <a:latin typeface="Aptos"/>
              </a:rPr>
              <a:t>1. Using the confidence intervals already published here to focus investment 2. Evidence-led reallocation of resources already committed to employee experience 3. Converting early gains in employee experience into durable, sustained progress</a:t>
            </a:r>
          </a:p>
        </p:txBody>
      </p:sp>
      <p:sp>
        <p:nvSpPr>
          <p:cNvPr id="18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International Standards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framework: Gender Equality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relevance: Applied where relevant to Employee Experience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EVI-EMP-001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EVI-EMP-002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limitations: Synthetic demonstration mapping; institutional validation not implied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OECD-DAC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Synthetic evidence indicates a strong relevance signal, subject to the stated design limitations.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coherence signal, subject to the stated design limitations.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effectiveness signal, subject to the stated design limitations.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moderate-to-strong efficiency signal, subject to the stated design limitations.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Synthetic evidence indicates a strong impact signal, subject to the stated design limitations.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Results-Based Management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inputs: Governed synthetic data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Delivery capacity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inputs: Approved financing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Evidence collection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activities: Segmented analysis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Core Humanitarian Standard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commitment number: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commitment: CHS Commitment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ids: EVI-EMP-001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status: CONTEXT ONLY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action: Validate relevance and assign an accountable owner before live use.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Immediate, medium-term and strategic action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Set manager quality as an executive performance measure.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confidential speak-up and response pathways.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transparent internal mobility criteria.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Rebalance workload in the highest-burnout functions.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evidence-led retention plans for critical roles.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Evidence, statistical, visual and decision assurance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Quality Gate</a:t>
            </a:r>
          </a:p>
        </p:txBody>
      </p:sp>
      <p:sp>
        <p:nvSpPr>
          <p:cNvPr id="12" name="Metric card 1"/>
          <p:cNvSpPr/>
          <p:nvPr/>
        </p:nvSpPr>
        <p:spPr>
          <a:xfrm>
            <a:off x="64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3" name="Metric value 1"/>
          <p:cNvSpPr txBox="1"/>
          <p:nvPr/>
        </p:nvSpPr>
        <p:spPr>
          <a:xfrm>
            <a:off x="82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4" name="Metric label 1"/>
          <p:cNvSpPr txBox="1"/>
          <p:nvPr/>
        </p:nvSpPr>
        <p:spPr>
          <a:xfrm>
            <a:off x="82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Editorial Review Passed</a:t>
            </a:r>
          </a:p>
        </p:txBody>
      </p:sp>
      <p:sp>
        <p:nvSpPr>
          <p:cNvPr id="15" name="Metric card 2"/>
          <p:cNvSpPr/>
          <p:nvPr/>
        </p:nvSpPr>
        <p:spPr>
          <a:xfrm>
            <a:off x="347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6" name="Metric value 2"/>
          <p:cNvSpPr txBox="1"/>
          <p:nvPr/>
        </p:nvSpPr>
        <p:spPr>
          <a:xfrm>
            <a:off x="365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17" name="Metric label 2"/>
          <p:cNvSpPr txBox="1"/>
          <p:nvPr/>
        </p:nvSpPr>
        <p:spPr>
          <a:xfrm>
            <a:off x="365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Evidence Review Passed</a:t>
            </a:r>
          </a:p>
        </p:txBody>
      </p:sp>
      <p:sp>
        <p:nvSpPr>
          <p:cNvPr id="18" name="Metric card 3"/>
          <p:cNvSpPr/>
          <p:nvPr/>
        </p:nvSpPr>
        <p:spPr>
          <a:xfrm>
            <a:off x="630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19" name="Metric value 3"/>
          <p:cNvSpPr txBox="1"/>
          <p:nvPr/>
        </p:nvSpPr>
        <p:spPr>
          <a:xfrm>
            <a:off x="648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0" name="Metric label 3"/>
          <p:cNvSpPr txBox="1"/>
          <p:nvPr/>
        </p:nvSpPr>
        <p:spPr>
          <a:xfrm>
            <a:off x="648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Publication Integrity Verified</a:t>
            </a:r>
          </a:p>
        </p:txBody>
      </p:sp>
      <p:sp>
        <p:nvSpPr>
          <p:cNvPr id="21" name="Metric card 4"/>
          <p:cNvSpPr/>
          <p:nvPr/>
        </p:nvSpPr>
        <p:spPr>
          <a:xfrm>
            <a:off x="9130000" y="2050000"/>
            <a:ext cx="2580000" cy="15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E2"/>
            </a:solidFill>
          </a:ln>
        </p:spPr>
      </p:sp>
      <p:sp>
        <p:nvSpPr>
          <p:cNvPr id="22" name="Metric value 4"/>
          <p:cNvSpPr txBox="1"/>
          <p:nvPr/>
        </p:nvSpPr>
        <p:spPr>
          <a:xfrm>
            <a:off x="9310000" y="2300000"/>
            <a:ext cx="2220000" cy="5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0B2E59"/>
                </a:solidFill>
                <a:latin typeface="Aptos"/>
              </a:rPr>
              <a:t>Passed</a:t>
            </a:r>
          </a:p>
        </p:txBody>
      </p:sp>
      <p:sp>
        <p:nvSpPr>
          <p:cNvPr id="23" name="Metric label 4"/>
          <p:cNvSpPr txBox="1"/>
          <p:nvPr/>
        </p:nvSpPr>
        <p:spPr>
          <a:xfrm>
            <a:off x="9310000" y="3000000"/>
            <a:ext cx="222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52667A"/>
                </a:solidFill>
                <a:latin typeface="Aptos"/>
              </a:rPr>
              <a:t>Accessibility Verified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Visual Intelligence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visualizations: Executive Kpi Cards: Manager effectiveness score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Regional Heat Map: Psychological safety index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Choropleth Map: Internal mobility rate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Risk Matrix: Critical-talent retention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visualizations: Decision Matrix: Manager effectiveness score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Accessibility Assurance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wcag target: WCAG 2.2 AA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tagged pdf required: true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alt text required: true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table fallback required: true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keyboard navigation required: true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Publication Products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exports: Premium PDF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Editable Word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Native PowerPoint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Statistical Excel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exports: Board Deck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Methodology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research objectives: Assess employee experience performance and equity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research objectives: Identify operational drivers and decision priorities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What outcomes are changing?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Who is being left behind?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evaluation questions: Which actions are most likely to improve performance?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Sampling Design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Weighting and Uncertainty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Reliability and Validity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Missing Data and Outliers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sampling design: Stratified multi-stage synthetic demonstration design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frame: Synthetic frame covering programme-relevant population groups in Rwanda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Region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Urban/rural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stratification: Sex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Regional Intelligence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Choropleth Map: Internal mobility rate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Performance Heat 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visual: Regional Heat Map: Psychological safety index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Risk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risk: Uneven implementation widens existing disparities in employee experience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High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impact: High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risk: Delayed financing weakens delivery confidence in employee experience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likelihood: Medium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Decision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Set manager quality as an executive performance measure.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confidential speak-up and response pathways.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transparent internal mobility criteria.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Rebalance workload in the highest-burnout functions.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evidence-led retention plans for critical roles.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Opportunity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Using the confidence intervals already published here to focus investment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Evidence-led reallocation of resources already committed to employee experience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Converting early gains in employee experience into durable, sustained progress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Cost of Inaction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narrative: Delaying action on employee experience performance is unlikely to be neutral: the evidence suggests the current gap compounds rather than holds steady.</a:t>
            </a:r>
          </a:p>
        </p:txBody>
      </p:sp>
      <p:sp>
        <p:nvSpPr>
          <p:cNvPr id="15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Ownership Matrix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DEC-EMP-01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DEC-EMP-02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DEC-EMP-03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DEC-EMP-04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DEC-EMP-05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Implementation Roadmap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Set manager quality as an executive performance measure.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Protect confidential speak-up and response pathways.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Publish transparent internal mobility criteria.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Rebalance workload in the highest-burnout functions.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Create evidence-led retention plans for critical roles.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variable: indicator 1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label: Synthetic Employee Experience indicator 1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type: numeric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allowed values: 0–100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missing code: NA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Decision intelligence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Appendices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Technical methodology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Sampling and weighting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Evidence registry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Statistical tables</a:t>
            </a:r>
          </a:p>
        </p:txBody>
      </p:sp>
      <p:sp>
        <p:nvSpPr>
          <p:cNvPr id="24" name="Number 5"/>
          <p:cNvSpPr/>
          <p:nvPr/>
        </p:nvSpPr>
        <p:spPr>
          <a:xfrm>
            <a:off x="640000" y="504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5" name="Number text 5"/>
          <p:cNvSpPr txBox="1"/>
          <p:nvPr/>
        </p:nvSpPr>
        <p:spPr>
          <a:xfrm>
            <a:off x="640000" y="511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Statement 5"/>
          <p:cNvSpPr txBox="1"/>
          <p:nvPr/>
        </p:nvSpPr>
        <p:spPr>
          <a:xfrm>
            <a:off x="1260000" y="504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Data dictionary</a:t>
            </a:r>
          </a:p>
        </p:txBody>
      </p:sp>
      <p:sp>
        <p:nvSpPr>
          <p:cNvPr id="27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8F6"/>
          </a:solidFill>
          <a:ln>
            <a:noFill/>
          </a:ln>
        </p:spPr>
      </p:sp>
      <p:sp>
        <p:nvSpPr>
          <p:cNvPr id="3" name="Top rule"/>
          <p:cNvSpPr/>
          <p:nvPr/>
        </p:nvSpPr>
        <p:spPr>
          <a:xfrm>
            <a:off x="0" y="0"/>
            <a:ext cx="12192000" cy="70000"/>
          </a:xfrm>
          <a:prstGeom prst="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4" name="VoiceInsights logo bar 1"/>
          <p:cNvSpPr/>
          <p:nvPr/>
        </p:nvSpPr>
        <p:spPr>
          <a:xfrm>
            <a:off x="640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5" name="VoiceInsights logo bar 2"/>
          <p:cNvSpPr/>
          <p:nvPr/>
        </p:nvSpPr>
        <p:spPr>
          <a:xfrm>
            <a:off x="800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6" name="VoiceInsights logo bar 3"/>
          <p:cNvSpPr/>
          <p:nvPr/>
        </p:nvSpPr>
        <p:spPr>
          <a:xfrm>
            <a:off x="980000" y="210000"/>
            <a:ext cx="125000" cy="56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7" name="VoiceInsights logo bar 4"/>
          <p:cNvSpPr/>
          <p:nvPr/>
        </p:nvSpPr>
        <p:spPr>
          <a:xfrm>
            <a:off x="1175000" y="315000"/>
            <a:ext cx="110000" cy="35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8" name="VoiceInsights logo bar 5"/>
          <p:cNvSpPr/>
          <p:nvPr/>
        </p:nvSpPr>
        <p:spPr>
          <a:xfrm>
            <a:off x="1355000" y="400000"/>
            <a:ext cx="90000" cy="18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9" name="Brand"/>
          <p:cNvSpPr txBox="1"/>
          <p:nvPr/>
        </p:nvSpPr>
        <p:spPr>
          <a:xfrm>
            <a:off x="1300000" y="260000"/>
            <a:ext cx="33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050" b="1">
                <a:solidFill>
                  <a:srgbClr val="0B6E4F"/>
                </a:solidFill>
                <a:latin typeface="Aptos"/>
              </a:rPr>
              <a:t>VOICEINSIGHTS AFRICA</a:t>
            </a:r>
          </a:p>
        </p:txBody>
      </p:sp>
      <p:sp>
        <p:nvSpPr>
          <p:cNvPr id="10" name="Section"/>
          <p:cNvSpPr txBox="1"/>
          <p:nvPr/>
        </p:nvSpPr>
        <p:spPr>
          <a:xfrm>
            <a:off x="640000" y="650000"/>
            <a:ext cx="80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150" b="1">
                <a:solidFill>
                  <a:srgbClr val="0B6E4F"/>
                </a:solidFill>
                <a:latin typeface="Aptos"/>
              </a:rPr>
              <a:t>Responsible interpretation</a:t>
            </a:r>
          </a:p>
        </p:txBody>
      </p:sp>
      <p:sp>
        <p:nvSpPr>
          <p:cNvPr id="11" name="Title"/>
          <p:cNvSpPr txBox="1"/>
          <p:nvPr/>
        </p:nvSpPr>
        <p:spPr>
          <a:xfrm>
            <a:off x="640000" y="1020000"/>
            <a:ext cx="10600000" cy="70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2700" b="1">
                <a:solidFill>
                  <a:srgbClr val="102A43"/>
                </a:solidFill>
                <a:latin typeface="Aptos"/>
              </a:rPr>
              <a:t>Limitations and Integrity</a:t>
            </a:r>
          </a:p>
        </p:txBody>
      </p:sp>
      <p:sp>
        <p:nvSpPr>
          <p:cNvPr id="12" name="Number 1"/>
          <p:cNvSpPr/>
          <p:nvPr/>
        </p:nvSpPr>
        <p:spPr>
          <a:xfrm>
            <a:off x="640000" y="2000000"/>
            <a:ext cx="430000" cy="43000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</p:sp>
      <p:sp>
        <p:nvSpPr>
          <p:cNvPr id="13" name="Number text 1"/>
          <p:cNvSpPr txBox="1"/>
          <p:nvPr/>
        </p:nvSpPr>
        <p:spPr>
          <a:xfrm>
            <a:off x="640000" y="207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102A43"/>
                </a:solidFill>
                <a:latin typeface="Aptos"/>
              </a:rPr>
              <a:t>1</a:t>
            </a:r>
          </a:p>
        </p:txBody>
      </p:sp>
      <p:sp>
        <p:nvSpPr>
          <p:cNvPr id="14" name="Statement 1"/>
          <p:cNvSpPr txBox="1"/>
          <p:nvPr/>
        </p:nvSpPr>
        <p:spPr>
          <a:xfrm>
            <a:off x="1260000" y="200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650" b="1">
                <a:solidFill>
                  <a:srgbClr val="102A43"/>
                </a:solidFill>
                <a:latin typeface="Aptos"/>
              </a:rPr>
              <a:t>All content is synthetic and must not be interpreted as official statistics</a:t>
            </a:r>
          </a:p>
        </p:txBody>
      </p:sp>
      <p:sp>
        <p:nvSpPr>
          <p:cNvPr id="15" name="Number 2"/>
          <p:cNvSpPr/>
          <p:nvPr/>
        </p:nvSpPr>
        <p:spPr>
          <a:xfrm>
            <a:off x="640000" y="276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6" name="Number text 2"/>
          <p:cNvSpPr txBox="1"/>
          <p:nvPr/>
        </p:nvSpPr>
        <p:spPr>
          <a:xfrm>
            <a:off x="640000" y="283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Statement 2"/>
          <p:cNvSpPr txBox="1"/>
          <p:nvPr/>
        </p:nvSpPr>
        <p:spPr>
          <a:xfrm>
            <a:off x="1260000" y="276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Geographic references are illustrative</a:t>
            </a:r>
          </a:p>
        </p:txBody>
      </p:sp>
      <p:sp>
        <p:nvSpPr>
          <p:cNvPr id="18" name="Number 3"/>
          <p:cNvSpPr/>
          <p:nvPr/>
        </p:nvSpPr>
        <p:spPr>
          <a:xfrm>
            <a:off x="640000" y="352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19" name="Number text 3"/>
          <p:cNvSpPr txBox="1"/>
          <p:nvPr/>
        </p:nvSpPr>
        <p:spPr>
          <a:xfrm>
            <a:off x="640000" y="359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Statement 3"/>
          <p:cNvSpPr txBox="1"/>
          <p:nvPr/>
        </p:nvSpPr>
        <p:spPr>
          <a:xfrm>
            <a:off x="1260000" y="352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Budget implications are directional and require formal costing</a:t>
            </a:r>
          </a:p>
        </p:txBody>
      </p:sp>
      <p:sp>
        <p:nvSpPr>
          <p:cNvPr id="21" name="Number 4"/>
          <p:cNvSpPr/>
          <p:nvPr/>
        </p:nvSpPr>
        <p:spPr>
          <a:xfrm>
            <a:off x="640000" y="4280000"/>
            <a:ext cx="430000" cy="430000"/>
          </a:xfrm>
          <a:prstGeom prst="roundRect">
            <a:avLst/>
          </a:prstGeom>
          <a:solidFill>
            <a:srgbClr val="0B6E4F"/>
          </a:solidFill>
          <a:ln>
            <a:noFill/>
          </a:ln>
        </p:spPr>
      </p:sp>
      <p:sp>
        <p:nvSpPr>
          <p:cNvPr id="22" name="Number text 4"/>
          <p:cNvSpPr txBox="1"/>
          <p:nvPr/>
        </p:nvSpPr>
        <p:spPr>
          <a:xfrm>
            <a:off x="640000" y="4355000"/>
            <a:ext cx="43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c"/>
            <a:r>
              <a:rPr lang="en-US" sz="125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Statement 4"/>
          <p:cNvSpPr txBox="1"/>
          <p:nvPr/>
        </p:nvSpPr>
        <p:spPr>
          <a:xfrm>
            <a:off x="1260000" y="4280000"/>
            <a:ext cx="9600000" cy="53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1450">
                <a:solidFill>
                  <a:srgbClr val="102A43"/>
                </a:solidFill>
                <a:latin typeface="Aptos"/>
              </a:rPr>
              <a:t>Causal claims are not made without an appropriate design</a:t>
            </a:r>
          </a:p>
        </p:txBody>
      </p:sp>
      <p:sp>
        <p:nvSpPr>
          <p:cNvPr id="24" name="Footer"/>
          <p:cNvSpPr txBox="1"/>
          <p:nvPr/>
        </p:nvSpPr>
        <p:spPr>
          <a:xfrm>
            <a:off x="640000" y="6360000"/>
            <a:ext cx="10700000" cy="25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0" bIns="0"/>
          <a:lstStyle/>
          <a:p>
            <a:pPr algn="l"/>
            <a:r>
              <a:rPr lang="en-US" sz="900">
                <a:solidFill>
                  <a:srgbClr val="52667A"/>
                </a:solidFill>
                <a:latin typeface="Aptos"/>
              </a:rPr>
              <a:t>VoiceInsights Africa | Synthetic Demonstration Publication | 34</a:t>
            </a:r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VoiceInsights Africa</Application>
  <Slides>34</Slides>
</Properties>
</file>

<file path=docProps/core.xml><?xml version="1.0" encoding="utf-8"?>
<cp:coreProperties xmlns:cp="http://schemas.openxmlformats.org/package/2006/metadata/core-properties" xmlns:dc="http://purl.org/dc/elements/1.1/">
  <dc:title>Employee Experience Intelligence Report</dc:title>
  <dc:creator>VoiceInsights Africa</dc:creator>
</cp:coreProperties>
</file>