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4C3C"/>
        </a:solidFill>
      </p:bgPr>
    </p:bg>
    <p:spTree>
      <p:nvGrpSpPr>
        <p:cNvPr id="1" name=""/>
        <p:cNvGrpSpPr/>
        <p:nvPr/>
      </p:nvGrpSpPr>
      <p:grpSpPr>
        <a:xfrm>
          <a:off x="0" y="0"/>
          <a:ext cx="0" cy="0"/>
          <a:chOff x="0" y="0"/>
          <a:chExt cx="0" cy="0"/>
        </a:xfrm>
      </p:grpSpPr>
      <p:sp>
        <p:nvSpPr>
          <p:cNvPr id="2" name="Shape 0"/>
          <p:cNvSpPr/>
          <p:nvPr/>
        </p:nvSpPr>
        <p:spPr>
          <a:xfrm>
            <a:off x="9235440" y="0"/>
            <a:ext cx="2956255" cy="6858000"/>
          </a:xfrm>
          <a:prstGeom prst="rect">
            <a:avLst/>
          </a:prstGeom>
          <a:solidFill>
            <a:srgbClr val="07883F"/>
          </a:solidFill>
          <a:ln w="12700">
            <a:solidFill>
              <a:srgbClr val="07883F"/>
            </a:solidFill>
            <a:prstDash val="solid"/>
          </a:ln>
        </p:spPr>
      </p:sp>
      <p:sp>
        <p:nvSpPr>
          <p:cNvPr id="3" name="Shape 1"/>
          <p:cNvSpPr/>
          <p:nvPr/>
        </p:nvSpPr>
        <p:spPr>
          <a:xfrm>
            <a:off x="8823960" y="0"/>
            <a:ext cx="109728" cy="6858000"/>
          </a:xfrm>
          <a:prstGeom prst="rect">
            <a:avLst/>
          </a:prstGeom>
          <a:solidFill>
            <a:srgbClr val="E0B33D"/>
          </a:solidFill>
          <a:ln w="12700">
            <a:solidFill>
              <a:srgbClr val="E0B33D"/>
            </a:solidFill>
            <a:prstDash val="solid"/>
          </a:ln>
        </p:spPr>
      </p:sp>
      <p:sp>
        <p:nvSpPr>
          <p:cNvPr id="4" name="Shape 2"/>
          <p:cNvSpPr/>
          <p:nvPr/>
        </p:nvSpPr>
        <p:spPr>
          <a:xfrm>
            <a:off x="1874520" y="1554480"/>
            <a:ext cx="1417320" cy="64008"/>
          </a:xfrm>
          <a:prstGeom prst="rect">
            <a:avLst/>
          </a:prstGeom>
          <a:solidFill>
            <a:srgbClr val="E0B33D"/>
          </a:solidFill>
          <a:ln w="12700">
            <a:solidFill>
              <a:srgbClr val="E0B33D"/>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E0B33D"/>
                </a:solidFill>
              </a:rPr>
              <a:t>FLAGSHIP SYNTHETIC DEMONSTRATION PUBLICATION | COVER 9</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Annual Impact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Zambia | Youth Economic Inclusion</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This flagship synthetic demonstration publication examines youth economic inclusion performance in Zambia.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Scale pathways with verified employment conversion for youth economic inclusion.</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4819</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88%</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Across Zambia's synthetic study areas, decent employment outcomes is the clearest differentiator of youth economic inclusion performance. The evidence is strongest in Lusaka Corridor,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Zambia's synthetic study areas, enterprise survival is the clearest differentiator of youth economic inclusion performance. The evidence is strongest in Copperbelt,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Zambia's synthetic study areas, young women participation is the clearest differentiator of youth economic inclusion performance. The evidence is strongest in Eastern Province,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Lusaka Corridor</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828032"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80%</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Copperbelt</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4888382" cy="201168"/>
          </a:xfrm>
          <a:prstGeom prst="roundRect">
            <a:avLst>
              <a:gd name="adj" fmla="val 13636"/>
            </a:avLst>
          </a:prstGeom>
          <a:solidFill>
            <a:srgbClr val="E0B33D"/>
          </a:solidFill>
          <a:ln w="12700">
            <a:solidFill>
              <a:srgbClr val="E0B33D"/>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81%</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Eastern Province</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948733"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82%</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Rural Enterprise Hubs</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5009083" cy="201168"/>
          </a:xfrm>
          <a:prstGeom prst="roundRect">
            <a:avLst>
              <a:gd name="adj" fmla="val 13636"/>
            </a:avLst>
          </a:prstGeom>
          <a:solidFill>
            <a:srgbClr val="E0B33D"/>
          </a:solidFill>
          <a:ln w="12700">
            <a:solidFill>
              <a:srgbClr val="E0B33D"/>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83%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Decent employment conversion</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224528"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030261" y="1737360"/>
            <a:ext cx="0" cy="347472"/>
          </a:xfrm>
          <a:prstGeom prst="line">
            <a:avLst/>
          </a:prstGeom>
          <a:noFill/>
          <a:ln w="19050">
            <a:solidFill>
              <a:srgbClr val="174C3C"/>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70% / target 77%</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Enterprise twelve-month survival</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4284878" cy="201168"/>
          </a:xfrm>
          <a:prstGeom prst="roundRect">
            <a:avLst>
              <a:gd name="adj" fmla="val 13636"/>
            </a:avLst>
          </a:prstGeom>
          <a:solidFill>
            <a:srgbClr val="E0B33D"/>
          </a:solidFill>
          <a:ln w="12700">
            <a:solidFill>
              <a:srgbClr val="E0B33D"/>
            </a:solidFill>
            <a:prstDash val="solid"/>
          </a:ln>
        </p:spPr>
      </p:sp>
      <p:sp>
        <p:nvSpPr>
          <p:cNvPr id="16" name="Shape 13"/>
          <p:cNvSpPr/>
          <p:nvPr/>
        </p:nvSpPr>
        <p:spPr>
          <a:xfrm>
            <a:off x="8090611" y="2359152"/>
            <a:ext cx="0" cy="347472"/>
          </a:xfrm>
          <a:prstGeom prst="line">
            <a:avLst/>
          </a:prstGeom>
          <a:noFill/>
          <a:ln w="19050">
            <a:solidFill>
              <a:srgbClr val="174C3C"/>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71% / target 78%</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Young women outcome parity</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4345229"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150962" y="2980944"/>
            <a:ext cx="0" cy="347472"/>
          </a:xfrm>
          <a:prstGeom prst="line">
            <a:avLst/>
          </a:prstGeom>
          <a:noFill/>
          <a:ln w="19050">
            <a:solidFill>
              <a:srgbClr val="174C3C"/>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72% / target 79%</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Income resilience score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4405579" cy="201168"/>
          </a:xfrm>
          <a:prstGeom prst="roundRect">
            <a:avLst>
              <a:gd name="adj" fmla="val 13636"/>
            </a:avLst>
          </a:prstGeom>
          <a:solidFill>
            <a:srgbClr val="E0B33D"/>
          </a:solidFill>
          <a:ln w="12700">
            <a:solidFill>
              <a:srgbClr val="E0B33D"/>
            </a:solidFill>
            <a:prstDash val="solid"/>
          </a:ln>
        </p:spPr>
      </p:sp>
      <p:sp>
        <p:nvSpPr>
          <p:cNvPr id="26" name="Shape 23"/>
          <p:cNvSpPr/>
          <p:nvPr/>
        </p:nvSpPr>
        <p:spPr>
          <a:xfrm>
            <a:off x="8211312" y="3602736"/>
            <a:ext cx="0" cy="347472"/>
          </a:xfrm>
          <a:prstGeom prst="line">
            <a:avLst/>
          </a:prstGeom>
          <a:noFill/>
          <a:ln w="19050">
            <a:solidFill>
              <a:srgbClr val="174C3C"/>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73% / target 80%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Lusaka Corridor, decent employment outcomes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Copperbelt, enterprise survival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Eastern Province, young women participation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Scale pathways with verified employment conversion for youth economic inclusion.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Add twelve-month enterprise survival support for youth economic inclusion.</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Remove participation constraints facing young women for youth economic inclusion.</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Integrate savings and shock-readiness coaching for youth economic inclusion.</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Formalise employer and public-system partnerships for youth economic inclusion.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Scale pathways with verified employment conversion for youth economic inclusion.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Add twelve-month enterprise survival support for youth economic inclusion.</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Remove participation constraints facing young women for youth economic inclusion.</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Integrate savings and shock-readiness coaching for youth economic inclusion.</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Formalise employer and public-system partnerships for youth economic inclusion.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Lusaka Corridor, decent employment outcomes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Copperbelt, enterprise survival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Eastern Province, young women participation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Rural Enterprise Hubs, income resilience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Lusaka Corridor, systems-level contribution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sampling frame: Synthetic frame covering programme-relevant population groups in Zambia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sample size: 4819</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Results-Based Management: Findings and recommendations are connected to outputs, outcomes and indicators.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Theory of Change: The report tests causal pathways, assumptions and risks without claiming unsupported attribution.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SDG 8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4C3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E0B33D"/>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Annual Impact Report</dc:title>
  <dc:subject>Synthetic Demonstration Publication</dc:subject>
  <dc:creator>VoiceInsights Africa</dc:creator>
  <cp:lastModifiedBy>VoiceInsights Africa</cp:lastModifiedBy>
  <cp:revision>1</cp:revision>
  <dcterms:created xsi:type="dcterms:W3CDTF">2026-07-12T22:51:25Z</dcterms:created>
  <dcterms:modified xsi:type="dcterms:W3CDTF">2026-07-12T22:51:25Z</dcterms:modified>
</cp:coreProperties>
</file>