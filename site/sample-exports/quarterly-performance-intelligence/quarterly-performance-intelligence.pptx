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4C3C"/>
        </a:solidFill>
      </p:bgPr>
    </p:bg>
    <p:spTree>
      <p:nvGrpSpPr>
        <p:cNvPr id="1" name=""/>
        <p:cNvGrpSpPr/>
        <p:nvPr/>
      </p:nvGrpSpPr>
      <p:grpSpPr>
        <a:xfrm>
          <a:off x="0" y="0"/>
          <a:ext cx="0" cy="0"/>
          <a:chOff x="0" y="0"/>
          <a:chExt cx="0" cy="0"/>
        </a:xfrm>
      </p:grpSpPr>
      <p:sp>
        <p:nvSpPr>
          <p:cNvPr id="2" name="Shape 0"/>
          <p:cNvSpPr/>
          <p:nvPr/>
        </p:nvSpPr>
        <p:spPr>
          <a:xfrm>
            <a:off x="0" y="0"/>
            <a:ext cx="2377440" cy="6858000"/>
          </a:xfrm>
          <a:prstGeom prst="rect">
            <a:avLst/>
          </a:prstGeom>
          <a:solidFill>
            <a:srgbClr val="2F855A"/>
          </a:solidFill>
          <a:ln w="12700">
            <a:solidFill>
              <a:srgbClr val="2F855A"/>
            </a:solidFill>
            <a:prstDash val="solid"/>
          </a:ln>
        </p:spPr>
      </p:sp>
      <p:sp>
        <p:nvSpPr>
          <p:cNvPr id="3" name="Shape 1"/>
          <p:cNvSpPr/>
          <p:nvPr/>
        </p:nvSpPr>
        <p:spPr>
          <a:xfrm>
            <a:off x="2542032" y="0"/>
            <a:ext cx="91440" cy="6858000"/>
          </a:xfrm>
          <a:prstGeom prst="rect">
            <a:avLst/>
          </a:prstGeom>
          <a:solidFill>
            <a:srgbClr val="E0B33D"/>
          </a:solidFill>
          <a:ln w="12700">
            <a:solidFill>
              <a:srgbClr val="E0B33D"/>
            </a:solidFill>
            <a:prstDash val="solid"/>
          </a:ln>
        </p:spPr>
      </p:sp>
      <p:sp>
        <p:nvSpPr>
          <p:cNvPr id="4" name="Shape 2"/>
          <p:cNvSpPr/>
          <p:nvPr/>
        </p:nvSpPr>
        <p:spPr>
          <a:xfrm>
            <a:off x="594360" y="1408176"/>
            <a:ext cx="1737360" cy="64008"/>
          </a:xfrm>
          <a:prstGeom prst="rect">
            <a:avLst/>
          </a:prstGeom>
          <a:solidFill>
            <a:srgbClr val="E0B33D"/>
          </a:solidFill>
          <a:ln w="12700">
            <a:solidFill>
              <a:srgbClr val="E0B33D"/>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E0B33D"/>
                </a:solidFill>
              </a:rPr>
              <a:t>FLAGSHIP SYNTHETIC DEMONSTRATION PUBLICATION | COVER 10</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Quarterly Performance Intelligence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Mozambique | Programme Delivery</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This flagship synthetic demonstration publication examines programme delivery performance in Mozambique.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Launch a thirty-day recovery sprint for red milestones for programme delivery.</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3976</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78%</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174C3C"/>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Across Mozambique's synthetic study areas, milestone delivery is the clearest differentiator of programme delivery performance. The evidence is strongest in North Portfolio,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Across Mozambique's synthetic study areas, budget absorption quality is the clearest differentiator of programme delivery performance. The evidence is strongest in Central Portfolio,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Across Mozambique's synthetic study areas, partner performance is the clearest differentiator of programme delivery performance. The evidence is strongest in Coastal Portfolio,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North Portfolio</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465930"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74%</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Central Portfolio</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4526280" cy="201168"/>
          </a:xfrm>
          <a:prstGeom prst="roundRect">
            <a:avLst>
              <a:gd name="adj" fmla="val 13636"/>
            </a:avLst>
          </a:prstGeom>
          <a:solidFill>
            <a:srgbClr val="E0B33D"/>
          </a:solidFill>
          <a:ln w="12700">
            <a:solidFill>
              <a:srgbClr val="E0B33D"/>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75%</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Coastal Portfolio</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4586630"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76%</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Cross-Cutting Services</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4646981" cy="201168"/>
          </a:xfrm>
          <a:prstGeom prst="roundRect">
            <a:avLst>
              <a:gd name="adj" fmla="val 13636"/>
            </a:avLst>
          </a:prstGeom>
          <a:solidFill>
            <a:srgbClr val="E0B33D"/>
          </a:solidFill>
          <a:ln w="12700">
            <a:solidFill>
              <a:srgbClr val="E0B33D"/>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Milestone delivery rate</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646981"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8452714" y="1737360"/>
            <a:ext cx="0" cy="347472"/>
          </a:xfrm>
          <a:prstGeom prst="line">
            <a:avLst/>
          </a:prstGeom>
          <a:noFill/>
          <a:ln w="19050">
            <a:solidFill>
              <a:srgbClr val="174C3C"/>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77% / target 84%</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Evidence-backed budget absorption</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4707331" cy="201168"/>
          </a:xfrm>
          <a:prstGeom prst="roundRect">
            <a:avLst>
              <a:gd name="adj" fmla="val 13636"/>
            </a:avLst>
          </a:prstGeom>
          <a:solidFill>
            <a:srgbClr val="E0B33D"/>
          </a:solidFill>
          <a:ln w="12700">
            <a:solidFill>
              <a:srgbClr val="E0B33D"/>
            </a:solidFill>
            <a:prstDash val="solid"/>
          </a:ln>
        </p:spPr>
      </p:sp>
      <p:sp>
        <p:nvSpPr>
          <p:cNvPr id="16" name="Shape 13"/>
          <p:cNvSpPr/>
          <p:nvPr/>
        </p:nvSpPr>
        <p:spPr>
          <a:xfrm>
            <a:off x="8513064" y="2359152"/>
            <a:ext cx="0" cy="347472"/>
          </a:xfrm>
          <a:prstGeom prst="line">
            <a:avLst/>
          </a:prstGeom>
          <a:noFill/>
          <a:ln w="19050">
            <a:solidFill>
              <a:srgbClr val="174C3C"/>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78% / target 85%</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Partner performance score</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4767682"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573414" y="2980944"/>
            <a:ext cx="0" cy="347472"/>
          </a:xfrm>
          <a:prstGeom prst="line">
            <a:avLst/>
          </a:prstGeom>
          <a:noFill/>
          <a:ln w="19050">
            <a:solidFill>
              <a:srgbClr val="174C3C"/>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79% / target 86%</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7372E"/>
                </a:solidFill>
              </a:rPr>
              <a:t>Corrective-action closure</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4828032" cy="201168"/>
          </a:xfrm>
          <a:prstGeom prst="roundRect">
            <a:avLst>
              <a:gd name="adj" fmla="val 13636"/>
            </a:avLst>
          </a:prstGeom>
          <a:solidFill>
            <a:srgbClr val="E0B33D"/>
          </a:solidFill>
          <a:ln w="12700">
            <a:solidFill>
              <a:srgbClr val="E0B33D"/>
            </a:solidFill>
            <a:prstDash val="solid"/>
          </a:ln>
        </p:spPr>
      </p:sp>
      <p:sp>
        <p:nvSpPr>
          <p:cNvPr id="26" name="Shape 23"/>
          <p:cNvSpPr/>
          <p:nvPr/>
        </p:nvSpPr>
        <p:spPr>
          <a:xfrm>
            <a:off x="8633765" y="3602736"/>
            <a:ext cx="0" cy="347472"/>
          </a:xfrm>
          <a:prstGeom prst="line">
            <a:avLst/>
          </a:prstGeom>
          <a:noFill/>
          <a:ln w="19050">
            <a:solidFill>
              <a:srgbClr val="174C3C"/>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7372E"/>
                </a:solidFill>
              </a:rPr>
              <a:t>80% / target 87%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“In North Portfolio, milestone delivery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Central Portfolio, budget absorption quality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Coastal Portfolio, partner performance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Launch a thirty-day recovery sprint for red milestones for programme delivery.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Link budget release to verified delivery evidence for programme delivery.</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Place underperforming partners on time-bound support plans for programme delivery.</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Escalate critical procurement bottlenecks for programme delivery.</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Close overdue management actions before quarter end for programme delivery.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Launch a thirty-day recovery sprint for red milestones for programme delivery.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Link budget release to verified delivery evidence for programme delivery.</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Place underperforming partners on time-bound support plans for programme delivery.</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Escalate critical procurement bottlenecks for programme delivery.</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Close overdue management actions before quarter end for programme delivery.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“In North Portfolio, milestone delivery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Central Portfolio, budget absorption quality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Coastal Portfolio, partner performance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Cross-Cutting Services, procurement delay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“In North Portfolio, corrective-action closure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sampling frame: Synthetic frame covering programme-relevant population groups in Mozambique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sample size: 3976</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7372E"/>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Results-Based Management: Findings and recommendations are connected to outputs, outcomes and indicators.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Theory of Change: The report tests causal pathways, assumptions and risks without claiming unsupported attribution.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SDG Context-specific — Primary. Contribution mapping only; no attribution or institutional endorsement is implied.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8"/>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7372E"/>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E0B33D"/>
          </a:solidFill>
          <a:ln w="12700">
            <a:solidFill>
              <a:srgbClr val="E0B33D"/>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7372E"/>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7372E"/>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7372E"/>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7372E"/>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7372E"/>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4C3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E0B33D"/>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Quarterly Performance Intelligence Report</dc:title>
  <dc:subject>Synthetic Demonstration Publication</dc:subject>
  <dc:creator>VoiceInsights Africa</dc:creator>
  <cp:lastModifiedBy>VoiceInsights Africa</cp:lastModifiedBy>
  <cp:revision>1</cp:revision>
  <dcterms:created xsi:type="dcterms:W3CDTF">2026-07-12T22:51:25Z</dcterms:created>
  <dcterms:modified xsi:type="dcterms:W3CDTF">2026-07-12T22:51:25Z</dcterms:modified>
</cp:coreProperties>
</file>