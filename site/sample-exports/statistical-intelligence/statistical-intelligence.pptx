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251D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4" name="Accent panel"/>
          <p:cNvSpPr/>
          <p:nvPr/>
        </p:nvSpPr>
        <p:spPr>
          <a:xfrm>
            <a:off x="9300000" y="0"/>
            <a:ext cx="28920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Gold rule"/>
          <p:cNvSpPr/>
          <p:nvPr/>
        </p:nvSpPr>
        <p:spPr>
          <a:xfrm>
            <a:off x="8880000" y="0"/>
            <a:ext cx="1200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6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0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1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FFFFFF"/>
                </a:solidFill>
                <a:latin typeface="Aptos"/>
              </a:rPr>
              <a:t>VOICEINSIGHTS AFRICA</a:t>
            </a:r>
          </a:p>
        </p:txBody>
      </p:sp>
      <p:sp>
        <p:nvSpPr>
          <p:cNvPr id="12" name="Classification"/>
          <p:cNvSpPr txBox="1"/>
          <p:nvPr/>
        </p:nvSpPr>
        <p:spPr>
          <a:xfrm>
            <a:off x="640000" y="1160000"/>
            <a:ext cx="7100000" cy="4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250" b="1">
                <a:solidFill>
                  <a:srgbClr val="D4AF37"/>
                </a:solidFill>
                <a:latin typeface="Aptos"/>
              </a:rPr>
              <a:t>FLAGSHIP SYNTHETIC DEMONSTRATION PUBLICATION</a:t>
            </a:r>
          </a:p>
        </p:txBody>
      </p:sp>
      <p:sp>
        <p:nvSpPr>
          <p:cNvPr id="13" name="Title"/>
          <p:cNvSpPr txBox="1"/>
          <p:nvPr/>
        </p:nvSpPr>
        <p:spPr>
          <a:xfrm>
            <a:off x="640000" y="1760000"/>
            <a:ext cx="7600000" cy="19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3600" b="1">
                <a:solidFill>
                  <a:srgbClr val="FFFFFF"/>
                </a:solidFill>
                <a:latin typeface="Aptos"/>
              </a:rPr>
              <a:t>Statistical Intelligence Report</a:t>
            </a:r>
          </a:p>
        </p:txBody>
      </p:sp>
      <p:sp>
        <p:nvSpPr>
          <p:cNvPr id="14" name="Subtitle"/>
          <p:cNvSpPr txBox="1"/>
          <p:nvPr/>
        </p:nvSpPr>
        <p:spPr>
          <a:xfrm>
            <a:off x="640000" y="3900000"/>
            <a:ext cx="690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800">
                <a:solidFill>
                  <a:srgbClr val="D8E5DF"/>
                </a:solidFill>
                <a:latin typeface="Aptos"/>
              </a:rPr>
              <a:t>Tanzania | Health Systems</a:t>
            </a:r>
          </a:p>
        </p:txBody>
      </p:sp>
      <p:sp>
        <p:nvSpPr>
          <p:cNvPr id="15" name="Prepared"/>
          <p:cNvSpPr txBox="1"/>
          <p:nvPr/>
        </p:nvSpPr>
        <p:spPr>
          <a:xfrm>
            <a:off x="640000" y="5000000"/>
            <a:ext cx="6500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FFFFFF"/>
                </a:solidFill>
                <a:latin typeface="Aptos"/>
              </a:rPr>
              <a:t>Prepared by VoiceInsights Africa Every Voice. Every Language. Every Insight.</a:t>
            </a:r>
          </a:p>
        </p:txBody>
      </p:sp>
      <p:sp>
        <p:nvSpPr>
          <p:cNvPr id="16" name="Notice"/>
          <p:cNvSpPr txBox="1"/>
          <p:nvPr/>
        </p:nvSpPr>
        <p:spPr>
          <a:xfrm>
            <a:off x="9550000" y="5260000"/>
            <a:ext cx="20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SYNTHETIC DATA Not official statistics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Five-minute leadership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Executive Intelligence Book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executive brief: This is a moment to consolidate, not expand: protect what is working in health systems and close the gaps the evidence has already identified.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Publish weighted effective-coverage estimates.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Target readiness investment using uncertainty bands.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 snapshot: Institutionalise equity decomposition.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critical findings: Effective coverage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What matters, why it matters and what must be decided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Executive Brief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summary: Tanzania has made real gains in health systems performance — and real gaps remain alongside them. This publication separates the two, using a governed evidence model built to surface risk and opportunity, not just describe them. No claim in this publication stands alone: findings link to synthetic evidence, recommendations carry a named owner, and every statistic shares one internally consistent dataset.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decision: Publish weighted effective-coverage estimates.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Accountable choices for leadership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Priority Decisions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Publish weighted effective-coverage estimates.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Target readiness investment using uncertainty bands.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Institutionalise equity decomposition.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Repeat reliability and measurement-invariance testing.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Monitor model drift before operational use.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Evidence-backed signals requiring attention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Critical Findings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Effective coverage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Facility readiness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Wealth-related inequity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Measurement reliability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Predictive model stability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Claim-to-source lineage and confidence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Evidence Intelligence Book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“Rural women in Eastern Zone frame it simply: when effective coverage breaks down, everything else does too.”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“In Lake Zone, facility readiness shapes whether young adults can turn services into lasting outcomes.”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“Persons with disabilities in Northern Zone put it plainly: wealth-related inequity is what decides whether progress holds or slips back.”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“Why does Southern Highlands lag behind? Ask frontline workers, and the answer comes back to measurement reliability.”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“Elsewhere, predictive model stability might be a footnote. For low-income households in Eastern Zone, it is the whole story.”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Evidence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evidence: “Rural women in Eastern Zone frame it simply: when effective coverage breaks down, everything else does too.”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“In Lake Zone, facility readiness shapes whether young adults can turn services into lasting outcomes.”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“Persons with disabilities in Northern Zone put it plainly: wealth-related inequity is what decides whether progress holds or slips back.”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“Why does Southern Highlands lag behind? Ask frontline workers, and the answer comes back to measurement reliability.”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evidence: “Elsewhere, predictive model stability might be a footnote. For low-income households in Eastern Zone, it is the whole story.”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Sampling, weighting, uncertainty and reproducibility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Statistical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Prioritisation for management action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Risk and Opportunity Matrix</a:t>
            </a:r>
          </a:p>
        </p:txBody>
      </p:sp>
      <p:sp>
        <p:nvSpPr>
          <p:cNvPr id="12" name="Risk panel"/>
          <p:cNvSpPr/>
          <p:nvPr/>
        </p:nvSpPr>
        <p:spPr>
          <a:xfrm>
            <a:off x="640000" y="2050000"/>
            <a:ext cx="5200000" cy="3400000"/>
          </a:xfrm>
          <a:prstGeom prst="roundRect">
            <a:avLst/>
          </a:prstGeom>
          <a:solidFill>
            <a:srgbClr val="FFF2F0"/>
          </a:solidFill>
          <a:ln w="12700">
            <a:solidFill>
              <a:srgbClr val="E7C5BF"/>
            </a:solidFill>
          </a:ln>
        </p:spPr>
      </p:sp>
      <p:sp>
        <p:nvSpPr>
          <p:cNvPr id="13" name="Opportunity panel"/>
          <p:cNvSpPr/>
          <p:nvPr/>
        </p:nvSpPr>
        <p:spPr>
          <a:xfrm>
            <a:off x="5980000" y="2050000"/>
            <a:ext cx="5200000" cy="3400000"/>
          </a:xfrm>
          <a:prstGeom prst="roundRect">
            <a:avLst/>
          </a:prstGeom>
          <a:solidFill>
            <a:srgbClr val="ECF7F1"/>
          </a:solidFill>
          <a:ln w="12700">
            <a:solidFill>
              <a:srgbClr val="B8DCCB"/>
            </a:solidFill>
          </a:ln>
        </p:spPr>
      </p:sp>
      <p:sp>
        <p:nvSpPr>
          <p:cNvPr id="14" name="Risk title"/>
          <p:cNvSpPr txBox="1"/>
          <p:nvPr/>
        </p:nvSpPr>
        <p:spPr>
          <a:xfrm>
            <a:off x="940000" y="2320000"/>
            <a:ext cx="44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350" b="1">
                <a:solidFill>
                  <a:srgbClr val="A33A2B"/>
                </a:solidFill>
                <a:latin typeface="Aptos"/>
              </a:rPr>
              <a:t>CRITICAL RISKS</a:t>
            </a:r>
          </a:p>
        </p:txBody>
      </p:sp>
      <p:sp>
        <p:nvSpPr>
          <p:cNvPr id="15" name="Opportunity title"/>
          <p:cNvSpPr txBox="1"/>
          <p:nvPr/>
        </p:nvSpPr>
        <p:spPr>
          <a:xfrm>
            <a:off x="6280000" y="2320000"/>
            <a:ext cx="4400000" cy="3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350" b="1">
                <a:solidFill>
                  <a:srgbClr val="0B6E4F"/>
                </a:solidFill>
                <a:latin typeface="Aptos"/>
              </a:rPr>
              <a:t>TOP OPPORTUNITIES</a:t>
            </a:r>
          </a:p>
        </p:txBody>
      </p:sp>
      <p:sp>
        <p:nvSpPr>
          <p:cNvPr id="16" name="Risks"/>
          <p:cNvSpPr txBox="1"/>
          <p:nvPr/>
        </p:nvSpPr>
        <p:spPr>
          <a:xfrm>
            <a:off x="940000" y="2850000"/>
            <a:ext cx="4400000" cy="2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532B25"/>
                </a:solidFill>
                <a:latin typeface="Aptos"/>
              </a:rPr>
              <a:t>1. Evidence and monitoring capacity lags the pace of decisions being made on health systems 2. Leadership turnover during implementation stalls momentum on health systems</a:t>
            </a:r>
          </a:p>
        </p:txBody>
      </p:sp>
      <p:sp>
        <p:nvSpPr>
          <p:cNvPr id="17" name="Opportunities"/>
          <p:cNvSpPr txBox="1"/>
          <p:nvPr/>
        </p:nvSpPr>
        <p:spPr>
          <a:xfrm>
            <a:off x="6280000" y="2850000"/>
            <a:ext cx="4400000" cy="2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64C3A"/>
                </a:solidFill>
                <a:latin typeface="Aptos"/>
              </a:rPr>
              <a:t>1. Converting early gains in health systems into durable, sustained progress 2. Using the confidence intervals already published here to focus investment 3. Stronger feedback accountability between frontline delivery and leadership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International Standards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framework: World Bank Statistical Standards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relevance: Applied where relevant to Health Systems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EVI-STA-001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EVI-STA-002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limitations: Synthetic demonstration mapping; institutional validation not implied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OECD-DAC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Synthetic evidence indicates a strong relevance signal, subject to the stated design limitations.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moderate-to-strong coherence signal, subject to the stated design limitations.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strong effectiveness signal, subject to the stated design limitations.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moderate-to-strong efficiency signal, subject to the stated design limitations.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Synthetic evidence indicates a strong impact signal, subject to the stated design limitations.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Results-Based Management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inputs: Governed synthetic data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inputs: Delivery capacity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inputs: Approved financing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activities: Evidence collection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activities: Segmented analysis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Core Humanitarian Standard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commitment number: 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commitment: CHS Commitment 1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ids: EVI-STA-001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status: CONTEXT ONLY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action: Validate relevance and assign an accountable owner before live use.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Immediate, medium-term and strategic action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Publish weighted effective-coverage estimates.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Target readiness investment using uncertainty bands.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Institutionalise equity decomposition.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Repeat reliability and measurement-invariance testing.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Monitor model drift before operational use.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Evidence, statistical, visual and decision assurance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Publication Quality Gate</a:t>
            </a:r>
          </a:p>
        </p:txBody>
      </p:sp>
      <p:sp>
        <p:nvSpPr>
          <p:cNvPr id="12" name="Metric card 1"/>
          <p:cNvSpPr/>
          <p:nvPr/>
        </p:nvSpPr>
        <p:spPr>
          <a:xfrm>
            <a:off x="64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3" name="Metric value 1"/>
          <p:cNvSpPr txBox="1"/>
          <p:nvPr/>
        </p:nvSpPr>
        <p:spPr>
          <a:xfrm>
            <a:off x="82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14" name="Metric label 1"/>
          <p:cNvSpPr txBox="1"/>
          <p:nvPr/>
        </p:nvSpPr>
        <p:spPr>
          <a:xfrm>
            <a:off x="82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Editorial Review Passed</a:t>
            </a:r>
          </a:p>
        </p:txBody>
      </p:sp>
      <p:sp>
        <p:nvSpPr>
          <p:cNvPr id="15" name="Metric card 2"/>
          <p:cNvSpPr/>
          <p:nvPr/>
        </p:nvSpPr>
        <p:spPr>
          <a:xfrm>
            <a:off x="347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6" name="Metric value 2"/>
          <p:cNvSpPr txBox="1"/>
          <p:nvPr/>
        </p:nvSpPr>
        <p:spPr>
          <a:xfrm>
            <a:off x="365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17" name="Metric label 2"/>
          <p:cNvSpPr txBox="1"/>
          <p:nvPr/>
        </p:nvSpPr>
        <p:spPr>
          <a:xfrm>
            <a:off x="365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Evidence Review Passed</a:t>
            </a:r>
          </a:p>
        </p:txBody>
      </p:sp>
      <p:sp>
        <p:nvSpPr>
          <p:cNvPr id="18" name="Metric card 3"/>
          <p:cNvSpPr/>
          <p:nvPr/>
        </p:nvSpPr>
        <p:spPr>
          <a:xfrm>
            <a:off x="630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19" name="Metric value 3"/>
          <p:cNvSpPr txBox="1"/>
          <p:nvPr/>
        </p:nvSpPr>
        <p:spPr>
          <a:xfrm>
            <a:off x="648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20" name="Metric label 3"/>
          <p:cNvSpPr txBox="1"/>
          <p:nvPr/>
        </p:nvSpPr>
        <p:spPr>
          <a:xfrm>
            <a:off x="648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Publication Integrity Verified</a:t>
            </a:r>
          </a:p>
        </p:txBody>
      </p:sp>
      <p:sp>
        <p:nvSpPr>
          <p:cNvPr id="21" name="Metric card 4"/>
          <p:cNvSpPr/>
          <p:nvPr/>
        </p:nvSpPr>
        <p:spPr>
          <a:xfrm>
            <a:off x="9130000" y="2050000"/>
            <a:ext cx="2580000" cy="15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2"/>
            </a:solidFill>
          </a:ln>
        </p:spPr>
      </p:sp>
      <p:sp>
        <p:nvSpPr>
          <p:cNvPr id="22" name="Metric value 4"/>
          <p:cNvSpPr txBox="1"/>
          <p:nvPr/>
        </p:nvSpPr>
        <p:spPr>
          <a:xfrm>
            <a:off x="9310000" y="2300000"/>
            <a:ext cx="2220000" cy="5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0B2E59"/>
                </a:solidFill>
                <a:latin typeface="Aptos"/>
              </a:rPr>
              <a:t>Passed</a:t>
            </a:r>
          </a:p>
        </p:txBody>
      </p:sp>
      <p:sp>
        <p:nvSpPr>
          <p:cNvPr id="23" name="Metric label 4"/>
          <p:cNvSpPr txBox="1"/>
          <p:nvPr/>
        </p:nvSpPr>
        <p:spPr>
          <a:xfrm>
            <a:off x="9310000" y="3000000"/>
            <a:ext cx="222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52667A"/>
                </a:solidFill>
                <a:latin typeface="Aptos"/>
              </a:rPr>
              <a:t>Accessibility Verified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Visual Intelligence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visualizations: Executive Kpi Cards: Effective coverage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Regional Heat Map: Facility readiness index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Choropleth Map: Concentration index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Risk Matrix: Calibration error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visualizations: Decision Matrix: Effective coverage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Accessibility Assurance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wcag target: WCAG 2.2 AA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tagged pdf required: true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alt text required: true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table fallback required: true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keyboard navigation required: true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Publication Products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exports: Premium PDF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Editable Word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Native PowerPoint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Statistical Excel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exports: Board Deck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Methodology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research objectives: Assess health systems performance and equity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research objectives: Identify operational drivers and decision priorities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What outcomes are changing?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Who is being left behind?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evaluation questions: Which actions are most likely to improve performance?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Sampling Design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Weighting and Uncertainty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Reliability and Validity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Missing Data and Outliers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sampling design: Stratified multi-stage synthetic demonstration design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frame: Synthetic frame covering programme-relevant population groups in Tanzania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Region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Urban/rural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stratification: Sex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Regional Intelligence 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visual: Choropleth Map: Concentration index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Performance Heat 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visual: Regional Heat Map: Facility readiness index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Risk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risk: Evidence and monitoring capacity lags the pace of decisions being made on health systems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likelihood: Medium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impact: Medium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risk: Leadership turnover during implementation stalls momentum on health systems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likelihood: Low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Decision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Publish weighted effective-coverage estimates.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Target readiness investment using uncertainty bands.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Institutionalise equity decomposition.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Repeat reliability and measurement-invariance testing.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Monitor model drift before operational use.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Opportunity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Converting early gains in health systems into durable, sustained progress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Using the confidence intervals already published here to focus investment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Stronger feedback accountability between frontline delivery and leadership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Cost of Inaction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narrative: Inaction has a price even where it is not immediately visible: the gap in health systems delivery tends to widen quietly before it widens obviously.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Ownership Matrix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DEC-STA-01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DEC-STA-02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DEC-STA-03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DEC-STA-04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DEC-STA-05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Publish weighted effective-coverage estimates.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Target readiness investment using uncertainty bands.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Institutionalise equity decomposition.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Repeat reliability and measurement-invariance testing.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Monitor model drift before operational use.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Data Dictionary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variable: indicator 1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label: Synthetic Health Systems indicator 1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type: numeric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allowed values: 0–100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missing code: NA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Decision intelligence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Appendices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Technical methodology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Sampling and weighting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Evidence registry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Statistical tables</a:t>
            </a:r>
          </a:p>
        </p:txBody>
      </p:sp>
      <p:sp>
        <p:nvSpPr>
          <p:cNvPr id="24" name="Number 5"/>
          <p:cNvSpPr/>
          <p:nvPr/>
        </p:nvSpPr>
        <p:spPr>
          <a:xfrm>
            <a:off x="640000" y="504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5" name="Number text 5"/>
          <p:cNvSpPr txBox="1"/>
          <p:nvPr/>
        </p:nvSpPr>
        <p:spPr>
          <a:xfrm>
            <a:off x="640000" y="511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6" name="Statement 5"/>
          <p:cNvSpPr txBox="1"/>
          <p:nvPr/>
        </p:nvSpPr>
        <p:spPr>
          <a:xfrm>
            <a:off x="1260000" y="504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Data dictionary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6"/>
          </a:solidFill>
          <a:ln>
            <a:noFill/>
          </a:ln>
        </p:spPr>
      </p:sp>
      <p:sp>
        <p:nvSpPr>
          <p:cNvPr id="3" name="Top rule"/>
          <p:cNvSpPr/>
          <p:nvPr/>
        </p:nvSpPr>
        <p:spPr>
          <a:xfrm>
            <a:off x="0" y="0"/>
            <a:ext cx="12192000" cy="70000"/>
          </a:xfrm>
          <a:prstGeom prst="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4" name="VoiceInsights logo bar 1"/>
          <p:cNvSpPr/>
          <p:nvPr/>
        </p:nvSpPr>
        <p:spPr>
          <a:xfrm>
            <a:off x="640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5" name="VoiceInsights logo bar 2"/>
          <p:cNvSpPr/>
          <p:nvPr/>
        </p:nvSpPr>
        <p:spPr>
          <a:xfrm>
            <a:off x="800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6" name="VoiceInsights logo bar 3"/>
          <p:cNvSpPr/>
          <p:nvPr/>
        </p:nvSpPr>
        <p:spPr>
          <a:xfrm>
            <a:off x="980000" y="210000"/>
            <a:ext cx="125000" cy="56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7" name="VoiceInsights logo bar 4"/>
          <p:cNvSpPr/>
          <p:nvPr/>
        </p:nvSpPr>
        <p:spPr>
          <a:xfrm>
            <a:off x="1175000" y="315000"/>
            <a:ext cx="110000" cy="35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8" name="VoiceInsights logo bar 5"/>
          <p:cNvSpPr/>
          <p:nvPr/>
        </p:nvSpPr>
        <p:spPr>
          <a:xfrm>
            <a:off x="1355000" y="400000"/>
            <a:ext cx="90000" cy="18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9" name="Brand"/>
          <p:cNvSpPr txBox="1"/>
          <p:nvPr/>
        </p:nvSpPr>
        <p:spPr>
          <a:xfrm>
            <a:off x="1300000" y="26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50" b="1">
                <a:solidFill>
                  <a:srgbClr val="0B6E4F"/>
                </a:solidFill>
                <a:latin typeface="Aptos"/>
              </a:rPr>
              <a:t>VOICEINSIGHTS AFRICA</a:t>
            </a:r>
          </a:p>
        </p:txBody>
      </p:sp>
      <p:sp>
        <p:nvSpPr>
          <p:cNvPr id="10" name="Section"/>
          <p:cNvSpPr txBox="1"/>
          <p:nvPr/>
        </p:nvSpPr>
        <p:spPr>
          <a:xfrm>
            <a:off x="640000" y="65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150" b="1">
                <a:solidFill>
                  <a:srgbClr val="0B6E4F"/>
                </a:solidFill>
                <a:latin typeface="Aptos"/>
              </a:rPr>
              <a:t>Responsible interpretation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640000" y="1020000"/>
            <a:ext cx="106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700" b="1">
                <a:solidFill>
                  <a:srgbClr val="102A43"/>
                </a:solidFill>
                <a:latin typeface="Aptos"/>
              </a:rPr>
              <a:t>Limitations and Integrity</a:t>
            </a:r>
          </a:p>
        </p:txBody>
      </p:sp>
      <p:sp>
        <p:nvSpPr>
          <p:cNvPr id="12" name="Number 1"/>
          <p:cNvSpPr/>
          <p:nvPr/>
        </p:nvSpPr>
        <p:spPr>
          <a:xfrm>
            <a:off x="640000" y="2000000"/>
            <a:ext cx="430000" cy="4300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</p:sp>
      <p:sp>
        <p:nvSpPr>
          <p:cNvPr id="13" name="Number text 1"/>
          <p:cNvSpPr txBox="1"/>
          <p:nvPr/>
        </p:nvSpPr>
        <p:spPr>
          <a:xfrm>
            <a:off x="640000" y="207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102A43"/>
                </a:solidFill>
                <a:latin typeface="Aptos"/>
              </a:rPr>
              <a:t>1</a:t>
            </a:r>
          </a:p>
        </p:txBody>
      </p:sp>
      <p:sp>
        <p:nvSpPr>
          <p:cNvPr id="14" name="Statement 1"/>
          <p:cNvSpPr txBox="1"/>
          <p:nvPr/>
        </p:nvSpPr>
        <p:spPr>
          <a:xfrm>
            <a:off x="1260000" y="200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50" b="1">
                <a:solidFill>
                  <a:srgbClr val="102A43"/>
                </a:solidFill>
                <a:latin typeface="Aptos"/>
              </a:rPr>
              <a:t>All content is synthetic and must not be interpreted as official statistics</a:t>
            </a:r>
          </a:p>
        </p:txBody>
      </p:sp>
      <p:sp>
        <p:nvSpPr>
          <p:cNvPr id="15" name="Number 2"/>
          <p:cNvSpPr/>
          <p:nvPr/>
        </p:nvSpPr>
        <p:spPr>
          <a:xfrm>
            <a:off x="640000" y="276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6" name="Number text 2"/>
          <p:cNvSpPr txBox="1"/>
          <p:nvPr/>
        </p:nvSpPr>
        <p:spPr>
          <a:xfrm>
            <a:off x="640000" y="283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Statement 2"/>
          <p:cNvSpPr txBox="1"/>
          <p:nvPr/>
        </p:nvSpPr>
        <p:spPr>
          <a:xfrm>
            <a:off x="1260000" y="276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Geographic references are illustrative</a:t>
            </a:r>
          </a:p>
        </p:txBody>
      </p:sp>
      <p:sp>
        <p:nvSpPr>
          <p:cNvPr id="18" name="Number 3"/>
          <p:cNvSpPr/>
          <p:nvPr/>
        </p:nvSpPr>
        <p:spPr>
          <a:xfrm>
            <a:off x="640000" y="352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9" name="Number text 3"/>
          <p:cNvSpPr txBox="1"/>
          <p:nvPr/>
        </p:nvSpPr>
        <p:spPr>
          <a:xfrm>
            <a:off x="640000" y="359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Statement 3"/>
          <p:cNvSpPr txBox="1"/>
          <p:nvPr/>
        </p:nvSpPr>
        <p:spPr>
          <a:xfrm>
            <a:off x="1260000" y="352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Budget implications are directional and require formal costing</a:t>
            </a:r>
          </a:p>
        </p:txBody>
      </p:sp>
      <p:sp>
        <p:nvSpPr>
          <p:cNvPr id="21" name="Number 4"/>
          <p:cNvSpPr/>
          <p:nvPr/>
        </p:nvSpPr>
        <p:spPr>
          <a:xfrm>
            <a:off x="640000" y="4280000"/>
            <a:ext cx="430000" cy="430000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22" name="Number text 4"/>
          <p:cNvSpPr txBox="1"/>
          <p:nvPr/>
        </p:nvSpPr>
        <p:spPr>
          <a:xfrm>
            <a:off x="640000" y="4355000"/>
            <a:ext cx="43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"/>
            <a:r>
              <a:rPr lang="en-US" sz="12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Statement 4"/>
          <p:cNvSpPr txBox="1"/>
          <p:nvPr/>
        </p:nvSpPr>
        <p:spPr>
          <a:xfrm>
            <a:off x="1260000" y="4280000"/>
            <a:ext cx="9600000" cy="5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450">
                <a:solidFill>
                  <a:srgbClr val="102A43"/>
                </a:solidFill>
                <a:latin typeface="Aptos"/>
              </a:rPr>
              <a:t>Causal claims are not made without an appropriate design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40000" y="6360000"/>
            <a:ext cx="1070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900">
                <a:solidFill>
                  <a:srgbClr val="52667A"/>
                </a:solidFill>
                <a:latin typeface="Aptos"/>
              </a:rPr>
              <a:t>VoiceInsights Africa | Synthetic Demonstration Publication | 34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>
  <Application>VoiceInsights Africa</Application>
  <Slides>34</Slides>
</Properties>
</file>

<file path=docProps/core.xml><?xml version="1.0" encoding="utf-8"?>
<cp:coreProperties xmlns:cp="http://schemas.openxmlformats.org/package/2006/metadata/core-properties" xmlns:dc="http://purl.org/dc/elements/1.1/">
  <dc:title>Statistical Intelligence Report</dc:title>
  <dc:creator>VoiceInsights Africa</dc:creator>
</cp:coreProperties>
</file>