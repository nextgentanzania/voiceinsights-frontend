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B53"/>
        </a:solidFill>
      </p:bgPr>
    </p:bg>
    <p:spTree>
      <p:nvGrpSpPr>
        <p:cNvPr id="1" name=""/>
        <p:cNvGrpSpPr/>
        <p:nvPr/>
      </p:nvGrpSpPr>
      <p:grpSpPr>
        <a:xfrm>
          <a:off x="0" y="0"/>
          <a:ext cx="0" cy="0"/>
          <a:chOff x="0" y="0"/>
          <a:chExt cx="0" cy="0"/>
        </a:xfrm>
      </p:grpSpPr>
      <p:sp>
        <p:nvSpPr>
          <p:cNvPr id="2" name="Shape 0"/>
          <p:cNvSpPr/>
          <p:nvPr/>
        </p:nvSpPr>
        <p:spPr>
          <a:xfrm>
            <a:off x="9235440" y="0"/>
            <a:ext cx="2956255" cy="6858000"/>
          </a:xfrm>
          <a:prstGeom prst="rect">
            <a:avLst/>
          </a:prstGeom>
          <a:solidFill>
            <a:srgbClr val="07883F"/>
          </a:solidFill>
          <a:ln w="12700">
            <a:solidFill>
              <a:srgbClr val="07883F"/>
            </a:solidFill>
            <a:prstDash val="solid"/>
          </a:ln>
        </p:spPr>
      </p:sp>
      <p:sp>
        <p:nvSpPr>
          <p:cNvPr id="3" name="Shape 1"/>
          <p:cNvSpPr/>
          <p:nvPr/>
        </p:nvSpPr>
        <p:spPr>
          <a:xfrm>
            <a:off x="8823960" y="0"/>
            <a:ext cx="109728" cy="6858000"/>
          </a:xfrm>
          <a:prstGeom prst="rect">
            <a:avLst/>
          </a:prstGeom>
          <a:solidFill>
            <a:srgbClr val="2BB0A6"/>
          </a:solidFill>
          <a:ln w="12700">
            <a:solidFill>
              <a:srgbClr val="2BB0A6"/>
            </a:solidFill>
            <a:prstDash val="solid"/>
          </a:ln>
        </p:spPr>
      </p:sp>
      <p:sp>
        <p:nvSpPr>
          <p:cNvPr id="4" name="Shape 2"/>
          <p:cNvSpPr/>
          <p:nvPr/>
        </p:nvSpPr>
        <p:spPr>
          <a:xfrm>
            <a:off x="1554480" y="1408176"/>
            <a:ext cx="1417320" cy="64008"/>
          </a:xfrm>
          <a:prstGeom prst="rect">
            <a:avLst/>
          </a:prstGeom>
          <a:solidFill>
            <a:srgbClr val="2BB0A6"/>
          </a:solidFill>
          <a:ln w="12700">
            <a:solidFill>
              <a:srgbClr val="2BB0A6"/>
            </a:solidFill>
            <a:prstDash val="solid"/>
          </a:ln>
        </p:spPr>
      </p:sp>
      <p:pic>
        <p:nvPicPr>
          <p:cNvPr id="5" name="Image 0" descr="preencoded.png">    </p:cNvPr>
          <p:cNvPicPr>
            <a:picLocks noChangeAspect="1"/>
          </p:cNvPicPr>
          <p:nvPr/>
        </p:nvPicPr>
        <p:blipFill>
          <a:blip r:embed="rId1"/>
          <a:stretch>
            <a:fillRect/>
          </a:stretch>
        </p:blipFill>
        <p:spPr>
          <a:xfrm>
            <a:off x="594360" y="320040"/>
            <a:ext cx="777240" cy="548640"/>
          </a:xfrm>
          <a:prstGeom prst="rect">
            <a:avLst/>
          </a:prstGeom>
        </p:spPr>
      </p:pic>
      <p:sp>
        <p:nvSpPr>
          <p:cNvPr id="6" name="Text 3"/>
          <p:cNvSpPr/>
          <p:nvPr/>
        </p:nvSpPr>
        <p:spPr>
          <a:xfrm>
            <a:off x="1508760" y="429768"/>
            <a:ext cx="2926080" cy="201168"/>
          </a:xfrm>
          <a:prstGeom prst="rect">
            <a:avLst/>
          </a:prstGeom>
          <a:noFill/>
          <a:ln/>
        </p:spPr>
        <p:txBody>
          <a:bodyPr wrap="square" lIns="0" tIns="0" rIns="0" bIns="0" rtlCol="0" anchor="ctr"/>
          <a:lstStyle/>
          <a:p>
            <a:pPr indent="0" marL="0">
              <a:buNone/>
            </a:pPr>
            <a:r>
              <a:rPr lang="en-US" sz="1100" b="1" dirty="0">
                <a:solidFill>
                  <a:srgbClr val="FFFFFF"/>
                </a:solidFill>
              </a:rPr>
              <a:t>VOICEINSIGHTS AFRICA</a:t>
            </a:r>
            <a:endParaRPr lang="en-US" sz="1100" dirty="0"/>
          </a:p>
        </p:txBody>
      </p:sp>
      <p:sp>
        <p:nvSpPr>
          <p:cNvPr id="7" name="Text 4"/>
          <p:cNvSpPr/>
          <p:nvPr/>
        </p:nvSpPr>
        <p:spPr>
          <a:xfrm>
            <a:off x="594360" y="1234440"/>
            <a:ext cx="7132320" cy="228600"/>
          </a:xfrm>
          <a:prstGeom prst="rect">
            <a:avLst/>
          </a:prstGeom>
          <a:noFill/>
          <a:ln/>
        </p:spPr>
        <p:txBody>
          <a:bodyPr wrap="square" lIns="0" tIns="0" rIns="0" bIns="0" rtlCol="0" anchor="ctr"/>
          <a:lstStyle/>
          <a:p>
            <a:pPr indent="0" marL="0">
              <a:buNone/>
            </a:pPr>
            <a:r>
              <a:rPr lang="en-US" sz="900" b="1" spc="100" kern="0" dirty="0">
                <a:solidFill>
                  <a:srgbClr val="2BB0A6"/>
                </a:solidFill>
              </a:rPr>
              <a:t>FLAGSHIP SYNTHETIC DEMONSTRATION PUBLICATION | COVER 13</a:t>
            </a:r>
            <a:endParaRPr lang="en-US" sz="900" dirty="0"/>
          </a:p>
        </p:txBody>
      </p:sp>
      <p:sp>
        <p:nvSpPr>
          <p:cNvPr id="8" name="Text 5"/>
          <p:cNvSpPr/>
          <p:nvPr/>
        </p:nvSpPr>
        <p:spPr>
          <a:xfrm>
            <a:off x="594360" y="1828800"/>
            <a:ext cx="7589520" cy="1371600"/>
          </a:xfrm>
          <a:prstGeom prst="rect">
            <a:avLst/>
          </a:prstGeom>
          <a:noFill/>
          <a:ln/>
        </p:spPr>
        <p:txBody>
          <a:bodyPr wrap="square" lIns="0" tIns="0" rIns="0" bIns="0" rtlCol="0" anchor="ctr"/>
          <a:lstStyle/>
          <a:p>
            <a:pPr indent="0" marL="0">
              <a:buNone/>
            </a:pPr>
            <a:r>
              <a:rPr lang="en-US" sz="3000" b="1" dirty="0">
                <a:solidFill>
                  <a:srgbClr val="FFFFFF"/>
                </a:solidFill>
              </a:rPr>
              <a:t>Statistical Intelligence Report</a:t>
            </a:r>
            <a:endParaRPr lang="en-US" sz="3000" dirty="0"/>
          </a:p>
        </p:txBody>
      </p:sp>
      <p:sp>
        <p:nvSpPr>
          <p:cNvPr id="9" name="Text 6"/>
          <p:cNvSpPr/>
          <p:nvPr/>
        </p:nvSpPr>
        <p:spPr>
          <a:xfrm>
            <a:off x="594360" y="3566160"/>
            <a:ext cx="5943600" cy="320040"/>
          </a:xfrm>
          <a:prstGeom prst="rect">
            <a:avLst/>
          </a:prstGeom>
          <a:noFill/>
          <a:ln/>
        </p:spPr>
        <p:txBody>
          <a:bodyPr wrap="square" lIns="0" tIns="0" rIns="0" bIns="0" rtlCol="0" anchor="ctr"/>
          <a:lstStyle/>
          <a:p>
            <a:pPr indent="0" marL="0">
              <a:buNone/>
            </a:pPr>
            <a:r>
              <a:rPr lang="en-US" sz="1600" dirty="0">
                <a:solidFill>
                  <a:srgbClr val="DDE9E4"/>
                </a:solidFill>
              </a:rPr>
              <a:t>Tanzania | Health Systems</a:t>
            </a:r>
            <a:endParaRPr lang="en-US" sz="1600" dirty="0"/>
          </a:p>
        </p:txBody>
      </p:sp>
      <p:sp>
        <p:nvSpPr>
          <p:cNvPr id="10" name="Text 7"/>
          <p:cNvSpPr/>
          <p:nvPr/>
        </p:nvSpPr>
        <p:spPr>
          <a:xfrm>
            <a:off x="594360" y="4526280"/>
            <a:ext cx="6035040" cy="640080"/>
          </a:xfrm>
          <a:prstGeom prst="rect">
            <a:avLst/>
          </a:prstGeom>
          <a:noFill/>
          <a:ln/>
        </p:spPr>
        <p:txBody>
          <a:bodyPr wrap="square" lIns="0" tIns="0" rIns="0" bIns="0" rtlCol="0" anchor="ctr"/>
          <a:lstStyle/>
          <a:p>
            <a:pPr indent="0" marL="0">
              <a:buNone/>
            </a:pPr>
            <a:r>
              <a:rPr lang="en-US" sz="1100" dirty="0">
                <a:solidFill>
                  <a:srgbClr val="FFFFFF"/>
                </a:solidFill>
              </a:rPr>
              <a:t>Prepared by VoiceInsights Africa</a:t>
            </a:r>
            <a:endParaRPr lang="en-US" sz="1100" dirty="0"/>
          </a:p>
          <a:p>
            <a:pPr indent="0" marL="0">
              <a:buNone/>
            </a:pPr>
            <a:r>
              <a:rPr lang="en-US" sz="1100" dirty="0">
                <a:solidFill>
                  <a:srgbClr val="FFFFFF"/>
                </a:solidFill>
              </a:rPr>
              <a:t>Every Voice. Every Language. Every Insight.</a:t>
            </a:r>
            <a:endParaRPr lang="en-US" sz="1100" dirty="0"/>
          </a:p>
        </p:txBody>
      </p:sp>
      <p:sp>
        <p:nvSpPr>
          <p:cNvPr id="11" name="Text 8"/>
          <p:cNvSpPr/>
          <p:nvPr/>
        </p:nvSpPr>
        <p:spPr>
          <a:xfrm>
            <a:off x="9555480" y="5394960"/>
            <a:ext cx="2194560" cy="640080"/>
          </a:xfrm>
          <a:prstGeom prst="rect">
            <a:avLst/>
          </a:prstGeom>
          <a:noFill/>
          <a:ln/>
        </p:spPr>
        <p:txBody>
          <a:bodyPr wrap="square" lIns="0" tIns="0" rIns="0" bIns="0" rtlCol="0" anchor="ctr"/>
          <a:lstStyle/>
          <a:p>
            <a:pPr algn="ctr" indent="0" marL="0">
              <a:buNone/>
            </a:pPr>
            <a:r>
              <a:rPr lang="en-US" sz="1100" b="1" dirty="0">
                <a:solidFill>
                  <a:srgbClr val="FFFFFF"/>
                </a:solidFill>
              </a:rPr>
              <a:t>SYNTHETIC DATA</a:t>
            </a:r>
            <a:endParaRPr lang="en-US" sz="1100" dirty="0"/>
          </a:p>
          <a:p>
            <a:pPr algn="ctr" indent="0" marL="0">
              <a:buNone/>
            </a:pPr>
            <a:r>
              <a:rPr lang="en-US" sz="1100" b="1" dirty="0">
                <a:solidFill>
                  <a:srgbClr val="FFFFFF"/>
                </a:solidFill>
              </a:rPr>
              <a:t>Not official statistics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EXECUTIVE BRIEF</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The decision in five minutes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02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This flagship synthetic demonstration publication examines health systems performance in Tanzania. The governed evidence model identifies uneven progress, concentrated risks and actionable opportunities. Findings are linked to synthetic source records, recommendations carry named accountability fields, and all statistical claims are generated from one internally consistent dataset.</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Publish weighted effective-coverage estimates for health systems.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Improvement is achievable within 12–18 months if ownership, resourcing and evidence review are maintained.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PERFORMANCE AND CONFIDENCE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Executive dashboard</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03 | Synthetic Demonstration Publication</a:t>
            </a:r>
            <a:endParaRPr lang="en-US" sz="700" dirty="0"/>
          </a:p>
        </p:txBody>
      </p:sp>
      <p:sp>
        <p:nvSpPr>
          <p:cNvPr id="8" name="Shape 5"/>
          <p:cNvSpPr/>
          <p:nvPr/>
        </p:nvSpPr>
        <p:spPr>
          <a:xfrm>
            <a:off x="548640" y="1874520"/>
            <a:ext cx="2514600" cy="1280160"/>
          </a:xfrm>
          <a:prstGeom prst="roundRect">
            <a:avLst>
              <a:gd name="adj" fmla="val 5714"/>
            </a:avLst>
          </a:prstGeom>
          <a:solidFill>
            <a:srgbClr val="FFFFFF"/>
          </a:solidFill>
          <a:ln w="12700">
            <a:solidFill>
              <a:srgbClr val="D8E5DF"/>
            </a:solidFill>
            <a:prstDash val="solid"/>
          </a:ln>
        </p:spPr>
      </p:sp>
      <p:sp>
        <p:nvSpPr>
          <p:cNvPr id="9" name="Text 6"/>
          <p:cNvSpPr/>
          <p:nvPr/>
        </p:nvSpPr>
        <p:spPr>
          <a:xfrm>
            <a:off x="713232" y="2121408"/>
            <a:ext cx="2148840" cy="411480"/>
          </a:xfrm>
          <a:prstGeom prst="rect">
            <a:avLst/>
          </a:prstGeom>
          <a:noFill/>
          <a:ln/>
        </p:spPr>
        <p:txBody>
          <a:bodyPr wrap="square" lIns="0" tIns="0" rIns="0" bIns="0" rtlCol="0" anchor="ctr"/>
          <a:lstStyle/>
          <a:p>
            <a:pPr indent="0" marL="0">
              <a:buNone/>
            </a:pPr>
            <a:r>
              <a:rPr lang="en-US" sz="2500" b="1" dirty="0">
                <a:solidFill>
                  <a:srgbClr val="243B53"/>
                </a:solidFill>
              </a:rPr>
              <a:t>4532</a:t>
            </a:r>
            <a:endParaRPr lang="en-US" sz="2500" dirty="0"/>
          </a:p>
        </p:txBody>
      </p:sp>
      <p:sp>
        <p:nvSpPr>
          <p:cNvPr id="10" name="Text 7"/>
          <p:cNvSpPr/>
          <p:nvPr/>
        </p:nvSpPr>
        <p:spPr>
          <a:xfrm>
            <a:off x="71323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Synthetic responses</a:t>
            </a:r>
            <a:endParaRPr lang="en-US" sz="1000" dirty="0"/>
          </a:p>
        </p:txBody>
      </p:sp>
      <p:sp>
        <p:nvSpPr>
          <p:cNvPr id="11" name="Shape 8"/>
          <p:cNvSpPr/>
          <p:nvPr/>
        </p:nvSpPr>
        <p:spPr>
          <a:xfrm>
            <a:off x="3337560" y="1874520"/>
            <a:ext cx="2514600" cy="1280160"/>
          </a:xfrm>
          <a:prstGeom prst="roundRect">
            <a:avLst>
              <a:gd name="adj" fmla="val 5714"/>
            </a:avLst>
          </a:prstGeom>
          <a:solidFill>
            <a:srgbClr val="FFFFFF"/>
          </a:solidFill>
          <a:ln w="12700">
            <a:solidFill>
              <a:srgbClr val="D8E5DF"/>
            </a:solidFill>
            <a:prstDash val="solid"/>
          </a:ln>
        </p:spPr>
      </p:sp>
      <p:sp>
        <p:nvSpPr>
          <p:cNvPr id="12" name="Text 9"/>
          <p:cNvSpPr/>
          <p:nvPr/>
        </p:nvSpPr>
        <p:spPr>
          <a:xfrm>
            <a:off x="3502152" y="2121408"/>
            <a:ext cx="2148840" cy="411480"/>
          </a:xfrm>
          <a:prstGeom prst="rect">
            <a:avLst/>
          </a:prstGeom>
          <a:noFill/>
          <a:ln/>
        </p:spPr>
        <p:txBody>
          <a:bodyPr wrap="square" lIns="0" tIns="0" rIns="0" bIns="0" rtlCol="0" anchor="ctr"/>
          <a:lstStyle/>
          <a:p>
            <a:pPr indent="0" marL="0">
              <a:buNone/>
            </a:pPr>
            <a:r>
              <a:rPr lang="en-US" sz="2500" b="1" dirty="0">
                <a:solidFill>
                  <a:srgbClr val="243B53"/>
                </a:solidFill>
              </a:rPr>
              <a:t>90%</a:t>
            </a:r>
            <a:endParaRPr lang="en-US" sz="2500" dirty="0"/>
          </a:p>
        </p:txBody>
      </p:sp>
      <p:sp>
        <p:nvSpPr>
          <p:cNvPr id="13" name="Text 10"/>
          <p:cNvSpPr/>
          <p:nvPr/>
        </p:nvSpPr>
        <p:spPr>
          <a:xfrm>
            <a:off x="350215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Response rate</a:t>
            </a:r>
            <a:endParaRPr lang="en-US" sz="1000" dirty="0"/>
          </a:p>
        </p:txBody>
      </p:sp>
      <p:sp>
        <p:nvSpPr>
          <p:cNvPr id="14" name="Shape 11"/>
          <p:cNvSpPr/>
          <p:nvPr/>
        </p:nvSpPr>
        <p:spPr>
          <a:xfrm>
            <a:off x="6126480" y="1874520"/>
            <a:ext cx="2514600" cy="1280160"/>
          </a:xfrm>
          <a:prstGeom prst="roundRect">
            <a:avLst>
              <a:gd name="adj" fmla="val 5714"/>
            </a:avLst>
          </a:prstGeom>
          <a:solidFill>
            <a:srgbClr val="FFFFFF"/>
          </a:solidFill>
          <a:ln w="12700">
            <a:solidFill>
              <a:srgbClr val="D8E5DF"/>
            </a:solidFill>
            <a:prstDash val="solid"/>
          </a:ln>
        </p:spPr>
      </p:sp>
      <p:sp>
        <p:nvSpPr>
          <p:cNvPr id="15" name="Text 12"/>
          <p:cNvSpPr/>
          <p:nvPr/>
        </p:nvSpPr>
        <p:spPr>
          <a:xfrm>
            <a:off x="6291072" y="2121408"/>
            <a:ext cx="2148840" cy="411480"/>
          </a:xfrm>
          <a:prstGeom prst="rect">
            <a:avLst/>
          </a:prstGeom>
          <a:noFill/>
          <a:ln/>
        </p:spPr>
        <p:txBody>
          <a:bodyPr wrap="square" lIns="0" tIns="0" rIns="0" bIns="0" rtlCol="0" anchor="ctr"/>
          <a:lstStyle/>
          <a:p>
            <a:pPr indent="0" marL="0">
              <a:buNone/>
            </a:pPr>
            <a:r>
              <a:rPr lang="en-US" sz="2500" b="1" dirty="0">
                <a:solidFill>
                  <a:srgbClr val="243B53"/>
                </a:solidFill>
              </a:rPr>
              <a:t>4</a:t>
            </a:r>
            <a:endParaRPr lang="en-US" sz="2500" dirty="0"/>
          </a:p>
        </p:txBody>
      </p:sp>
      <p:sp>
        <p:nvSpPr>
          <p:cNvPr id="16" name="Text 13"/>
          <p:cNvSpPr/>
          <p:nvPr/>
        </p:nvSpPr>
        <p:spPr>
          <a:xfrm>
            <a:off x="629107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Regions</a:t>
            </a:r>
            <a:endParaRPr lang="en-US" sz="1000" dirty="0"/>
          </a:p>
        </p:txBody>
      </p:sp>
      <p:sp>
        <p:nvSpPr>
          <p:cNvPr id="17" name="Shape 14"/>
          <p:cNvSpPr/>
          <p:nvPr/>
        </p:nvSpPr>
        <p:spPr>
          <a:xfrm>
            <a:off x="8915400" y="1874520"/>
            <a:ext cx="2514600" cy="1280160"/>
          </a:xfrm>
          <a:prstGeom prst="roundRect">
            <a:avLst>
              <a:gd name="adj" fmla="val 5714"/>
            </a:avLst>
          </a:prstGeom>
          <a:solidFill>
            <a:srgbClr val="FFFFFF"/>
          </a:solidFill>
          <a:ln w="12700">
            <a:solidFill>
              <a:srgbClr val="D8E5DF"/>
            </a:solidFill>
            <a:prstDash val="solid"/>
          </a:ln>
        </p:spPr>
      </p:sp>
      <p:sp>
        <p:nvSpPr>
          <p:cNvPr id="18" name="Text 15"/>
          <p:cNvSpPr/>
          <p:nvPr/>
        </p:nvSpPr>
        <p:spPr>
          <a:xfrm>
            <a:off x="9079992" y="2121408"/>
            <a:ext cx="2148840" cy="411480"/>
          </a:xfrm>
          <a:prstGeom prst="rect">
            <a:avLst/>
          </a:prstGeom>
          <a:noFill/>
          <a:ln/>
        </p:spPr>
        <p:txBody>
          <a:bodyPr wrap="square" lIns="0" tIns="0" rIns="0" bIns="0" rtlCol="0" anchor="ctr"/>
          <a:lstStyle/>
          <a:p>
            <a:pPr indent="0" marL="0">
              <a:buNone/>
            </a:pPr>
            <a:r>
              <a:rPr lang="en-US" sz="2500" b="1" dirty="0">
                <a:solidFill>
                  <a:srgbClr val="243B53"/>
                </a:solidFill>
              </a:rPr>
              <a:t>82/100</a:t>
            </a:r>
            <a:endParaRPr lang="en-US" sz="2500" dirty="0"/>
          </a:p>
        </p:txBody>
      </p:sp>
      <p:sp>
        <p:nvSpPr>
          <p:cNvPr id="19" name="Text 16"/>
          <p:cNvSpPr/>
          <p:nvPr/>
        </p:nvSpPr>
        <p:spPr>
          <a:xfrm>
            <a:off x="907999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Demonstration readiness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CRITICAL FINDINGS</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Three findings require leadership attention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04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Across Tanzania's synthetic study areas, effective coverage is the clearest differentiator of health systems performance. The evidence is strongest in Eastern Zone, where rural women face the largest gap. If the pattern remains unaddressed for twelve months, it is likely to weaken equity, delivery confidence and the durability of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Across Tanzania's synthetic study areas, facility readiness is the clearest differentiator of health systems performance. The evidence is strongest in Lake Zone, where young adults face the largest gap. If the pattern remains unaddressed for twelve months, it is likely to weaken equity, delivery confidence and the durability of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Across Tanzania's synthetic study areas, wealth-related inequity is the clearest differentiator of health systems performance. The evidence is strongest in Northern Zone, where persons with disabilities face the largest gap. If the pattern remains unaddressed for twelve months, it is likely to weaken equity, delivery confidence and the durability of outcomes.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REGIONAL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Outcomes vary materially by region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05 | Synthetic Demonstration Publication</a:t>
            </a:r>
            <a:endParaRPr lang="en-US" sz="700" dirty="0"/>
          </a:p>
        </p:txBody>
      </p:sp>
      <p:sp>
        <p:nvSpPr>
          <p:cNvPr id="8" name="Text 5"/>
          <p:cNvSpPr/>
          <p:nvPr/>
        </p:nvSpPr>
        <p:spPr>
          <a:xfrm>
            <a:off x="548640" y="1783080"/>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Eastern Zone</a:t>
            </a:r>
            <a:endParaRPr lang="en-US" sz="1100" dirty="0"/>
          </a:p>
        </p:txBody>
      </p:sp>
      <p:sp>
        <p:nvSpPr>
          <p:cNvPr id="9" name="Shape 6"/>
          <p:cNvSpPr/>
          <p:nvPr/>
        </p:nvSpPr>
        <p:spPr>
          <a:xfrm>
            <a:off x="3383280" y="1801368"/>
            <a:ext cx="6035040" cy="201168"/>
          </a:xfrm>
          <a:prstGeom prst="roundRect">
            <a:avLst>
              <a:gd name="adj" fmla="val 13636"/>
            </a:avLst>
          </a:prstGeom>
          <a:solidFill>
            <a:srgbClr val="DDE8E3"/>
          </a:solidFill>
          <a:ln w="12700">
            <a:solidFill>
              <a:srgbClr val="DDE8E3"/>
            </a:solidFill>
            <a:prstDash val="solid"/>
          </a:ln>
        </p:spPr>
      </p:sp>
      <p:sp>
        <p:nvSpPr>
          <p:cNvPr id="10" name="Shape 7"/>
          <p:cNvSpPr/>
          <p:nvPr/>
        </p:nvSpPr>
        <p:spPr>
          <a:xfrm>
            <a:off x="3383280" y="1801368"/>
            <a:ext cx="4707331" cy="201168"/>
          </a:xfrm>
          <a:prstGeom prst="roundRect">
            <a:avLst>
              <a:gd name="adj" fmla="val 13636"/>
            </a:avLst>
          </a:prstGeom>
          <a:solidFill>
            <a:srgbClr val="07883F"/>
          </a:solidFill>
          <a:ln w="12700">
            <a:solidFill>
              <a:srgbClr val="07883F"/>
            </a:solidFill>
            <a:prstDash val="solid"/>
          </a:ln>
        </p:spPr>
      </p:sp>
      <p:sp>
        <p:nvSpPr>
          <p:cNvPr id="11" name="Text 8"/>
          <p:cNvSpPr/>
          <p:nvPr/>
        </p:nvSpPr>
        <p:spPr>
          <a:xfrm>
            <a:off x="9601200" y="1783080"/>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78%</a:t>
            </a:r>
            <a:endParaRPr lang="en-US" sz="1000" dirty="0"/>
          </a:p>
        </p:txBody>
      </p:sp>
      <p:sp>
        <p:nvSpPr>
          <p:cNvPr id="12" name="Text 9"/>
          <p:cNvSpPr/>
          <p:nvPr/>
        </p:nvSpPr>
        <p:spPr>
          <a:xfrm>
            <a:off x="548640" y="2404872"/>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Lake Zone</a:t>
            </a:r>
            <a:endParaRPr lang="en-US" sz="1100" dirty="0"/>
          </a:p>
        </p:txBody>
      </p:sp>
      <p:sp>
        <p:nvSpPr>
          <p:cNvPr id="13" name="Shape 10"/>
          <p:cNvSpPr/>
          <p:nvPr/>
        </p:nvSpPr>
        <p:spPr>
          <a:xfrm>
            <a:off x="3383280" y="2423160"/>
            <a:ext cx="6035040" cy="201168"/>
          </a:xfrm>
          <a:prstGeom prst="roundRect">
            <a:avLst>
              <a:gd name="adj" fmla="val 13636"/>
            </a:avLst>
          </a:prstGeom>
          <a:solidFill>
            <a:srgbClr val="DDE8E3"/>
          </a:solidFill>
          <a:ln w="12700">
            <a:solidFill>
              <a:srgbClr val="DDE8E3"/>
            </a:solidFill>
            <a:prstDash val="solid"/>
          </a:ln>
        </p:spPr>
      </p:sp>
      <p:sp>
        <p:nvSpPr>
          <p:cNvPr id="14" name="Shape 11"/>
          <p:cNvSpPr/>
          <p:nvPr/>
        </p:nvSpPr>
        <p:spPr>
          <a:xfrm>
            <a:off x="3383280" y="2423160"/>
            <a:ext cx="4767682" cy="201168"/>
          </a:xfrm>
          <a:prstGeom prst="roundRect">
            <a:avLst>
              <a:gd name="adj" fmla="val 13636"/>
            </a:avLst>
          </a:prstGeom>
          <a:solidFill>
            <a:srgbClr val="2BB0A6"/>
          </a:solidFill>
          <a:ln w="12700">
            <a:solidFill>
              <a:srgbClr val="2BB0A6"/>
            </a:solidFill>
            <a:prstDash val="solid"/>
          </a:ln>
        </p:spPr>
      </p:sp>
      <p:sp>
        <p:nvSpPr>
          <p:cNvPr id="15" name="Text 12"/>
          <p:cNvSpPr/>
          <p:nvPr/>
        </p:nvSpPr>
        <p:spPr>
          <a:xfrm>
            <a:off x="9601200" y="2404872"/>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79%</a:t>
            </a:r>
            <a:endParaRPr lang="en-US" sz="1000" dirty="0"/>
          </a:p>
        </p:txBody>
      </p:sp>
      <p:sp>
        <p:nvSpPr>
          <p:cNvPr id="16" name="Text 13"/>
          <p:cNvSpPr/>
          <p:nvPr/>
        </p:nvSpPr>
        <p:spPr>
          <a:xfrm>
            <a:off x="548640" y="3026664"/>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Northern Zone</a:t>
            </a:r>
            <a:endParaRPr lang="en-US" sz="1100" dirty="0"/>
          </a:p>
        </p:txBody>
      </p:sp>
      <p:sp>
        <p:nvSpPr>
          <p:cNvPr id="17" name="Shape 14"/>
          <p:cNvSpPr/>
          <p:nvPr/>
        </p:nvSpPr>
        <p:spPr>
          <a:xfrm>
            <a:off x="3383280" y="3044952"/>
            <a:ext cx="6035040" cy="201168"/>
          </a:xfrm>
          <a:prstGeom prst="roundRect">
            <a:avLst>
              <a:gd name="adj" fmla="val 13636"/>
            </a:avLst>
          </a:prstGeom>
          <a:solidFill>
            <a:srgbClr val="DDE8E3"/>
          </a:solidFill>
          <a:ln w="12700">
            <a:solidFill>
              <a:srgbClr val="DDE8E3"/>
            </a:solidFill>
            <a:prstDash val="solid"/>
          </a:ln>
        </p:spPr>
      </p:sp>
      <p:sp>
        <p:nvSpPr>
          <p:cNvPr id="18" name="Shape 15"/>
          <p:cNvSpPr/>
          <p:nvPr/>
        </p:nvSpPr>
        <p:spPr>
          <a:xfrm>
            <a:off x="3383280" y="3044952"/>
            <a:ext cx="4828032" cy="201168"/>
          </a:xfrm>
          <a:prstGeom prst="roundRect">
            <a:avLst>
              <a:gd name="adj" fmla="val 13636"/>
            </a:avLst>
          </a:prstGeom>
          <a:solidFill>
            <a:srgbClr val="07883F"/>
          </a:solidFill>
          <a:ln w="12700">
            <a:solidFill>
              <a:srgbClr val="07883F"/>
            </a:solidFill>
            <a:prstDash val="solid"/>
          </a:ln>
        </p:spPr>
      </p:sp>
      <p:sp>
        <p:nvSpPr>
          <p:cNvPr id="19" name="Text 16"/>
          <p:cNvSpPr/>
          <p:nvPr/>
        </p:nvSpPr>
        <p:spPr>
          <a:xfrm>
            <a:off x="9601200" y="3026664"/>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80%</a:t>
            </a:r>
            <a:endParaRPr lang="en-US" sz="1000" dirty="0"/>
          </a:p>
        </p:txBody>
      </p:sp>
      <p:sp>
        <p:nvSpPr>
          <p:cNvPr id="20" name="Text 17"/>
          <p:cNvSpPr/>
          <p:nvPr/>
        </p:nvSpPr>
        <p:spPr>
          <a:xfrm>
            <a:off x="548640" y="3648456"/>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Southern Highlands</a:t>
            </a:r>
            <a:endParaRPr lang="en-US" sz="1100" dirty="0"/>
          </a:p>
        </p:txBody>
      </p:sp>
      <p:sp>
        <p:nvSpPr>
          <p:cNvPr id="21" name="Shape 18"/>
          <p:cNvSpPr/>
          <p:nvPr/>
        </p:nvSpPr>
        <p:spPr>
          <a:xfrm>
            <a:off x="3383280" y="3666744"/>
            <a:ext cx="6035040" cy="201168"/>
          </a:xfrm>
          <a:prstGeom prst="roundRect">
            <a:avLst>
              <a:gd name="adj" fmla="val 13636"/>
            </a:avLst>
          </a:prstGeom>
          <a:solidFill>
            <a:srgbClr val="DDE8E3"/>
          </a:solidFill>
          <a:ln w="12700">
            <a:solidFill>
              <a:srgbClr val="DDE8E3"/>
            </a:solidFill>
            <a:prstDash val="solid"/>
          </a:ln>
        </p:spPr>
      </p:sp>
      <p:sp>
        <p:nvSpPr>
          <p:cNvPr id="22" name="Shape 19"/>
          <p:cNvSpPr/>
          <p:nvPr/>
        </p:nvSpPr>
        <p:spPr>
          <a:xfrm>
            <a:off x="3383280" y="3666744"/>
            <a:ext cx="4888382" cy="201168"/>
          </a:xfrm>
          <a:prstGeom prst="roundRect">
            <a:avLst>
              <a:gd name="adj" fmla="val 13636"/>
            </a:avLst>
          </a:prstGeom>
          <a:solidFill>
            <a:srgbClr val="2BB0A6"/>
          </a:solidFill>
          <a:ln w="12700">
            <a:solidFill>
              <a:srgbClr val="2BB0A6"/>
            </a:solidFill>
            <a:prstDash val="solid"/>
          </a:ln>
        </p:spPr>
      </p:sp>
      <p:sp>
        <p:nvSpPr>
          <p:cNvPr id="23" name="Text 20"/>
          <p:cNvSpPr/>
          <p:nvPr/>
        </p:nvSpPr>
        <p:spPr>
          <a:xfrm>
            <a:off x="9601200" y="3648456"/>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81%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INDICATOR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Target gaps reveal where delivery is slipping</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06 | Synthetic Demonstration Publication</a:t>
            </a:r>
            <a:endParaRPr lang="en-US" sz="700" dirty="0"/>
          </a:p>
        </p:txBody>
      </p:sp>
      <p:sp>
        <p:nvSpPr>
          <p:cNvPr id="8" name="Text 5"/>
          <p:cNvSpPr/>
          <p:nvPr/>
        </p:nvSpPr>
        <p:spPr>
          <a:xfrm>
            <a:off x="548640" y="1783080"/>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Effective coverage</a:t>
            </a:r>
            <a:endParaRPr lang="en-US" sz="1100" dirty="0"/>
          </a:p>
        </p:txBody>
      </p:sp>
      <p:sp>
        <p:nvSpPr>
          <p:cNvPr id="9" name="Shape 6"/>
          <p:cNvSpPr/>
          <p:nvPr/>
        </p:nvSpPr>
        <p:spPr>
          <a:xfrm>
            <a:off x="3383280" y="1801368"/>
            <a:ext cx="6035040" cy="201168"/>
          </a:xfrm>
          <a:prstGeom prst="roundRect">
            <a:avLst>
              <a:gd name="adj" fmla="val 13636"/>
            </a:avLst>
          </a:prstGeom>
          <a:solidFill>
            <a:srgbClr val="DDE8E3"/>
          </a:solidFill>
          <a:ln w="12700">
            <a:solidFill>
              <a:srgbClr val="DDE8E3"/>
            </a:solidFill>
            <a:prstDash val="solid"/>
          </a:ln>
        </p:spPr>
      </p:sp>
      <p:sp>
        <p:nvSpPr>
          <p:cNvPr id="10" name="Shape 7"/>
          <p:cNvSpPr/>
          <p:nvPr/>
        </p:nvSpPr>
        <p:spPr>
          <a:xfrm>
            <a:off x="3383280" y="1801368"/>
            <a:ext cx="4345229" cy="201168"/>
          </a:xfrm>
          <a:prstGeom prst="roundRect">
            <a:avLst>
              <a:gd name="adj" fmla="val 13636"/>
            </a:avLst>
          </a:prstGeom>
          <a:solidFill>
            <a:srgbClr val="07883F"/>
          </a:solidFill>
          <a:ln w="12700">
            <a:solidFill>
              <a:srgbClr val="07883F"/>
            </a:solidFill>
            <a:prstDash val="solid"/>
          </a:ln>
        </p:spPr>
      </p:sp>
      <p:sp>
        <p:nvSpPr>
          <p:cNvPr id="11" name="Shape 8"/>
          <p:cNvSpPr/>
          <p:nvPr/>
        </p:nvSpPr>
        <p:spPr>
          <a:xfrm>
            <a:off x="8150962" y="1737360"/>
            <a:ext cx="0" cy="347472"/>
          </a:xfrm>
          <a:prstGeom prst="line">
            <a:avLst/>
          </a:prstGeom>
          <a:noFill/>
          <a:ln w="19050">
            <a:solidFill>
              <a:srgbClr val="243B53"/>
            </a:solidFill>
            <a:prstDash val="solid"/>
          </a:ln>
        </p:spPr>
      </p:sp>
      <p:sp>
        <p:nvSpPr>
          <p:cNvPr id="12" name="Text 9"/>
          <p:cNvSpPr/>
          <p:nvPr/>
        </p:nvSpPr>
        <p:spPr>
          <a:xfrm>
            <a:off x="9601200" y="1783080"/>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72% / target 79%</a:t>
            </a:r>
            <a:endParaRPr lang="en-US" sz="1000" dirty="0"/>
          </a:p>
        </p:txBody>
      </p:sp>
      <p:sp>
        <p:nvSpPr>
          <p:cNvPr id="13" name="Text 10"/>
          <p:cNvSpPr/>
          <p:nvPr/>
        </p:nvSpPr>
        <p:spPr>
          <a:xfrm>
            <a:off x="548640" y="2404872"/>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Facility readiness index</a:t>
            </a:r>
            <a:endParaRPr lang="en-US" sz="1100" dirty="0"/>
          </a:p>
        </p:txBody>
      </p:sp>
      <p:sp>
        <p:nvSpPr>
          <p:cNvPr id="14" name="Shape 11"/>
          <p:cNvSpPr/>
          <p:nvPr/>
        </p:nvSpPr>
        <p:spPr>
          <a:xfrm>
            <a:off x="3383280" y="2423160"/>
            <a:ext cx="6035040" cy="201168"/>
          </a:xfrm>
          <a:prstGeom prst="roundRect">
            <a:avLst>
              <a:gd name="adj" fmla="val 13636"/>
            </a:avLst>
          </a:prstGeom>
          <a:solidFill>
            <a:srgbClr val="DDE8E3"/>
          </a:solidFill>
          <a:ln w="12700">
            <a:solidFill>
              <a:srgbClr val="DDE8E3"/>
            </a:solidFill>
            <a:prstDash val="solid"/>
          </a:ln>
        </p:spPr>
      </p:sp>
      <p:sp>
        <p:nvSpPr>
          <p:cNvPr id="15" name="Shape 12"/>
          <p:cNvSpPr/>
          <p:nvPr/>
        </p:nvSpPr>
        <p:spPr>
          <a:xfrm>
            <a:off x="3383280" y="2423160"/>
            <a:ext cx="4405579" cy="201168"/>
          </a:xfrm>
          <a:prstGeom prst="roundRect">
            <a:avLst>
              <a:gd name="adj" fmla="val 13636"/>
            </a:avLst>
          </a:prstGeom>
          <a:solidFill>
            <a:srgbClr val="2BB0A6"/>
          </a:solidFill>
          <a:ln w="12700">
            <a:solidFill>
              <a:srgbClr val="2BB0A6"/>
            </a:solidFill>
            <a:prstDash val="solid"/>
          </a:ln>
        </p:spPr>
      </p:sp>
      <p:sp>
        <p:nvSpPr>
          <p:cNvPr id="16" name="Shape 13"/>
          <p:cNvSpPr/>
          <p:nvPr/>
        </p:nvSpPr>
        <p:spPr>
          <a:xfrm>
            <a:off x="8211312" y="2359152"/>
            <a:ext cx="0" cy="347472"/>
          </a:xfrm>
          <a:prstGeom prst="line">
            <a:avLst/>
          </a:prstGeom>
          <a:noFill/>
          <a:ln w="19050">
            <a:solidFill>
              <a:srgbClr val="243B53"/>
            </a:solidFill>
            <a:prstDash val="solid"/>
          </a:ln>
        </p:spPr>
      </p:sp>
      <p:sp>
        <p:nvSpPr>
          <p:cNvPr id="17" name="Text 14"/>
          <p:cNvSpPr/>
          <p:nvPr/>
        </p:nvSpPr>
        <p:spPr>
          <a:xfrm>
            <a:off x="9601200" y="2404872"/>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73% / target 80%</a:t>
            </a:r>
            <a:endParaRPr lang="en-US" sz="1000" dirty="0"/>
          </a:p>
        </p:txBody>
      </p:sp>
      <p:sp>
        <p:nvSpPr>
          <p:cNvPr id="18" name="Text 15"/>
          <p:cNvSpPr/>
          <p:nvPr/>
        </p:nvSpPr>
        <p:spPr>
          <a:xfrm>
            <a:off x="548640" y="3026664"/>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Concentration index</a:t>
            </a:r>
            <a:endParaRPr lang="en-US" sz="1100" dirty="0"/>
          </a:p>
        </p:txBody>
      </p:sp>
      <p:sp>
        <p:nvSpPr>
          <p:cNvPr id="19" name="Shape 16"/>
          <p:cNvSpPr/>
          <p:nvPr/>
        </p:nvSpPr>
        <p:spPr>
          <a:xfrm>
            <a:off x="3383280" y="3044952"/>
            <a:ext cx="6035040" cy="201168"/>
          </a:xfrm>
          <a:prstGeom prst="roundRect">
            <a:avLst>
              <a:gd name="adj" fmla="val 13636"/>
            </a:avLst>
          </a:prstGeom>
          <a:solidFill>
            <a:srgbClr val="DDE8E3"/>
          </a:solidFill>
          <a:ln w="12700">
            <a:solidFill>
              <a:srgbClr val="DDE8E3"/>
            </a:solidFill>
            <a:prstDash val="solid"/>
          </a:ln>
        </p:spPr>
      </p:sp>
      <p:sp>
        <p:nvSpPr>
          <p:cNvPr id="20" name="Shape 17"/>
          <p:cNvSpPr/>
          <p:nvPr/>
        </p:nvSpPr>
        <p:spPr>
          <a:xfrm>
            <a:off x="3383280" y="3044952"/>
            <a:ext cx="4465930" cy="201168"/>
          </a:xfrm>
          <a:prstGeom prst="roundRect">
            <a:avLst>
              <a:gd name="adj" fmla="val 13636"/>
            </a:avLst>
          </a:prstGeom>
          <a:solidFill>
            <a:srgbClr val="07883F"/>
          </a:solidFill>
          <a:ln w="12700">
            <a:solidFill>
              <a:srgbClr val="07883F"/>
            </a:solidFill>
            <a:prstDash val="solid"/>
          </a:ln>
        </p:spPr>
      </p:sp>
      <p:sp>
        <p:nvSpPr>
          <p:cNvPr id="21" name="Shape 18"/>
          <p:cNvSpPr/>
          <p:nvPr/>
        </p:nvSpPr>
        <p:spPr>
          <a:xfrm>
            <a:off x="8271662" y="2980944"/>
            <a:ext cx="0" cy="347472"/>
          </a:xfrm>
          <a:prstGeom prst="line">
            <a:avLst/>
          </a:prstGeom>
          <a:noFill/>
          <a:ln w="19050">
            <a:solidFill>
              <a:srgbClr val="243B53"/>
            </a:solidFill>
            <a:prstDash val="solid"/>
          </a:ln>
        </p:spPr>
      </p:sp>
      <p:sp>
        <p:nvSpPr>
          <p:cNvPr id="22" name="Text 19"/>
          <p:cNvSpPr/>
          <p:nvPr/>
        </p:nvSpPr>
        <p:spPr>
          <a:xfrm>
            <a:off x="9601200" y="3026664"/>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74% / target 81%</a:t>
            </a:r>
            <a:endParaRPr lang="en-US" sz="1000" dirty="0"/>
          </a:p>
        </p:txBody>
      </p:sp>
      <p:sp>
        <p:nvSpPr>
          <p:cNvPr id="23" name="Text 20"/>
          <p:cNvSpPr/>
          <p:nvPr/>
        </p:nvSpPr>
        <p:spPr>
          <a:xfrm>
            <a:off x="548640" y="3648456"/>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Calibration error</a:t>
            </a:r>
            <a:endParaRPr lang="en-US" sz="1100" dirty="0"/>
          </a:p>
        </p:txBody>
      </p:sp>
      <p:sp>
        <p:nvSpPr>
          <p:cNvPr id="24" name="Shape 21"/>
          <p:cNvSpPr/>
          <p:nvPr/>
        </p:nvSpPr>
        <p:spPr>
          <a:xfrm>
            <a:off x="3383280" y="3666744"/>
            <a:ext cx="6035040" cy="201168"/>
          </a:xfrm>
          <a:prstGeom prst="roundRect">
            <a:avLst>
              <a:gd name="adj" fmla="val 13636"/>
            </a:avLst>
          </a:prstGeom>
          <a:solidFill>
            <a:srgbClr val="DDE8E3"/>
          </a:solidFill>
          <a:ln w="12700">
            <a:solidFill>
              <a:srgbClr val="DDE8E3"/>
            </a:solidFill>
            <a:prstDash val="solid"/>
          </a:ln>
        </p:spPr>
      </p:sp>
      <p:sp>
        <p:nvSpPr>
          <p:cNvPr id="25" name="Shape 22"/>
          <p:cNvSpPr/>
          <p:nvPr/>
        </p:nvSpPr>
        <p:spPr>
          <a:xfrm>
            <a:off x="3383280" y="3666744"/>
            <a:ext cx="4526280" cy="201168"/>
          </a:xfrm>
          <a:prstGeom prst="roundRect">
            <a:avLst>
              <a:gd name="adj" fmla="val 13636"/>
            </a:avLst>
          </a:prstGeom>
          <a:solidFill>
            <a:srgbClr val="2BB0A6"/>
          </a:solidFill>
          <a:ln w="12700">
            <a:solidFill>
              <a:srgbClr val="2BB0A6"/>
            </a:solidFill>
            <a:prstDash val="solid"/>
          </a:ln>
        </p:spPr>
      </p:sp>
      <p:sp>
        <p:nvSpPr>
          <p:cNvPr id="26" name="Shape 23"/>
          <p:cNvSpPr/>
          <p:nvPr/>
        </p:nvSpPr>
        <p:spPr>
          <a:xfrm>
            <a:off x="8332013" y="3602736"/>
            <a:ext cx="0" cy="347472"/>
          </a:xfrm>
          <a:prstGeom prst="line">
            <a:avLst/>
          </a:prstGeom>
          <a:noFill/>
          <a:ln w="19050">
            <a:solidFill>
              <a:srgbClr val="243B53"/>
            </a:solidFill>
            <a:prstDash val="solid"/>
          </a:ln>
        </p:spPr>
      </p:sp>
      <p:sp>
        <p:nvSpPr>
          <p:cNvPr id="27" name="Text 24"/>
          <p:cNvSpPr/>
          <p:nvPr/>
        </p:nvSpPr>
        <p:spPr>
          <a:xfrm>
            <a:off x="9601200" y="3648456"/>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75% / target 82%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RESPONDENT VOICE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What respondents are telling decision-makers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07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“In Eastern Zone, effective coverage shapes whether rural women can turn services into lasting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Lake Zone, facility readiness shapes whether young adults can turn services into lasting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Northern Zone, wealth-related inequity shapes whether persons with disabilities can turn services into lasting outcomes.”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DECISION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Priority decisions and accountable owners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08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Publish weighted effective-coverage estimates for health systems.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Target readiness investment using uncertainty bands for health systems.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Institutionalise equity decomposition for health systems.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Repeat reliability and measurement-invariance testing for health systems.</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Monitor model drift before operational use for health systems.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STRATEGIC CONSEQUENCE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The cost of inaction compounds over time</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09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Without corrective action, existing gaps are likely to persist and may increase the future cost of recovery.</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 medium-scale reprioritization is indicated; formal costing and fiduciary review are required.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IMPLEMENTATION</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A phased implementation roadmap</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10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Publish weighted effective-coverage estimates for health systems.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Target readiness investment using uncertainty bands for health systems.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Institutionalise equity decomposition for health systems.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Repeat reliability and measurement-invariance testing for health systems.</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Monitor model drift before operational use for health systems.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EVIDENCE LINEAGE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Every material claim links back to evidence</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11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“In Eastern Zone, effective coverage shapes whether rural women can turn services into lasting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Lake Zone, facility readiness shapes whether young adults can turn services into lasting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Northern Zone, wealth-related inequity shapes whether persons with disabilities can turn services into lasting outcomes.”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Southern Highlands, measurement reliability shapes whether frontline workers can turn services into lasting outcomes.”</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Eastern Zone, predictive model stability shapes whether low-income households can turn services into lasting outcomes.”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STATISTICAL ASSURANCE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Methodology designed for reproducibility</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12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sampling design: Stratified multi-stage synthetic demonstration design</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sampling frame: Synthetic frame covering programme-relevant population groups in Tanzania</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stratification: ["Region","Urban/rural","Sex","Age","Disability status"]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sample size: 4532</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weighting: Post-stratification weights normalized to the synthetic population frame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INTERNATIONAL ALIGNMENT</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Standards are applied where genuinely relevant</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13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Data Protection and Privacy Controls: The publication uses governed response, evidence and export data.</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Reproducibility and Microdata Governance: The publication includes versioned data, methods, disclosure controls and lineage.</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Research Ethics: Evidence collection and publication require consent, minimisation and protection of participants.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SDG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SDG contribution is transparent and bounded</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14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SDG Context-specific — Primary. Contribution mapping only; no attribution or institutional endorsement is implied.</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PUBLICATION INTEGRITY</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Limitations and responsible interpretation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15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All content is synthetic and must not be interpreted as official statistics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Geographic references are illustrative</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Budget implications are directional and require formal costing</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Causal claims are not made without an appropriate design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43B5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94360" y="411480"/>
            <a:ext cx="777240" cy="548640"/>
          </a:xfrm>
          <a:prstGeom prst="rect">
            <a:avLst/>
          </a:prstGeom>
        </p:spPr>
      </p:pic>
      <p:sp>
        <p:nvSpPr>
          <p:cNvPr id="3" name="Text 0"/>
          <p:cNvSpPr/>
          <p:nvPr/>
        </p:nvSpPr>
        <p:spPr>
          <a:xfrm>
            <a:off x="1508760" y="521208"/>
            <a:ext cx="2926080" cy="201168"/>
          </a:xfrm>
          <a:prstGeom prst="rect">
            <a:avLst/>
          </a:prstGeom>
          <a:noFill/>
          <a:ln/>
        </p:spPr>
        <p:txBody>
          <a:bodyPr wrap="square" lIns="0" tIns="0" rIns="0" bIns="0" rtlCol="0" anchor="ctr"/>
          <a:lstStyle/>
          <a:p>
            <a:pPr indent="0" marL="0">
              <a:buNone/>
            </a:pPr>
            <a:r>
              <a:rPr lang="en-US" sz="1100" b="1" dirty="0">
                <a:solidFill>
                  <a:srgbClr val="FFFFFF"/>
                </a:solidFill>
              </a:rPr>
              <a:t>VOICEINSIGHTS AFRICA</a:t>
            </a:r>
            <a:endParaRPr lang="en-US" sz="1100" dirty="0"/>
          </a:p>
        </p:txBody>
      </p:sp>
      <p:sp>
        <p:nvSpPr>
          <p:cNvPr id="4" name="Text 1"/>
          <p:cNvSpPr/>
          <p:nvPr/>
        </p:nvSpPr>
        <p:spPr>
          <a:xfrm>
            <a:off x="594360" y="1965960"/>
            <a:ext cx="7589520" cy="1005840"/>
          </a:xfrm>
          <a:prstGeom prst="rect">
            <a:avLst/>
          </a:prstGeom>
          <a:noFill/>
          <a:ln/>
        </p:spPr>
        <p:txBody>
          <a:bodyPr wrap="square" lIns="0" tIns="0" rIns="0" bIns="0" rtlCol="0" anchor="ctr"/>
          <a:lstStyle/>
          <a:p>
            <a:pPr indent="0" marL="0">
              <a:buNone/>
            </a:pPr>
            <a:r>
              <a:rPr lang="en-US" sz="3000" b="1" dirty="0">
                <a:solidFill>
                  <a:srgbClr val="FFFFFF"/>
                </a:solidFill>
              </a:rPr>
              <a:t>From every voice to an accountable decision</a:t>
            </a:r>
            <a:endParaRPr lang="en-US" sz="3000" dirty="0"/>
          </a:p>
        </p:txBody>
      </p:sp>
      <p:sp>
        <p:nvSpPr>
          <p:cNvPr id="5" name="Text 2"/>
          <p:cNvSpPr/>
          <p:nvPr/>
        </p:nvSpPr>
        <p:spPr>
          <a:xfrm>
            <a:off x="594360" y="3337560"/>
            <a:ext cx="6400800" cy="320040"/>
          </a:xfrm>
          <a:prstGeom prst="rect">
            <a:avLst/>
          </a:prstGeom>
          <a:noFill/>
          <a:ln/>
        </p:spPr>
        <p:txBody>
          <a:bodyPr wrap="square" lIns="0" tIns="0" rIns="0" bIns="0" rtlCol="0" anchor="ctr"/>
          <a:lstStyle/>
          <a:p>
            <a:pPr indent="0" marL="0">
              <a:buNone/>
            </a:pPr>
            <a:r>
              <a:rPr lang="en-US" sz="1700" dirty="0">
                <a:solidFill>
                  <a:srgbClr val="2BB0A6"/>
                </a:solidFill>
              </a:rPr>
              <a:t>Every Voice. Every Language. Every Insight.</a:t>
            </a:r>
            <a:endParaRPr lang="en-US" sz="1700" dirty="0"/>
          </a:p>
        </p:txBody>
      </p:sp>
      <p:sp>
        <p:nvSpPr>
          <p:cNvPr id="6" name="Shape 3"/>
          <p:cNvSpPr/>
          <p:nvPr/>
        </p:nvSpPr>
        <p:spPr>
          <a:xfrm>
            <a:off x="9235440" y="0"/>
            <a:ext cx="2956255" cy="6858000"/>
          </a:xfrm>
          <a:prstGeom prst="rect">
            <a:avLst/>
          </a:prstGeom>
          <a:solidFill>
            <a:srgbClr val="07883F"/>
          </a:solidFill>
          <a:ln w="12700">
            <a:solidFill>
              <a:srgbClr val="07883F"/>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VoiceInsights Africa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Statistical Intelligence Report</dc:title>
  <dc:subject>Synthetic Demonstration Publication</dc:subject>
  <dc:creator>VoiceInsights Africa</dc:creator>
  <cp:lastModifiedBy>VoiceInsights Africa</cp:lastModifiedBy>
  <cp:revision>1</cp:revision>
  <dcterms:created xsi:type="dcterms:W3CDTF">2026-07-12T22:51:25Z</dcterms:created>
  <dcterms:modified xsi:type="dcterms:W3CDTF">2026-07-12T22:51:25Z</dcterms:modified>
</cp:coreProperties>
</file>