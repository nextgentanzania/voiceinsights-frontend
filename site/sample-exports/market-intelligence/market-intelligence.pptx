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IdLst>
    <p:sldId id="256" r:id="rId1"/>
    <p:sldId id="257" r:id="rId2"/>
    <p:sldId id="258" r:id="rId3"/>
    <p:sldId id="259" r:id="rId4"/>
    <p:sldId id="260" r:id="rId5"/>
    <p:sldId id="261" r:id="rId6"/>
    <p:sldId id="262"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8" r:id="rId23"/>
    <p:sldId id="279" r:id="rId24"/>
    <p:sldId id="280" r:id="rId25"/>
    <p:sldId id="281" r:id="rId26"/>
    <p:sldId id="282" r:id="rId27"/>
    <p:sldId id="283" r:id="rId28"/>
    <p:sldId id="284" r:id="rId29"/>
    <p:sldId id="285" r:id="rId30"/>
    <p:sldId id="286" r:id="rId31"/>
    <p:sldId id="287" r:id="rId32"/>
    <p:sldId id="288" r:id="rId33"/>
    <p:sldId id="289" r:id="rId34"/>
  </p:sldIdLst>
  <p:sldSz cx="12192000" cy="6858000" type="screen16x9"/>
  <p:notesSz cx="6858000" cy="9144000"/>
</p:presentation>
</file>

<file path=ppt/_rels/presentation.xml.rels><?xml version="1.0" encoding="UTF-8" standalone="yes"?><Relationships xmlns="http://schemas.openxmlformats.org/package/2006/relationships"><Relationship Id="rId1" Type="http://schemas.openxmlformats.org/officeDocument/2006/relationships/slide" Target="slides/slide1.xml"/><Relationship Id="rId2" Type="http://schemas.openxmlformats.org/officeDocument/2006/relationships/slide" Target="slides/slide2.xml"/><Relationship Id="rId3" Type="http://schemas.openxmlformats.org/officeDocument/2006/relationships/slide" Target="slides/slide3.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slide" Target="slides/slide3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07251D"/>
          </a:solidFill>
          <a:ln>
            <a:noFill/>
          </a:ln>
        </p:spPr>
      </p:sp>
      <p:sp>
        <p:nvSpPr>
          <p:cNvPr id="3" name="Top rule"/>
          <p:cNvSpPr/>
          <p:nvPr/>
        </p:nvSpPr>
        <p:spPr>
          <a:xfrm>
            <a:off x="0" y="0"/>
            <a:ext cx="12192000" cy="70000"/>
          </a:xfrm>
          <a:prstGeom prst="rect">
            <a:avLst/>
          </a:prstGeom>
          <a:solidFill>
            <a:srgbClr val="D4AF37"/>
          </a:solidFill>
          <a:ln>
            <a:noFill/>
          </a:ln>
        </p:spPr>
      </p:sp>
      <p:sp>
        <p:nvSpPr>
          <p:cNvPr id="4" name="Accent panel"/>
          <p:cNvSpPr/>
          <p:nvPr/>
        </p:nvSpPr>
        <p:spPr>
          <a:xfrm>
            <a:off x="9300000" y="0"/>
            <a:ext cx="2892000" cy="6858000"/>
          </a:xfrm>
          <a:prstGeom prst="rect">
            <a:avLst/>
          </a:prstGeom>
          <a:solidFill>
            <a:srgbClr val="0B6E4F"/>
          </a:solidFill>
          <a:ln>
            <a:noFill/>
          </a:ln>
        </p:spPr>
      </p:sp>
      <p:sp>
        <p:nvSpPr>
          <p:cNvPr id="5" name="Gold rule"/>
          <p:cNvSpPr/>
          <p:nvPr/>
        </p:nvSpPr>
        <p:spPr>
          <a:xfrm>
            <a:off x="8880000" y="0"/>
            <a:ext cx="120000" cy="6858000"/>
          </a:xfrm>
          <a:prstGeom prst="rect">
            <a:avLst/>
          </a:prstGeom>
          <a:solidFill>
            <a:srgbClr val="D4AF37"/>
          </a:solidFill>
          <a:ln>
            <a:noFill/>
          </a:ln>
        </p:spPr>
      </p:sp>
      <p:sp>
        <p:nvSpPr>
          <p:cNvPr id="6" name="VoiceInsights logo bar 1"/>
          <p:cNvSpPr/>
          <p:nvPr/>
        </p:nvSpPr>
        <p:spPr>
          <a:xfrm>
            <a:off x="640000" y="400000"/>
            <a:ext cx="90000" cy="180000"/>
          </a:xfrm>
          <a:prstGeom prst="roundRect">
            <a:avLst/>
          </a:prstGeom>
          <a:solidFill>
            <a:srgbClr val="0B6E4F"/>
          </a:solidFill>
          <a:ln>
            <a:noFill/>
          </a:ln>
        </p:spPr>
      </p:sp>
      <p:sp>
        <p:nvSpPr>
          <p:cNvPr id="7" name="VoiceInsights logo bar 2"/>
          <p:cNvSpPr/>
          <p:nvPr/>
        </p:nvSpPr>
        <p:spPr>
          <a:xfrm>
            <a:off x="800000" y="315000"/>
            <a:ext cx="110000" cy="350000"/>
          </a:xfrm>
          <a:prstGeom prst="roundRect">
            <a:avLst/>
          </a:prstGeom>
          <a:solidFill>
            <a:srgbClr val="0B6E4F"/>
          </a:solidFill>
          <a:ln>
            <a:noFill/>
          </a:ln>
        </p:spPr>
      </p:sp>
      <p:sp>
        <p:nvSpPr>
          <p:cNvPr id="8" name="VoiceInsights logo bar 3"/>
          <p:cNvSpPr/>
          <p:nvPr/>
        </p:nvSpPr>
        <p:spPr>
          <a:xfrm>
            <a:off x="980000" y="210000"/>
            <a:ext cx="125000" cy="560000"/>
          </a:xfrm>
          <a:prstGeom prst="roundRect">
            <a:avLst/>
          </a:prstGeom>
          <a:solidFill>
            <a:srgbClr val="0B6E4F"/>
          </a:solidFill>
          <a:ln>
            <a:noFill/>
          </a:ln>
        </p:spPr>
      </p:sp>
      <p:sp>
        <p:nvSpPr>
          <p:cNvPr id="9" name="VoiceInsights logo bar 4"/>
          <p:cNvSpPr/>
          <p:nvPr/>
        </p:nvSpPr>
        <p:spPr>
          <a:xfrm>
            <a:off x="1175000" y="315000"/>
            <a:ext cx="110000" cy="350000"/>
          </a:xfrm>
          <a:prstGeom prst="roundRect">
            <a:avLst/>
          </a:prstGeom>
          <a:solidFill>
            <a:srgbClr val="0B6E4F"/>
          </a:solidFill>
          <a:ln>
            <a:noFill/>
          </a:ln>
        </p:spPr>
      </p:sp>
      <p:sp>
        <p:nvSpPr>
          <p:cNvPr id="10" name="VoiceInsights logo bar 5"/>
          <p:cNvSpPr/>
          <p:nvPr/>
        </p:nvSpPr>
        <p:spPr>
          <a:xfrm>
            <a:off x="1355000" y="400000"/>
            <a:ext cx="90000" cy="180000"/>
          </a:xfrm>
          <a:prstGeom prst="roundRect">
            <a:avLst/>
          </a:prstGeom>
          <a:solidFill>
            <a:srgbClr val="0B6E4F"/>
          </a:solidFill>
          <a:ln>
            <a:noFill/>
          </a:ln>
        </p:spPr>
      </p:sp>
      <p:sp>
        <p:nvSpPr>
          <p:cNvPr id="11"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FFFFFF"/>
                </a:solidFill>
                <a:latin typeface="Aptos"/>
              </a:rPr>
              <a:t>VOICEINSIGHTS AFRICA</a:t>
            </a:r>
          </a:p>
        </p:txBody>
      </p:sp>
      <p:sp>
        <p:nvSpPr>
          <p:cNvPr id="12" name="Classification"/>
          <p:cNvSpPr txBox="1"/>
          <p:nvPr/>
        </p:nvSpPr>
        <p:spPr>
          <a:xfrm>
            <a:off x="640000" y="1160000"/>
            <a:ext cx="7100000" cy="420000"/>
          </a:xfrm>
          <a:prstGeom prst="rect">
            <a:avLst/>
          </a:prstGeom>
          <a:noFill/>
          <a:ln>
            <a:noFill/>
          </a:ln>
        </p:spPr>
        <p:txBody>
          <a:bodyPr wrap="square" anchor="t" lIns="0" rIns="0" tIns="0" bIns="0"/>
          <a:lstStyle/>
          <a:p>
            <a:pPr algn="l"/>
            <a:r>
              <a:rPr lang="en-US" sz="1250" b="1">
                <a:solidFill>
                  <a:srgbClr val="D4AF37"/>
                </a:solidFill>
                <a:latin typeface="Aptos"/>
              </a:rPr>
              <a:t>FLAGSHIP SYNTHETIC DEMONSTRATION PUBLICATION</a:t>
            </a:r>
          </a:p>
        </p:txBody>
      </p:sp>
      <p:sp>
        <p:nvSpPr>
          <p:cNvPr id="13" name="Title"/>
          <p:cNvSpPr txBox="1"/>
          <p:nvPr/>
        </p:nvSpPr>
        <p:spPr>
          <a:xfrm>
            <a:off x="640000" y="1760000"/>
            <a:ext cx="7600000" cy="1900000"/>
          </a:xfrm>
          <a:prstGeom prst="rect">
            <a:avLst/>
          </a:prstGeom>
          <a:noFill/>
          <a:ln>
            <a:noFill/>
          </a:ln>
        </p:spPr>
        <p:txBody>
          <a:bodyPr wrap="square" anchor="t" lIns="0" rIns="0" tIns="0" bIns="0"/>
          <a:lstStyle/>
          <a:p>
            <a:pPr algn="l"/>
            <a:r>
              <a:rPr lang="en-US" sz="3600" b="1">
                <a:solidFill>
                  <a:srgbClr val="FFFFFF"/>
                </a:solidFill>
                <a:latin typeface="Aptos"/>
              </a:rPr>
              <a:t>Market Intelligence Report</a:t>
            </a:r>
          </a:p>
        </p:txBody>
      </p:sp>
      <p:sp>
        <p:nvSpPr>
          <p:cNvPr id="14" name="Subtitle"/>
          <p:cNvSpPr txBox="1"/>
          <p:nvPr/>
        </p:nvSpPr>
        <p:spPr>
          <a:xfrm>
            <a:off x="640000" y="3900000"/>
            <a:ext cx="6900000" cy="450000"/>
          </a:xfrm>
          <a:prstGeom prst="rect">
            <a:avLst/>
          </a:prstGeom>
          <a:noFill/>
          <a:ln>
            <a:noFill/>
          </a:ln>
        </p:spPr>
        <p:txBody>
          <a:bodyPr wrap="square" anchor="t" lIns="0" rIns="0" tIns="0" bIns="0"/>
          <a:lstStyle/>
          <a:p>
            <a:pPr algn="l"/>
            <a:r>
              <a:rPr lang="en-US" sz="1800">
                <a:solidFill>
                  <a:srgbClr val="D8E5DF"/>
                </a:solidFill>
                <a:latin typeface="Aptos"/>
              </a:rPr>
              <a:t>Ghana | Market Research</a:t>
            </a:r>
          </a:p>
        </p:txBody>
      </p:sp>
      <p:sp>
        <p:nvSpPr>
          <p:cNvPr id="15" name="Prepared"/>
          <p:cNvSpPr txBox="1"/>
          <p:nvPr/>
        </p:nvSpPr>
        <p:spPr>
          <a:xfrm>
            <a:off x="640000" y="5000000"/>
            <a:ext cx="6500000" cy="760000"/>
          </a:xfrm>
          <a:prstGeom prst="rect">
            <a:avLst/>
          </a:prstGeom>
          <a:noFill/>
          <a:ln>
            <a:noFill/>
          </a:ln>
        </p:spPr>
        <p:txBody>
          <a:bodyPr wrap="square" anchor="t" lIns="0" rIns="0" tIns="0" bIns="0"/>
          <a:lstStyle/>
          <a:p>
            <a:pPr algn="l"/>
            <a:r>
              <a:rPr lang="en-US" sz="1450">
                <a:solidFill>
                  <a:srgbClr val="FFFFFF"/>
                </a:solidFill>
                <a:latin typeface="Aptos"/>
              </a:rPr>
              <a:t>Prepared by VoiceInsights Africa Every Voice. Every Language. Every Insight.</a:t>
            </a:r>
          </a:p>
        </p:txBody>
      </p:sp>
      <p:sp>
        <p:nvSpPr>
          <p:cNvPr id="16" name="Notice"/>
          <p:cNvSpPr txBox="1"/>
          <p:nvPr/>
        </p:nvSpPr>
        <p:spPr>
          <a:xfrm>
            <a:off x="9550000" y="5260000"/>
            <a:ext cx="2050000" cy="650000"/>
          </a:xfrm>
          <a:prstGeom prst="rect">
            <a:avLst/>
          </a:prstGeom>
          <a:noFill/>
          <a:ln>
            <a:noFill/>
          </a:ln>
        </p:spPr>
        <p:txBody>
          <a:bodyPr wrap="square" anchor="ctr" lIns="0" rIns="0" tIns="0" bIns="0"/>
          <a:lstStyle/>
          <a:p>
            <a:pPr algn="c"/>
            <a:r>
              <a:rPr lang="en-US" sz="1250" b="1">
                <a:solidFill>
                  <a:srgbClr val="FFFFFF"/>
                </a:solidFill>
                <a:latin typeface="Aptos"/>
              </a:rPr>
              <a:t>SYNTHETIC DATA Not official statistics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Five-minute leadership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Executive Intelligence Book</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executive brief: Corporate leadership's attention should shift from monitoring market research performance to acting on the specific groups and locations the evidence flags as most exposed.</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decision snapshot: Prioritise the two highest-value underserved segments.</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decision snapshot: Test segment-specific pricing and propositions.</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decision snapshot: Build visible privacy and fraud-protection signals.</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critical findings: Addressable demand</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02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What matters, why it matters and what must be decided</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Executive Brief</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summary: Every number in this publication answers one question: what is actually happening with market research performance in Ghana, and for whom. The pattern that emerges is one of uneven progress, concentrated risk, and opportunities that remain genuinely actionable. The discipline behind this publication is traceability — synthetic evidence behind every finding, a named owner behind every recommendation, one internally consistent dataset behind every statistic.</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decision: Prioritise the two highest-value underserved segments.</a:t>
            </a:r>
          </a:p>
        </p:txBody>
      </p:sp>
      <p:sp>
        <p:nvSpPr>
          <p:cNvPr id="18"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03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Accountable choices for leadership</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Priority Decisions</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Prioritise the two highest-value underserved segments.</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Test segment-specific pricing and propositions.</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Build visible privacy and fraud-protection signals.</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Shift acquisition to the most productive channel mix.</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Defend differentiation through service reliability.</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04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Evidence-backed signals requiring attention</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Critical Findings</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Addressable demand</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Segment economics</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Digital trust</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Channel productivity</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Competitive differentiation</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05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Claim-to-source lineage and confidence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Evidence Intelligence Book</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“Elsewhere, addressable demand might be a footnote. For rural women in Greater Accra, it is the whole story.”</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“Young adults in Ashanti frame it simply: when segment economics breaks down, everything else does too.”</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“In Northern Growth Markets, digital trust shapes whether persons with disabilities can turn services into lasting outcomes.”</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“Frontline workers in Digital Nationwide put it plainly: channel productivity is what decides whether progress holds or slips back.”</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“Why does Greater Accra lag behind? Ask low-income households, and the answer comes back to competitive differentiation.”</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Evidence Intelligence</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evidence: “Elsewhere, addressable demand might be a footnote. For rural women in Greater Accra, it is the whole story.”</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evidence: “Young adults in Ashanti frame it simply: when segment economics breaks down, everything else does too.”</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evidence: “In Northern Growth Markets, digital trust shapes whether persons with disabilities can turn services into lasting outcomes.”</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evidence: “Frontline workers in Digital Nationwide put it plainly: channel productivity is what decides whether progress holds or slips back.”</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evidence: “Why does Greater Accra lag behind? Ask low-income households, and the answer comes back to competitive differentiation.”</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Sampling, weighting, uncertainty and reproducibility</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Statistical Intelligence</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sampling design: Stratified multi-stage synthetic demonstration design</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sampling frame: Synthetic frame covering programme-relevant population groups in Ghana</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stratification: Region</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stratification: Urban/rural</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stratification: Sex</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08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Prioritisation for management action</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Risk and Opportunity Matrix</a:t>
            </a:r>
          </a:p>
        </p:txBody>
      </p:sp>
      <p:sp>
        <p:nvSpPr>
          <p:cNvPr id="12" name="Risk panel"/>
          <p:cNvSpPr/>
          <p:nvPr/>
        </p:nvSpPr>
        <p:spPr>
          <a:xfrm>
            <a:off x="640000" y="2050000"/>
            <a:ext cx="5200000" cy="3400000"/>
          </a:xfrm>
          <a:prstGeom prst="roundRect">
            <a:avLst/>
          </a:prstGeom>
          <a:solidFill>
            <a:srgbClr val="FFF2F0"/>
          </a:solidFill>
          <a:ln w="12700">
            <a:solidFill>
              <a:srgbClr val="E7C5BF"/>
            </a:solidFill>
          </a:ln>
        </p:spPr>
      </p:sp>
      <p:sp>
        <p:nvSpPr>
          <p:cNvPr id="13" name="Opportunity panel"/>
          <p:cNvSpPr/>
          <p:nvPr/>
        </p:nvSpPr>
        <p:spPr>
          <a:xfrm>
            <a:off x="5980000" y="2050000"/>
            <a:ext cx="5200000" cy="3400000"/>
          </a:xfrm>
          <a:prstGeom prst="roundRect">
            <a:avLst/>
          </a:prstGeom>
          <a:solidFill>
            <a:srgbClr val="ECF7F1"/>
          </a:solidFill>
          <a:ln w="12700">
            <a:solidFill>
              <a:srgbClr val="B8DCCB"/>
            </a:solidFill>
          </a:ln>
        </p:spPr>
      </p:sp>
      <p:sp>
        <p:nvSpPr>
          <p:cNvPr id="14" name="Risk title"/>
          <p:cNvSpPr txBox="1"/>
          <p:nvPr/>
        </p:nvSpPr>
        <p:spPr>
          <a:xfrm>
            <a:off x="940000" y="2320000"/>
            <a:ext cx="4400000" cy="330000"/>
          </a:xfrm>
          <a:prstGeom prst="rect">
            <a:avLst/>
          </a:prstGeom>
          <a:noFill/>
          <a:ln>
            <a:noFill/>
          </a:ln>
        </p:spPr>
        <p:txBody>
          <a:bodyPr wrap="square" anchor="t" lIns="0" rIns="0" tIns="0" bIns="0"/>
          <a:lstStyle/>
          <a:p>
            <a:pPr algn="l"/>
            <a:r>
              <a:rPr lang="en-US" sz="1350" b="1">
                <a:solidFill>
                  <a:srgbClr val="A33A2B"/>
                </a:solidFill>
                <a:latin typeface="Aptos"/>
              </a:rPr>
              <a:t>CRITICAL RISKS</a:t>
            </a:r>
          </a:p>
        </p:txBody>
      </p:sp>
      <p:sp>
        <p:nvSpPr>
          <p:cNvPr id="15" name="Opportunity title"/>
          <p:cNvSpPr txBox="1"/>
          <p:nvPr/>
        </p:nvSpPr>
        <p:spPr>
          <a:xfrm>
            <a:off x="6280000" y="2320000"/>
            <a:ext cx="4400000" cy="330000"/>
          </a:xfrm>
          <a:prstGeom prst="rect">
            <a:avLst/>
          </a:prstGeom>
          <a:noFill/>
          <a:ln>
            <a:noFill/>
          </a:ln>
        </p:spPr>
        <p:txBody>
          <a:bodyPr wrap="square" anchor="t" lIns="0" rIns="0" tIns="0" bIns="0"/>
          <a:lstStyle/>
          <a:p>
            <a:pPr algn="l"/>
            <a:r>
              <a:rPr lang="en-US" sz="1350" b="1">
                <a:solidFill>
                  <a:srgbClr val="0B6E4F"/>
                </a:solidFill>
                <a:latin typeface="Aptos"/>
              </a:rPr>
              <a:t>TOP OPPORTUNITIES</a:t>
            </a:r>
          </a:p>
        </p:txBody>
      </p:sp>
      <p:sp>
        <p:nvSpPr>
          <p:cNvPr id="16" name="Risks"/>
          <p:cNvSpPr txBox="1"/>
          <p:nvPr/>
        </p:nvSpPr>
        <p:spPr>
          <a:xfrm>
            <a:off x="940000" y="2850000"/>
            <a:ext cx="4400000" cy="2200000"/>
          </a:xfrm>
          <a:prstGeom prst="rect">
            <a:avLst/>
          </a:prstGeom>
          <a:noFill/>
          <a:ln>
            <a:noFill/>
          </a:ln>
        </p:spPr>
        <p:txBody>
          <a:bodyPr wrap="square" anchor="t" lIns="0" rIns="0" tIns="0" bIns="0"/>
          <a:lstStyle/>
          <a:p>
            <a:pPr algn="l"/>
            <a:r>
              <a:rPr lang="en-US" sz="1450">
                <a:solidFill>
                  <a:srgbClr val="532B25"/>
                </a:solidFill>
                <a:latin typeface="Aptos"/>
              </a:rPr>
              <a:t>1. External factors outside this publication's scope could offset gains in market research 2. Evidence and monitoring capacity lags the pace of decisions being made on market research</a:t>
            </a:r>
          </a:p>
        </p:txBody>
      </p:sp>
      <p:sp>
        <p:nvSpPr>
          <p:cNvPr id="17" name="Opportunities"/>
          <p:cNvSpPr txBox="1"/>
          <p:nvPr/>
        </p:nvSpPr>
        <p:spPr>
          <a:xfrm>
            <a:off x="6280000" y="2850000"/>
            <a:ext cx="4400000" cy="2200000"/>
          </a:xfrm>
          <a:prstGeom prst="rect">
            <a:avLst/>
          </a:prstGeom>
          <a:noFill/>
          <a:ln>
            <a:noFill/>
          </a:ln>
        </p:spPr>
        <p:txBody>
          <a:bodyPr wrap="square" anchor="t" lIns="0" rIns="0" tIns="0" bIns="0"/>
          <a:lstStyle/>
          <a:p>
            <a:pPr algn="l"/>
            <a:r>
              <a:rPr lang="en-US" sz="1450">
                <a:solidFill>
                  <a:srgbClr val="164C3A"/>
                </a:solidFill>
                <a:latin typeface="Aptos"/>
              </a:rPr>
              <a:t>1. Targeted acceleration in the lowest-performing part of market research 2. Evidence-led reallocation of resources already committed to market research 3. Stronger feedback accountability between frontline delivery and leadership</a:t>
            </a:r>
          </a:p>
        </p:txBody>
      </p:sp>
      <p:sp>
        <p:nvSpPr>
          <p:cNvPr id="18"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09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International Standards</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framework: Responsible AI</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relevance: Applied where relevant to Market Research</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evidence ids: EVI-MAR-001</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evidence ids: EVI-MAR-002</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limitations: Synthetic demonstration mapping; institutional validation not implied</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OECD-DAC</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Synthetic evidence indicates a strong relevance signal, subject to the stated design limitations.</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Synthetic evidence indicates a moderate-to-strong coherence signal, subject to the stated design limitations.</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Synthetic evidence indicates a strong effectiveness signal, subject to the stated design limitations.</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Synthetic evidence indicates a moderate-to-strong efficiency signal, subject to the stated design limitations.</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Synthetic evidence indicates a strong impact signal, subject to the stated design limitations.</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Results-Based Management</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inputs: Governed synthetic data</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inputs: Delivery capacity</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inputs: Approved financing</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activities: Evidence collection</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activities: Segmented analysis</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Core Humanitarian Standard</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commitment number: 1</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commitment: CHS Commitment 1</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evidence ids: EVI-MAR-001</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status: CONTEXT ONLY</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action: Validate relevance and assign an accountable owner before live use.</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Immediate, medium-term and strategic action</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Implementation Roadmap</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Prioritise the two highest-value underserved segments.</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Test segment-specific pricing and propositions.</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Build visible privacy and fraud-protection signals.</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Shift acquisition to the most productive channel mix.</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Defend differentiation through service reliability.</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Evidence, statistical, visual and decision assurance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Publication Quality Gate</a:t>
            </a:r>
          </a:p>
        </p:txBody>
      </p:sp>
      <p:sp>
        <p:nvSpPr>
          <p:cNvPr id="12" name="Metric card 1"/>
          <p:cNvSpPr/>
          <p:nvPr/>
        </p:nvSpPr>
        <p:spPr>
          <a:xfrm>
            <a:off x="640000" y="2050000"/>
            <a:ext cx="2580000" cy="1500000"/>
          </a:xfrm>
          <a:prstGeom prst="roundRect">
            <a:avLst/>
          </a:prstGeom>
          <a:solidFill>
            <a:srgbClr val="FFFFFF"/>
          </a:solidFill>
          <a:ln w="12700">
            <a:solidFill>
              <a:srgbClr val="DCE7E2"/>
            </a:solidFill>
          </a:ln>
        </p:spPr>
      </p:sp>
      <p:sp>
        <p:nvSpPr>
          <p:cNvPr id="13" name="Metric value 1"/>
          <p:cNvSpPr txBox="1"/>
          <p:nvPr/>
        </p:nvSpPr>
        <p:spPr>
          <a:xfrm>
            <a:off x="820000" y="2300000"/>
            <a:ext cx="2220000" cy="550000"/>
          </a:xfrm>
          <a:prstGeom prst="rect">
            <a:avLst/>
          </a:prstGeom>
          <a:noFill/>
          <a:ln>
            <a:noFill/>
          </a:ln>
        </p:spPr>
        <p:txBody>
          <a:bodyPr wrap="square" anchor="t" lIns="0" rIns="0" tIns="0" bIns="0"/>
          <a:lstStyle/>
          <a:p>
            <a:pPr algn="l"/>
            <a:r>
              <a:rPr lang="en-US" sz="2700" b="1">
                <a:solidFill>
                  <a:srgbClr val="0B2E59"/>
                </a:solidFill>
                <a:latin typeface="Aptos"/>
              </a:rPr>
              <a:t>Passed</a:t>
            </a:r>
          </a:p>
        </p:txBody>
      </p:sp>
      <p:sp>
        <p:nvSpPr>
          <p:cNvPr id="14" name="Metric label 1"/>
          <p:cNvSpPr txBox="1"/>
          <p:nvPr/>
        </p:nvSpPr>
        <p:spPr>
          <a:xfrm>
            <a:off x="820000" y="3000000"/>
            <a:ext cx="2220000" cy="380000"/>
          </a:xfrm>
          <a:prstGeom prst="rect">
            <a:avLst/>
          </a:prstGeom>
          <a:noFill/>
          <a:ln>
            <a:noFill/>
          </a:ln>
        </p:spPr>
        <p:txBody>
          <a:bodyPr wrap="square" anchor="t" lIns="0" rIns="0" tIns="0" bIns="0"/>
          <a:lstStyle/>
          <a:p>
            <a:pPr algn="l"/>
            <a:r>
              <a:rPr lang="en-US" sz="1150" b="1">
                <a:solidFill>
                  <a:srgbClr val="52667A"/>
                </a:solidFill>
                <a:latin typeface="Aptos"/>
              </a:rPr>
              <a:t>Editorial Review Passed</a:t>
            </a:r>
          </a:p>
        </p:txBody>
      </p:sp>
      <p:sp>
        <p:nvSpPr>
          <p:cNvPr id="15" name="Metric card 2"/>
          <p:cNvSpPr/>
          <p:nvPr/>
        </p:nvSpPr>
        <p:spPr>
          <a:xfrm>
            <a:off x="3470000" y="2050000"/>
            <a:ext cx="2580000" cy="1500000"/>
          </a:xfrm>
          <a:prstGeom prst="roundRect">
            <a:avLst/>
          </a:prstGeom>
          <a:solidFill>
            <a:srgbClr val="FFFFFF"/>
          </a:solidFill>
          <a:ln w="12700">
            <a:solidFill>
              <a:srgbClr val="DCE7E2"/>
            </a:solidFill>
          </a:ln>
        </p:spPr>
      </p:sp>
      <p:sp>
        <p:nvSpPr>
          <p:cNvPr id="16" name="Metric value 2"/>
          <p:cNvSpPr txBox="1"/>
          <p:nvPr/>
        </p:nvSpPr>
        <p:spPr>
          <a:xfrm>
            <a:off x="3650000" y="2300000"/>
            <a:ext cx="2220000" cy="550000"/>
          </a:xfrm>
          <a:prstGeom prst="rect">
            <a:avLst/>
          </a:prstGeom>
          <a:noFill/>
          <a:ln>
            <a:noFill/>
          </a:ln>
        </p:spPr>
        <p:txBody>
          <a:bodyPr wrap="square" anchor="t" lIns="0" rIns="0" tIns="0" bIns="0"/>
          <a:lstStyle/>
          <a:p>
            <a:pPr algn="l"/>
            <a:r>
              <a:rPr lang="en-US" sz="2700" b="1">
                <a:solidFill>
                  <a:srgbClr val="0B2E59"/>
                </a:solidFill>
                <a:latin typeface="Aptos"/>
              </a:rPr>
              <a:t>Passed</a:t>
            </a:r>
          </a:p>
        </p:txBody>
      </p:sp>
      <p:sp>
        <p:nvSpPr>
          <p:cNvPr id="17" name="Metric label 2"/>
          <p:cNvSpPr txBox="1"/>
          <p:nvPr/>
        </p:nvSpPr>
        <p:spPr>
          <a:xfrm>
            <a:off x="3650000" y="3000000"/>
            <a:ext cx="2220000" cy="380000"/>
          </a:xfrm>
          <a:prstGeom prst="rect">
            <a:avLst/>
          </a:prstGeom>
          <a:noFill/>
          <a:ln>
            <a:noFill/>
          </a:ln>
        </p:spPr>
        <p:txBody>
          <a:bodyPr wrap="square" anchor="t" lIns="0" rIns="0" tIns="0" bIns="0"/>
          <a:lstStyle/>
          <a:p>
            <a:pPr algn="l"/>
            <a:r>
              <a:rPr lang="en-US" sz="1150" b="1">
                <a:solidFill>
                  <a:srgbClr val="52667A"/>
                </a:solidFill>
                <a:latin typeface="Aptos"/>
              </a:rPr>
              <a:t>Evidence Review Passed</a:t>
            </a:r>
          </a:p>
        </p:txBody>
      </p:sp>
      <p:sp>
        <p:nvSpPr>
          <p:cNvPr id="18" name="Metric card 3"/>
          <p:cNvSpPr/>
          <p:nvPr/>
        </p:nvSpPr>
        <p:spPr>
          <a:xfrm>
            <a:off x="6300000" y="2050000"/>
            <a:ext cx="2580000" cy="1500000"/>
          </a:xfrm>
          <a:prstGeom prst="roundRect">
            <a:avLst/>
          </a:prstGeom>
          <a:solidFill>
            <a:srgbClr val="FFFFFF"/>
          </a:solidFill>
          <a:ln w="12700">
            <a:solidFill>
              <a:srgbClr val="DCE7E2"/>
            </a:solidFill>
          </a:ln>
        </p:spPr>
      </p:sp>
      <p:sp>
        <p:nvSpPr>
          <p:cNvPr id="19" name="Metric value 3"/>
          <p:cNvSpPr txBox="1"/>
          <p:nvPr/>
        </p:nvSpPr>
        <p:spPr>
          <a:xfrm>
            <a:off x="6480000" y="2300000"/>
            <a:ext cx="2220000" cy="550000"/>
          </a:xfrm>
          <a:prstGeom prst="rect">
            <a:avLst/>
          </a:prstGeom>
          <a:noFill/>
          <a:ln>
            <a:noFill/>
          </a:ln>
        </p:spPr>
        <p:txBody>
          <a:bodyPr wrap="square" anchor="t" lIns="0" rIns="0" tIns="0" bIns="0"/>
          <a:lstStyle/>
          <a:p>
            <a:pPr algn="l"/>
            <a:r>
              <a:rPr lang="en-US" sz="2700" b="1">
                <a:solidFill>
                  <a:srgbClr val="0B2E59"/>
                </a:solidFill>
                <a:latin typeface="Aptos"/>
              </a:rPr>
              <a:t>Passed</a:t>
            </a:r>
          </a:p>
        </p:txBody>
      </p:sp>
      <p:sp>
        <p:nvSpPr>
          <p:cNvPr id="20" name="Metric label 3"/>
          <p:cNvSpPr txBox="1"/>
          <p:nvPr/>
        </p:nvSpPr>
        <p:spPr>
          <a:xfrm>
            <a:off x="6480000" y="3000000"/>
            <a:ext cx="2220000" cy="380000"/>
          </a:xfrm>
          <a:prstGeom prst="rect">
            <a:avLst/>
          </a:prstGeom>
          <a:noFill/>
          <a:ln>
            <a:noFill/>
          </a:ln>
        </p:spPr>
        <p:txBody>
          <a:bodyPr wrap="square" anchor="t" lIns="0" rIns="0" tIns="0" bIns="0"/>
          <a:lstStyle/>
          <a:p>
            <a:pPr algn="l"/>
            <a:r>
              <a:rPr lang="en-US" sz="1150" b="1">
                <a:solidFill>
                  <a:srgbClr val="52667A"/>
                </a:solidFill>
                <a:latin typeface="Aptos"/>
              </a:rPr>
              <a:t>Publication Integrity Verified</a:t>
            </a:r>
          </a:p>
        </p:txBody>
      </p:sp>
      <p:sp>
        <p:nvSpPr>
          <p:cNvPr id="21" name="Metric card 4"/>
          <p:cNvSpPr/>
          <p:nvPr/>
        </p:nvSpPr>
        <p:spPr>
          <a:xfrm>
            <a:off x="9130000" y="2050000"/>
            <a:ext cx="2580000" cy="1500000"/>
          </a:xfrm>
          <a:prstGeom prst="roundRect">
            <a:avLst/>
          </a:prstGeom>
          <a:solidFill>
            <a:srgbClr val="FFFFFF"/>
          </a:solidFill>
          <a:ln w="12700">
            <a:solidFill>
              <a:srgbClr val="DCE7E2"/>
            </a:solidFill>
          </a:ln>
        </p:spPr>
      </p:sp>
      <p:sp>
        <p:nvSpPr>
          <p:cNvPr id="22" name="Metric value 4"/>
          <p:cNvSpPr txBox="1"/>
          <p:nvPr/>
        </p:nvSpPr>
        <p:spPr>
          <a:xfrm>
            <a:off x="9310000" y="2300000"/>
            <a:ext cx="2220000" cy="550000"/>
          </a:xfrm>
          <a:prstGeom prst="rect">
            <a:avLst/>
          </a:prstGeom>
          <a:noFill/>
          <a:ln>
            <a:noFill/>
          </a:ln>
        </p:spPr>
        <p:txBody>
          <a:bodyPr wrap="square" anchor="t" lIns="0" rIns="0" tIns="0" bIns="0"/>
          <a:lstStyle/>
          <a:p>
            <a:pPr algn="l"/>
            <a:r>
              <a:rPr lang="en-US" sz="2700" b="1">
                <a:solidFill>
                  <a:srgbClr val="0B2E59"/>
                </a:solidFill>
                <a:latin typeface="Aptos"/>
              </a:rPr>
              <a:t>Passed</a:t>
            </a:r>
          </a:p>
        </p:txBody>
      </p:sp>
      <p:sp>
        <p:nvSpPr>
          <p:cNvPr id="23" name="Metric label 4"/>
          <p:cNvSpPr txBox="1"/>
          <p:nvPr/>
        </p:nvSpPr>
        <p:spPr>
          <a:xfrm>
            <a:off x="9310000" y="3000000"/>
            <a:ext cx="2220000" cy="380000"/>
          </a:xfrm>
          <a:prstGeom prst="rect">
            <a:avLst/>
          </a:prstGeom>
          <a:noFill/>
          <a:ln>
            <a:noFill/>
          </a:ln>
        </p:spPr>
        <p:txBody>
          <a:bodyPr wrap="square" anchor="t" lIns="0" rIns="0" tIns="0" bIns="0"/>
          <a:lstStyle/>
          <a:p>
            <a:pPr algn="l"/>
            <a:r>
              <a:rPr lang="en-US" sz="1150" b="1">
                <a:solidFill>
                  <a:srgbClr val="52667A"/>
                </a:solidFill>
                <a:latin typeface="Aptos"/>
              </a:rPr>
              <a:t>Accessibility Verified</a:t>
            </a:r>
          </a:p>
        </p:txBody>
      </p:sp>
      <p:sp>
        <p:nvSpPr>
          <p:cNvPr id="24"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Visual Intelligence</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visualizations: Executive Kpi Cards: Serviceable market capture</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visualizations: Regional Heat Map: Segment contribution margin</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visualizations: Choropleth Map: Digital trust score</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visualizations: Risk Matrix: Acquisition cost efficiency</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visualizations: Decision Matrix: Serviceable market capture</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Accessibility Assurance</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wcag target: WCAG 2.2 AA</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tagged pdf required: true</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alt text required: true</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table fallback required: true</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keyboard navigation required: true</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Publication Products</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exports: Premium PDF</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exports: Editable Word</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exports: Native PowerPoint</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exports: Statistical Excel</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exports: Board Deck</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Methodology</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research objectives: Assess market research performance and equity</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research objectives: Identify operational drivers and decision priorities</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evaluation questions: What outcomes are changing?</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evaluation questions: Who is being left behind?</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evaluation questions: Which actions are most likely to improve performance?</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Sampling Design</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sampling design: Stratified multi-stage synthetic demonstration design</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sampling frame: Synthetic frame covering programme-relevant population groups in Ghana</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stratification: Region</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stratification: Urban/rural</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stratification: Sex</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Weighting and Uncertainty</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sampling design: Stratified multi-stage synthetic demonstration design</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sampling frame: Synthetic frame covering programme-relevant population groups in Ghana</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stratification: Region</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stratification: Urban/rural</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stratification: Sex</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Reliability and Validity</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sampling design: Stratified multi-stage synthetic demonstration design</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sampling frame: Synthetic frame covering programme-relevant population groups in Ghana</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stratification: Region</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stratification: Urban/rural</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stratification: Sex</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Missing Data and Outliers</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sampling design: Stratified multi-stage synthetic demonstration design</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sampling frame: Synthetic frame covering programme-relevant population groups in Ghana</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stratification: Region</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stratification: Urban/rural</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stratification: Sex</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Regional Intelligence Map</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visual: Choropleth Map: Digital trust score</a:t>
            </a:r>
          </a:p>
        </p:txBody>
      </p:sp>
      <p:sp>
        <p:nvSpPr>
          <p:cNvPr id="15"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Performance Heat Map</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visual: Regional Heat Map: Segment contribution margin</a:t>
            </a:r>
          </a:p>
        </p:txBody>
      </p:sp>
      <p:sp>
        <p:nvSpPr>
          <p:cNvPr id="15"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Risk Matrix</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risk: External factors outside this publication's scope could offset gains in market research</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likelihood: Low</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impact: Medium</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risk: Evidence and monitoring capacity lags the pace of decisions being made on market research</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likelihood: Medium</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Decision Matrix</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Prioritise the two highest-value underserved segments.</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Test segment-specific pricing and propositions.</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Build visible privacy and fraud-protection signals.</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Shift acquisition to the most productive channel mix.</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Defend differentiation through service reliability.</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Opportunity Matrix</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Targeted acceleration in the lowest-performing part of market research</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Evidence-led reallocation of resources already committed to market research</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Stronger feedback accountability between frontline delivery and leadership</a:t>
            </a:r>
          </a:p>
        </p:txBody>
      </p:sp>
      <p:sp>
        <p:nvSpPr>
          <p:cNvPr id="21"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Cost of Inaction</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narrative: Delaying action on market research performance is unlikely to be neutral: the evidence suggests the current gap compounds rather than holds steady.</a:t>
            </a:r>
          </a:p>
        </p:txBody>
      </p:sp>
      <p:sp>
        <p:nvSpPr>
          <p:cNvPr id="15"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29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Ownership Matrix</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DEC-MAR-01</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DEC-MAR-02</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DEC-MAR-03</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DEC-MAR-04</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DEC-MAR-05</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30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Implementation Roadmap</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Prioritise the two highest-value underserved segments.</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Test segment-specific pricing and propositions.</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Build visible privacy and fraud-protection signals.</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Shift acquisition to the most productive channel mix.</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Defend differentiation through service reliability.</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31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Data Dictionary</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variable: indicator 1</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label: Synthetic Market Research indicator 1</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type: numeric</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allowed values: 0–100</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missing code: NA</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32</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Decision intelligence</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Appendices</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Technical methodology</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Sampling and weighting</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Evidence registry</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Statistical tables</a:t>
            </a:r>
          </a:p>
        </p:txBody>
      </p:sp>
      <p:sp>
        <p:nvSpPr>
          <p:cNvPr id="24" name="Number 5"/>
          <p:cNvSpPr/>
          <p:nvPr/>
        </p:nvSpPr>
        <p:spPr>
          <a:xfrm>
            <a:off x="640000" y="5040000"/>
            <a:ext cx="430000" cy="430000"/>
          </a:xfrm>
          <a:prstGeom prst="roundRect">
            <a:avLst/>
          </a:prstGeom>
          <a:solidFill>
            <a:srgbClr val="0B6E4F"/>
          </a:solidFill>
          <a:ln>
            <a:noFill/>
          </a:ln>
        </p:spPr>
      </p:sp>
      <p:sp>
        <p:nvSpPr>
          <p:cNvPr id="25" name="Number text 5"/>
          <p:cNvSpPr txBox="1"/>
          <p:nvPr/>
        </p:nvSpPr>
        <p:spPr>
          <a:xfrm>
            <a:off x="640000" y="5115000"/>
            <a:ext cx="430000" cy="220000"/>
          </a:xfrm>
          <a:prstGeom prst="rect">
            <a:avLst/>
          </a:prstGeom>
          <a:noFill/>
          <a:ln>
            <a:noFill/>
          </a:ln>
        </p:spPr>
        <p:txBody>
          <a:bodyPr wrap="square" anchor="t" lIns="0" rIns="0" tIns="0" bIns="0"/>
          <a:lstStyle/>
          <a:p>
            <a:pPr algn="c"/>
            <a:r>
              <a:rPr lang="en-US" sz="1250" b="1">
                <a:solidFill>
                  <a:srgbClr val="FFFFFF"/>
                </a:solidFill>
                <a:latin typeface="Aptos"/>
              </a:rPr>
              <a:t>5</a:t>
            </a:r>
          </a:p>
        </p:txBody>
      </p:sp>
      <p:sp>
        <p:nvSpPr>
          <p:cNvPr id="26" name="Statement 5"/>
          <p:cNvSpPr txBox="1"/>
          <p:nvPr/>
        </p:nvSpPr>
        <p:spPr>
          <a:xfrm>
            <a:off x="1260000" y="5040000"/>
            <a:ext cx="9600000" cy="530000"/>
          </a:xfrm>
          <a:prstGeom prst="rect">
            <a:avLst/>
          </a:prstGeom>
          <a:noFill/>
          <a:ln>
            <a:noFill/>
          </a:ln>
        </p:spPr>
        <p:txBody>
          <a:bodyPr wrap="square" anchor="t" lIns="0" rIns="0" tIns="0" bIns="0"/>
          <a:lstStyle/>
          <a:p>
            <a:pPr algn="l"/>
            <a:r>
              <a:rPr lang="en-US" sz="1450">
                <a:solidFill>
                  <a:srgbClr val="102A43"/>
                </a:solidFill>
                <a:latin typeface="Aptos"/>
              </a:rPr>
              <a:t>Data dictionary</a:t>
            </a:r>
          </a:p>
        </p:txBody>
      </p:sp>
      <p:sp>
        <p:nvSpPr>
          <p:cNvPr id="27"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33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2192000" cy="6858000"/>
          </a:xfrm>
          <a:prstGeom prst="rect">
            <a:avLst/>
          </a:prstGeom>
          <a:solidFill>
            <a:srgbClr val="F5F8F6"/>
          </a:solidFill>
          <a:ln>
            <a:noFill/>
          </a:ln>
        </p:spPr>
      </p:sp>
      <p:sp>
        <p:nvSpPr>
          <p:cNvPr id="3" name="Top rule"/>
          <p:cNvSpPr/>
          <p:nvPr/>
        </p:nvSpPr>
        <p:spPr>
          <a:xfrm>
            <a:off x="0" y="0"/>
            <a:ext cx="12192000" cy="70000"/>
          </a:xfrm>
          <a:prstGeom prst="rect">
            <a:avLst/>
          </a:prstGeom>
          <a:solidFill>
            <a:srgbClr val="0B6E4F"/>
          </a:solidFill>
          <a:ln>
            <a:noFill/>
          </a:ln>
        </p:spPr>
      </p:sp>
      <p:sp>
        <p:nvSpPr>
          <p:cNvPr id="4" name="VoiceInsights logo bar 1"/>
          <p:cNvSpPr/>
          <p:nvPr/>
        </p:nvSpPr>
        <p:spPr>
          <a:xfrm>
            <a:off x="640000" y="400000"/>
            <a:ext cx="90000" cy="180000"/>
          </a:xfrm>
          <a:prstGeom prst="roundRect">
            <a:avLst/>
          </a:prstGeom>
          <a:solidFill>
            <a:srgbClr val="0B6E4F"/>
          </a:solidFill>
          <a:ln>
            <a:noFill/>
          </a:ln>
        </p:spPr>
      </p:sp>
      <p:sp>
        <p:nvSpPr>
          <p:cNvPr id="5" name="VoiceInsights logo bar 2"/>
          <p:cNvSpPr/>
          <p:nvPr/>
        </p:nvSpPr>
        <p:spPr>
          <a:xfrm>
            <a:off x="800000" y="315000"/>
            <a:ext cx="110000" cy="350000"/>
          </a:xfrm>
          <a:prstGeom prst="roundRect">
            <a:avLst/>
          </a:prstGeom>
          <a:solidFill>
            <a:srgbClr val="0B6E4F"/>
          </a:solidFill>
          <a:ln>
            <a:noFill/>
          </a:ln>
        </p:spPr>
      </p:sp>
      <p:sp>
        <p:nvSpPr>
          <p:cNvPr id="6" name="VoiceInsights logo bar 3"/>
          <p:cNvSpPr/>
          <p:nvPr/>
        </p:nvSpPr>
        <p:spPr>
          <a:xfrm>
            <a:off x="980000" y="210000"/>
            <a:ext cx="125000" cy="560000"/>
          </a:xfrm>
          <a:prstGeom prst="roundRect">
            <a:avLst/>
          </a:prstGeom>
          <a:solidFill>
            <a:srgbClr val="0B6E4F"/>
          </a:solidFill>
          <a:ln>
            <a:noFill/>
          </a:ln>
        </p:spPr>
      </p:sp>
      <p:sp>
        <p:nvSpPr>
          <p:cNvPr id="7" name="VoiceInsights logo bar 4"/>
          <p:cNvSpPr/>
          <p:nvPr/>
        </p:nvSpPr>
        <p:spPr>
          <a:xfrm>
            <a:off x="1175000" y="315000"/>
            <a:ext cx="110000" cy="350000"/>
          </a:xfrm>
          <a:prstGeom prst="roundRect">
            <a:avLst/>
          </a:prstGeom>
          <a:solidFill>
            <a:srgbClr val="0B6E4F"/>
          </a:solidFill>
          <a:ln>
            <a:noFill/>
          </a:ln>
        </p:spPr>
      </p:sp>
      <p:sp>
        <p:nvSpPr>
          <p:cNvPr id="8" name="VoiceInsights logo bar 5"/>
          <p:cNvSpPr/>
          <p:nvPr/>
        </p:nvSpPr>
        <p:spPr>
          <a:xfrm>
            <a:off x="1355000" y="400000"/>
            <a:ext cx="90000" cy="180000"/>
          </a:xfrm>
          <a:prstGeom prst="roundRect">
            <a:avLst/>
          </a:prstGeom>
          <a:solidFill>
            <a:srgbClr val="0B6E4F"/>
          </a:solidFill>
          <a:ln>
            <a:noFill/>
          </a:ln>
        </p:spPr>
      </p:sp>
      <p:sp>
        <p:nvSpPr>
          <p:cNvPr id="9" name="Brand"/>
          <p:cNvSpPr txBox="1"/>
          <p:nvPr/>
        </p:nvSpPr>
        <p:spPr>
          <a:xfrm>
            <a:off x="1300000" y="260000"/>
            <a:ext cx="3300000" cy="260000"/>
          </a:xfrm>
          <a:prstGeom prst="rect">
            <a:avLst/>
          </a:prstGeom>
          <a:noFill/>
          <a:ln>
            <a:noFill/>
          </a:ln>
        </p:spPr>
        <p:txBody>
          <a:bodyPr wrap="square" anchor="t" lIns="0" rIns="0" tIns="0" bIns="0"/>
          <a:lstStyle/>
          <a:p>
            <a:pPr algn="l"/>
            <a:r>
              <a:rPr lang="en-US" sz="1050" b="1">
                <a:solidFill>
                  <a:srgbClr val="0B6E4F"/>
                </a:solidFill>
                <a:latin typeface="Aptos"/>
              </a:rPr>
              <a:t>VOICEINSIGHTS AFRICA</a:t>
            </a:r>
          </a:p>
        </p:txBody>
      </p:sp>
      <p:sp>
        <p:nvSpPr>
          <p:cNvPr id="10" name="Section"/>
          <p:cNvSpPr txBox="1"/>
          <p:nvPr/>
        </p:nvSpPr>
        <p:spPr>
          <a:xfrm>
            <a:off x="640000" y="650000"/>
            <a:ext cx="8000000" cy="300000"/>
          </a:xfrm>
          <a:prstGeom prst="rect">
            <a:avLst/>
          </a:prstGeom>
          <a:noFill/>
          <a:ln>
            <a:noFill/>
          </a:ln>
        </p:spPr>
        <p:txBody>
          <a:bodyPr wrap="square" anchor="t" lIns="0" rIns="0" tIns="0" bIns="0"/>
          <a:lstStyle/>
          <a:p>
            <a:pPr algn="l"/>
            <a:r>
              <a:rPr lang="en-US" sz="1150" b="1">
                <a:solidFill>
                  <a:srgbClr val="0B6E4F"/>
                </a:solidFill>
                <a:latin typeface="Aptos"/>
              </a:rPr>
              <a:t>Responsible interpretation</a:t>
            </a:r>
          </a:p>
        </p:txBody>
      </p:sp>
      <p:sp>
        <p:nvSpPr>
          <p:cNvPr id="11" name="Title"/>
          <p:cNvSpPr txBox="1"/>
          <p:nvPr/>
        </p:nvSpPr>
        <p:spPr>
          <a:xfrm>
            <a:off x="640000" y="1020000"/>
            <a:ext cx="10600000" cy="700000"/>
          </a:xfrm>
          <a:prstGeom prst="rect">
            <a:avLst/>
          </a:prstGeom>
          <a:noFill/>
          <a:ln>
            <a:noFill/>
          </a:ln>
        </p:spPr>
        <p:txBody>
          <a:bodyPr wrap="square" anchor="t" lIns="0" rIns="0" tIns="0" bIns="0"/>
          <a:lstStyle/>
          <a:p>
            <a:pPr algn="l"/>
            <a:r>
              <a:rPr lang="en-US" sz="2700" b="1">
                <a:solidFill>
                  <a:srgbClr val="102A43"/>
                </a:solidFill>
                <a:latin typeface="Aptos"/>
              </a:rPr>
              <a:t>Limitations and Integrity</a:t>
            </a:r>
          </a:p>
        </p:txBody>
      </p:sp>
      <p:sp>
        <p:nvSpPr>
          <p:cNvPr id="12" name="Number 1"/>
          <p:cNvSpPr/>
          <p:nvPr/>
        </p:nvSpPr>
        <p:spPr>
          <a:xfrm>
            <a:off x="640000" y="2000000"/>
            <a:ext cx="430000" cy="430000"/>
          </a:xfrm>
          <a:prstGeom prst="roundRect">
            <a:avLst/>
          </a:prstGeom>
          <a:solidFill>
            <a:srgbClr val="D4AF37"/>
          </a:solidFill>
          <a:ln>
            <a:noFill/>
          </a:ln>
        </p:spPr>
      </p:sp>
      <p:sp>
        <p:nvSpPr>
          <p:cNvPr id="13" name="Number text 1"/>
          <p:cNvSpPr txBox="1"/>
          <p:nvPr/>
        </p:nvSpPr>
        <p:spPr>
          <a:xfrm>
            <a:off x="640000" y="2075000"/>
            <a:ext cx="430000" cy="220000"/>
          </a:xfrm>
          <a:prstGeom prst="rect">
            <a:avLst/>
          </a:prstGeom>
          <a:noFill/>
          <a:ln>
            <a:noFill/>
          </a:ln>
        </p:spPr>
        <p:txBody>
          <a:bodyPr wrap="square" anchor="t" lIns="0" rIns="0" tIns="0" bIns="0"/>
          <a:lstStyle/>
          <a:p>
            <a:pPr algn="c"/>
            <a:r>
              <a:rPr lang="en-US" sz="1250" b="1">
                <a:solidFill>
                  <a:srgbClr val="102A43"/>
                </a:solidFill>
                <a:latin typeface="Aptos"/>
              </a:rPr>
              <a:t>1</a:t>
            </a:r>
          </a:p>
        </p:txBody>
      </p:sp>
      <p:sp>
        <p:nvSpPr>
          <p:cNvPr id="14" name="Statement 1"/>
          <p:cNvSpPr txBox="1"/>
          <p:nvPr/>
        </p:nvSpPr>
        <p:spPr>
          <a:xfrm>
            <a:off x="1260000" y="2000000"/>
            <a:ext cx="9600000" cy="530000"/>
          </a:xfrm>
          <a:prstGeom prst="rect">
            <a:avLst/>
          </a:prstGeom>
          <a:noFill/>
          <a:ln>
            <a:noFill/>
          </a:ln>
        </p:spPr>
        <p:txBody>
          <a:bodyPr wrap="square" anchor="t" lIns="0" rIns="0" tIns="0" bIns="0"/>
          <a:lstStyle/>
          <a:p>
            <a:pPr algn="l"/>
            <a:r>
              <a:rPr lang="en-US" sz="1650" b="1">
                <a:solidFill>
                  <a:srgbClr val="102A43"/>
                </a:solidFill>
                <a:latin typeface="Aptos"/>
              </a:rPr>
              <a:t>All content is synthetic and must not be interpreted as official statistics</a:t>
            </a:r>
          </a:p>
        </p:txBody>
      </p:sp>
      <p:sp>
        <p:nvSpPr>
          <p:cNvPr id="15" name="Number 2"/>
          <p:cNvSpPr/>
          <p:nvPr/>
        </p:nvSpPr>
        <p:spPr>
          <a:xfrm>
            <a:off x="640000" y="2760000"/>
            <a:ext cx="430000" cy="430000"/>
          </a:xfrm>
          <a:prstGeom prst="roundRect">
            <a:avLst/>
          </a:prstGeom>
          <a:solidFill>
            <a:srgbClr val="0B6E4F"/>
          </a:solidFill>
          <a:ln>
            <a:noFill/>
          </a:ln>
        </p:spPr>
      </p:sp>
      <p:sp>
        <p:nvSpPr>
          <p:cNvPr id="16" name="Number text 2"/>
          <p:cNvSpPr txBox="1"/>
          <p:nvPr/>
        </p:nvSpPr>
        <p:spPr>
          <a:xfrm>
            <a:off x="640000" y="2835000"/>
            <a:ext cx="430000" cy="220000"/>
          </a:xfrm>
          <a:prstGeom prst="rect">
            <a:avLst/>
          </a:prstGeom>
          <a:noFill/>
          <a:ln>
            <a:noFill/>
          </a:ln>
        </p:spPr>
        <p:txBody>
          <a:bodyPr wrap="square" anchor="t" lIns="0" rIns="0" tIns="0" bIns="0"/>
          <a:lstStyle/>
          <a:p>
            <a:pPr algn="c"/>
            <a:r>
              <a:rPr lang="en-US" sz="1250" b="1">
                <a:solidFill>
                  <a:srgbClr val="FFFFFF"/>
                </a:solidFill>
                <a:latin typeface="Aptos"/>
              </a:rPr>
              <a:t>2</a:t>
            </a:r>
          </a:p>
        </p:txBody>
      </p:sp>
      <p:sp>
        <p:nvSpPr>
          <p:cNvPr id="17" name="Statement 2"/>
          <p:cNvSpPr txBox="1"/>
          <p:nvPr/>
        </p:nvSpPr>
        <p:spPr>
          <a:xfrm>
            <a:off x="1260000" y="2760000"/>
            <a:ext cx="9600000" cy="530000"/>
          </a:xfrm>
          <a:prstGeom prst="rect">
            <a:avLst/>
          </a:prstGeom>
          <a:noFill/>
          <a:ln>
            <a:noFill/>
          </a:ln>
        </p:spPr>
        <p:txBody>
          <a:bodyPr wrap="square" anchor="t" lIns="0" rIns="0" tIns="0" bIns="0"/>
          <a:lstStyle/>
          <a:p>
            <a:pPr algn="l"/>
            <a:r>
              <a:rPr lang="en-US" sz="1450">
                <a:solidFill>
                  <a:srgbClr val="102A43"/>
                </a:solidFill>
                <a:latin typeface="Aptos"/>
              </a:rPr>
              <a:t>Geographic references are illustrative</a:t>
            </a:r>
          </a:p>
        </p:txBody>
      </p:sp>
      <p:sp>
        <p:nvSpPr>
          <p:cNvPr id="18" name="Number 3"/>
          <p:cNvSpPr/>
          <p:nvPr/>
        </p:nvSpPr>
        <p:spPr>
          <a:xfrm>
            <a:off x="640000" y="3520000"/>
            <a:ext cx="430000" cy="430000"/>
          </a:xfrm>
          <a:prstGeom prst="roundRect">
            <a:avLst/>
          </a:prstGeom>
          <a:solidFill>
            <a:srgbClr val="0B6E4F"/>
          </a:solidFill>
          <a:ln>
            <a:noFill/>
          </a:ln>
        </p:spPr>
      </p:sp>
      <p:sp>
        <p:nvSpPr>
          <p:cNvPr id="19" name="Number text 3"/>
          <p:cNvSpPr txBox="1"/>
          <p:nvPr/>
        </p:nvSpPr>
        <p:spPr>
          <a:xfrm>
            <a:off x="640000" y="3595000"/>
            <a:ext cx="430000" cy="220000"/>
          </a:xfrm>
          <a:prstGeom prst="rect">
            <a:avLst/>
          </a:prstGeom>
          <a:noFill/>
          <a:ln>
            <a:noFill/>
          </a:ln>
        </p:spPr>
        <p:txBody>
          <a:bodyPr wrap="square" anchor="t" lIns="0" rIns="0" tIns="0" bIns="0"/>
          <a:lstStyle/>
          <a:p>
            <a:pPr algn="c"/>
            <a:r>
              <a:rPr lang="en-US" sz="1250" b="1">
                <a:solidFill>
                  <a:srgbClr val="FFFFFF"/>
                </a:solidFill>
                <a:latin typeface="Aptos"/>
              </a:rPr>
              <a:t>3</a:t>
            </a:r>
          </a:p>
        </p:txBody>
      </p:sp>
      <p:sp>
        <p:nvSpPr>
          <p:cNvPr id="20" name="Statement 3"/>
          <p:cNvSpPr txBox="1"/>
          <p:nvPr/>
        </p:nvSpPr>
        <p:spPr>
          <a:xfrm>
            <a:off x="1260000" y="3520000"/>
            <a:ext cx="9600000" cy="530000"/>
          </a:xfrm>
          <a:prstGeom prst="rect">
            <a:avLst/>
          </a:prstGeom>
          <a:noFill/>
          <a:ln>
            <a:noFill/>
          </a:ln>
        </p:spPr>
        <p:txBody>
          <a:bodyPr wrap="square" anchor="t" lIns="0" rIns="0" tIns="0" bIns="0"/>
          <a:lstStyle/>
          <a:p>
            <a:pPr algn="l"/>
            <a:r>
              <a:rPr lang="en-US" sz="1450">
                <a:solidFill>
                  <a:srgbClr val="102A43"/>
                </a:solidFill>
                <a:latin typeface="Aptos"/>
              </a:rPr>
              <a:t>Budget implications are directional and require formal costing</a:t>
            </a:r>
          </a:p>
        </p:txBody>
      </p:sp>
      <p:sp>
        <p:nvSpPr>
          <p:cNvPr id="21" name="Number 4"/>
          <p:cNvSpPr/>
          <p:nvPr/>
        </p:nvSpPr>
        <p:spPr>
          <a:xfrm>
            <a:off x="640000" y="4280000"/>
            <a:ext cx="430000" cy="430000"/>
          </a:xfrm>
          <a:prstGeom prst="roundRect">
            <a:avLst/>
          </a:prstGeom>
          <a:solidFill>
            <a:srgbClr val="0B6E4F"/>
          </a:solidFill>
          <a:ln>
            <a:noFill/>
          </a:ln>
        </p:spPr>
      </p:sp>
      <p:sp>
        <p:nvSpPr>
          <p:cNvPr id="22" name="Number text 4"/>
          <p:cNvSpPr txBox="1"/>
          <p:nvPr/>
        </p:nvSpPr>
        <p:spPr>
          <a:xfrm>
            <a:off x="640000" y="4355000"/>
            <a:ext cx="430000" cy="220000"/>
          </a:xfrm>
          <a:prstGeom prst="rect">
            <a:avLst/>
          </a:prstGeom>
          <a:noFill/>
          <a:ln>
            <a:noFill/>
          </a:ln>
        </p:spPr>
        <p:txBody>
          <a:bodyPr wrap="square" anchor="t" lIns="0" rIns="0" tIns="0" bIns="0"/>
          <a:lstStyle/>
          <a:p>
            <a:pPr algn="c"/>
            <a:r>
              <a:rPr lang="en-US" sz="1250" b="1">
                <a:solidFill>
                  <a:srgbClr val="FFFFFF"/>
                </a:solidFill>
                <a:latin typeface="Aptos"/>
              </a:rPr>
              <a:t>4</a:t>
            </a:r>
          </a:p>
        </p:txBody>
      </p:sp>
      <p:sp>
        <p:nvSpPr>
          <p:cNvPr id="23" name="Statement 4"/>
          <p:cNvSpPr txBox="1"/>
          <p:nvPr/>
        </p:nvSpPr>
        <p:spPr>
          <a:xfrm>
            <a:off x="1260000" y="4280000"/>
            <a:ext cx="9600000" cy="530000"/>
          </a:xfrm>
          <a:prstGeom prst="rect">
            <a:avLst/>
          </a:prstGeom>
          <a:noFill/>
          <a:ln>
            <a:noFill/>
          </a:ln>
        </p:spPr>
        <p:txBody>
          <a:bodyPr wrap="square" anchor="t" lIns="0" rIns="0" tIns="0" bIns="0"/>
          <a:lstStyle/>
          <a:p>
            <a:pPr algn="l"/>
            <a:r>
              <a:rPr lang="en-US" sz="1450">
                <a:solidFill>
                  <a:srgbClr val="102A43"/>
                </a:solidFill>
                <a:latin typeface="Aptos"/>
              </a:rPr>
              <a:t>Causal claims are not made without an appropriate design</a:t>
            </a:r>
          </a:p>
        </p:txBody>
      </p:sp>
      <p:sp>
        <p:nvSpPr>
          <p:cNvPr id="24" name="Footer"/>
          <p:cNvSpPr txBox="1"/>
          <p:nvPr/>
        </p:nvSpPr>
        <p:spPr>
          <a:xfrm>
            <a:off x="640000" y="6360000"/>
            <a:ext cx="10700000" cy="250000"/>
          </a:xfrm>
          <a:prstGeom prst="rect">
            <a:avLst/>
          </a:prstGeom>
          <a:noFill/>
          <a:ln>
            <a:noFill/>
          </a:ln>
        </p:spPr>
        <p:txBody>
          <a:bodyPr wrap="square" anchor="t" lIns="0" rIns="0" tIns="0" bIns="0"/>
          <a:lstStyle/>
          <a:p>
            <a:pPr algn="l"/>
            <a:r>
              <a:rPr lang="en-US" sz="900">
                <a:solidFill>
                  <a:srgbClr val="52667A"/>
                </a:solidFill>
                <a:latin typeface="Aptos"/>
              </a:rPr>
              <a:t>VoiceInsights Africa | Synthetic Demonstration Publication | 34</a:t>
            </a:r>
          </a:p>
        </p:txBody>
      </p:sp>
    </p:spTree>
  </p:cSld>
  <p:clrMapOvr>
    <a:masterClrMapping/>
  </p:clrMapOvr>
</p:sld>
</file>

<file path=docProps/app.xml><?xml version="1.0" encoding="utf-8"?>
<Properties xmlns="http://schemas.openxmlformats.org/officeDocument/2006/extended-properties">
  <Application>VoiceInsights Africa</Application>
  <Slides>34</Slides>
</Properties>
</file>

<file path=docProps/core.xml><?xml version="1.0" encoding="utf-8"?>
<cp:coreProperties xmlns:cp="http://schemas.openxmlformats.org/package/2006/metadata/core-properties" xmlns:dc="http://purl.org/dc/elements/1.1/">
  <dc:title>Market Intelligence Report</dc:title>
  <dc:creator>VoiceInsights Africa</dc:creator>
</cp:coreProperties>
</file>