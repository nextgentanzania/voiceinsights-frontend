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B7A75"/>
          </a:solidFill>
          <a:ln w="12700">
            <a:solidFill>
              <a:srgbClr val="0B7A75"/>
            </a:solidFill>
            <a:prstDash val="solid"/>
          </a:ln>
        </p:spPr>
      </p:sp>
      <p:sp>
        <p:nvSpPr>
          <p:cNvPr id="3" name="Shape 1"/>
          <p:cNvSpPr/>
          <p:nvPr/>
        </p:nvSpPr>
        <p:spPr>
          <a:xfrm>
            <a:off x="0" y="1536192"/>
            <a:ext cx="12191695" cy="91440"/>
          </a:xfrm>
          <a:prstGeom prst="rect">
            <a:avLst/>
          </a:prstGeom>
          <a:solidFill>
            <a:srgbClr val="D4AF37"/>
          </a:solidFill>
          <a:ln w="12700">
            <a:solidFill>
              <a:srgbClr val="D4AF37"/>
            </a:solidFill>
            <a:prstDash val="solid"/>
          </a:ln>
        </p:spPr>
      </p:sp>
      <p:sp>
        <p:nvSpPr>
          <p:cNvPr id="4" name="Shape 2"/>
          <p:cNvSpPr/>
          <p:nvPr/>
        </p:nvSpPr>
        <p:spPr>
          <a:xfrm>
            <a:off x="914400" y="1261872"/>
            <a:ext cx="2057400" cy="64008"/>
          </a:xfrm>
          <a:prstGeom prst="rect">
            <a:avLst/>
          </a:prstGeom>
          <a:solidFill>
            <a:srgbClr val="D4AF37"/>
          </a:solidFill>
          <a:ln w="12700">
            <a:solidFill>
              <a:srgbClr val="D4AF37"/>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D4AF37"/>
                </a:solidFill>
              </a:rPr>
              <a:t>FLAGSHIP SYNTHETIC DEMONSTRATION PUBLICATION | COVER 11</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Market Intelligence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Ghana | Digital Financial Services</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This flagship synthetic demonstration publication examines digital financial services performance in Ghana.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Prioritise the two highest-value underserved segments for digital financial services.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2398</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81%</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Across Ghana's synthetic study areas, addressable demand is the clearest differentiator of digital financial services performance. The evidence is strongest in Greater Accra,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Ghana's synthetic study areas, segment economics is the clearest differentiator of digital financial services performance. The evidence is strongest in Ashanti,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Ghana's synthetic study areas, digital trust is the clearest differentiator of digital financial services performance. The evidence is strongest in Northern Growth Markets,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Greater Accra</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3741725"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62%</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Ashanti</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3802075" cy="201168"/>
          </a:xfrm>
          <a:prstGeom prst="roundRect">
            <a:avLst>
              <a:gd name="adj" fmla="val 13636"/>
            </a:avLst>
          </a:prstGeom>
          <a:solidFill>
            <a:srgbClr val="D4AF37"/>
          </a:solidFill>
          <a:ln w="12700">
            <a:solidFill>
              <a:srgbClr val="D4AF37"/>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63%</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Northern Growth Markets</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3862426"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64%</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Digital Nationwide</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3922776" cy="201168"/>
          </a:xfrm>
          <a:prstGeom prst="roundRect">
            <a:avLst>
              <a:gd name="adj" fmla="val 13636"/>
            </a:avLst>
          </a:prstGeom>
          <a:solidFill>
            <a:srgbClr val="D4AF37"/>
          </a:solidFill>
          <a:ln w="12700">
            <a:solidFill>
              <a:srgbClr val="D4AF37"/>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Serviceable market capture</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3802075"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633765" y="1737360"/>
            <a:ext cx="0" cy="347472"/>
          </a:xfrm>
          <a:prstGeom prst="line">
            <a:avLst/>
          </a:prstGeom>
          <a:noFill/>
          <a:ln w="19050">
            <a:solidFill>
              <a:srgbClr val="102A43"/>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63% / target 87%</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Segment contribution margin</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3862426" cy="201168"/>
          </a:xfrm>
          <a:prstGeom prst="roundRect">
            <a:avLst>
              <a:gd name="adj" fmla="val 13636"/>
            </a:avLst>
          </a:prstGeom>
          <a:solidFill>
            <a:srgbClr val="D4AF37"/>
          </a:solidFill>
          <a:ln w="12700">
            <a:solidFill>
              <a:srgbClr val="D4AF37"/>
            </a:solidFill>
            <a:prstDash val="solid"/>
          </a:ln>
        </p:spPr>
      </p:sp>
      <p:sp>
        <p:nvSpPr>
          <p:cNvPr id="16" name="Shape 13"/>
          <p:cNvSpPr/>
          <p:nvPr/>
        </p:nvSpPr>
        <p:spPr>
          <a:xfrm>
            <a:off x="8694115" y="2359152"/>
            <a:ext cx="0" cy="347472"/>
          </a:xfrm>
          <a:prstGeom prst="line">
            <a:avLst/>
          </a:prstGeom>
          <a:noFill/>
          <a:ln w="19050">
            <a:solidFill>
              <a:srgbClr val="102A43"/>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64% / target 88%</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Digital trust score</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3922776"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8754466" y="2980944"/>
            <a:ext cx="0" cy="347472"/>
          </a:xfrm>
          <a:prstGeom prst="line">
            <a:avLst/>
          </a:prstGeom>
          <a:noFill/>
          <a:ln w="19050">
            <a:solidFill>
              <a:srgbClr val="102A43"/>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65% / target 89%</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Acquisition cost efficiency</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3983126" cy="201168"/>
          </a:xfrm>
          <a:prstGeom prst="roundRect">
            <a:avLst>
              <a:gd name="adj" fmla="val 13636"/>
            </a:avLst>
          </a:prstGeom>
          <a:solidFill>
            <a:srgbClr val="D4AF37"/>
          </a:solidFill>
          <a:ln w="12700">
            <a:solidFill>
              <a:srgbClr val="D4AF37"/>
            </a:solidFill>
            <a:prstDash val="solid"/>
          </a:ln>
        </p:spPr>
      </p:sp>
      <p:sp>
        <p:nvSpPr>
          <p:cNvPr id="26" name="Shape 23"/>
          <p:cNvSpPr/>
          <p:nvPr/>
        </p:nvSpPr>
        <p:spPr>
          <a:xfrm>
            <a:off x="8814816" y="3602736"/>
            <a:ext cx="0" cy="347472"/>
          </a:xfrm>
          <a:prstGeom prst="line">
            <a:avLst/>
          </a:prstGeom>
          <a:noFill/>
          <a:ln w="19050">
            <a:solidFill>
              <a:srgbClr val="102A43"/>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66% / target 90%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Greater Accra, addressable demand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Ashanti, segment economics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Northern Growth Markets, digital trust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Prioritise the two highest-value underserved segments for digital financial services.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Test segment-specific pricing and propositions for digital financial services.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Build visible privacy and fraud-protection signals for digital financial services.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Shift acquisition to the most productive channel mix for digital financial services.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Defend differentiation through service reliability for digital financial services.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Prioritise the two highest-value underserved segments for digital financial services.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Test segment-specific pricing and propositions for digital financial services.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Build visible privacy and fraud-protection signals for digital financial services.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Shift acquisition to the most productive channel mix for digital financial services.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Defend differentiation through service reliability for digital financial services.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Greater Accra, addressable demand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Ashanti, segment economics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Northern Growth Markets, digital trust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Digital Nationwide, channel productivity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Greater Accra, competitive differentiation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sampling frame: Synthetic frame covering programme-relevant population groups in Ghana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sample size: 2398</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Data Protection and Privacy Controls: The publication uses governed response, evidence and export data.</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Responsible AI: AI-assisted interpretation requires grounding, human review, privacy and limitations.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Accessibility: Publications must be readable and operable across formats and assistive technologies.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SDG Context-specific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A4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D4AF37"/>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Intelligence Report</dc:title>
  <dc:subject>Synthetic Demonstration Publication</dc:subject>
  <dc:creator>VoiceInsights Africa</dc:creator>
  <cp:lastModifiedBy>VoiceInsights Africa</cp:lastModifiedBy>
  <cp:revision>1</cp:revision>
  <dcterms:created xsi:type="dcterms:W3CDTF">2026-07-12T22:51:25Z</dcterms:created>
  <dcterms:modified xsi:type="dcterms:W3CDTF">2026-07-12T22:51:25Z</dcterms:modified>
</cp:coreProperties>
</file>