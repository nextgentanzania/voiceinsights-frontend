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4C3C"/>
        </a:solidFill>
      </p:bgPr>
    </p:bg>
    <p:spTree>
      <p:nvGrpSpPr>
        <p:cNvPr id="1" name=""/>
        <p:cNvGrpSpPr/>
        <p:nvPr/>
      </p:nvGrpSpPr>
      <p:grpSpPr>
        <a:xfrm>
          <a:off x="0" y="0"/>
          <a:ext cx="0" cy="0"/>
          <a:chOff x="0" y="0"/>
          <a:chExt cx="0" cy="0"/>
        </a:xfrm>
      </p:grpSpPr>
      <p:sp>
        <p:nvSpPr>
          <p:cNvPr id="2" name="Shape 0"/>
          <p:cNvSpPr/>
          <p:nvPr/>
        </p:nvSpPr>
        <p:spPr>
          <a:xfrm>
            <a:off x="0" y="5349240"/>
            <a:ext cx="12191695" cy="1508760"/>
          </a:xfrm>
          <a:prstGeom prst="rect">
            <a:avLst/>
          </a:prstGeom>
          <a:solidFill>
            <a:srgbClr val="2F855A"/>
          </a:solidFill>
          <a:ln w="12700">
            <a:solidFill>
              <a:srgbClr val="2F855A"/>
            </a:solidFill>
            <a:prstDash val="solid"/>
          </a:ln>
        </p:spPr>
      </p:sp>
      <p:sp>
        <p:nvSpPr>
          <p:cNvPr id="3" name="Shape 1"/>
          <p:cNvSpPr/>
          <p:nvPr/>
        </p:nvSpPr>
        <p:spPr>
          <a:xfrm>
            <a:off x="0" y="5120640"/>
            <a:ext cx="12191695" cy="91440"/>
          </a:xfrm>
          <a:prstGeom prst="rect">
            <a:avLst/>
          </a:prstGeom>
          <a:solidFill>
            <a:srgbClr val="E0B33D"/>
          </a:solidFill>
          <a:ln w="12700">
            <a:solidFill>
              <a:srgbClr val="E0B33D"/>
            </a:solidFill>
            <a:prstDash val="solid"/>
          </a:ln>
        </p:spPr>
      </p:sp>
      <p:sp>
        <p:nvSpPr>
          <p:cNvPr id="4" name="Shape 2"/>
          <p:cNvSpPr/>
          <p:nvPr/>
        </p:nvSpPr>
        <p:spPr>
          <a:xfrm>
            <a:off x="1554480" y="1261872"/>
            <a:ext cx="1097280" cy="64008"/>
          </a:xfrm>
          <a:prstGeom prst="rect">
            <a:avLst/>
          </a:prstGeom>
          <a:solidFill>
            <a:srgbClr val="E0B33D"/>
          </a:solidFill>
          <a:ln w="12700">
            <a:solidFill>
              <a:srgbClr val="E0B33D"/>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E0B33D"/>
                </a:solidFill>
              </a:rPr>
              <a:t>FLAGSHIP SYNTHETIC DEMONSTRATION PUBLICATION | COVER 8</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Community Scorecard Intelligence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Malawi | Primary Healthcare</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This flagship synthetic demonstration publication examines primary healthcare performance in Malawi.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Agree facility-level service improvement contracts for primary healthcare.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2437</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86%</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Across Malawi's synthetic study areas, respectful care is the clearest differentiator of primary healthcare performance. The evidence is strongest in Central Facilities,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Malawi's synthetic study areas, medicine availability is the clearest differentiator of primary healthcare performance. The evidence is strongest in Northern Facilities,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Malawi's synthetic study areas, wait-time reliability is the clearest differentiator of primary healthcare performance. The evidence is strongest in Southern Facilities,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Central Facilities</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922776"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65%</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Northern Facilities</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3983126" cy="201168"/>
          </a:xfrm>
          <a:prstGeom prst="roundRect">
            <a:avLst>
              <a:gd name="adj" fmla="val 13636"/>
            </a:avLst>
          </a:prstGeom>
          <a:solidFill>
            <a:srgbClr val="E0B33D"/>
          </a:solidFill>
          <a:ln w="12700">
            <a:solidFill>
              <a:srgbClr val="E0B33D"/>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66%</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Southern Facilities</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043477"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67%</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Hard-to-Reach Facilities</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4103827" cy="201168"/>
          </a:xfrm>
          <a:prstGeom prst="roundRect">
            <a:avLst>
              <a:gd name="adj" fmla="val 13636"/>
            </a:avLst>
          </a:prstGeom>
          <a:solidFill>
            <a:srgbClr val="E0B33D"/>
          </a:solidFill>
          <a:ln w="12700">
            <a:solidFill>
              <a:srgbClr val="E0B33D"/>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68%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Respectful care score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077870"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935517" y="1737360"/>
            <a:ext cx="0" cy="347472"/>
          </a:xfrm>
          <a:prstGeom prst="line">
            <a:avLst/>
          </a:prstGeom>
          <a:noFill/>
          <a:ln w="19050">
            <a:solidFill>
              <a:srgbClr val="174C3C"/>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51% / target 92%</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Tracer medicine availability</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138221" cy="201168"/>
          </a:xfrm>
          <a:prstGeom prst="roundRect">
            <a:avLst>
              <a:gd name="adj" fmla="val 13636"/>
            </a:avLst>
          </a:prstGeom>
          <a:solidFill>
            <a:srgbClr val="E0B33D"/>
          </a:solidFill>
          <a:ln w="12700">
            <a:solidFill>
              <a:srgbClr val="E0B33D"/>
            </a:solidFill>
            <a:prstDash val="solid"/>
          </a:ln>
        </p:spPr>
      </p:sp>
      <p:sp>
        <p:nvSpPr>
          <p:cNvPr id="16" name="Shape 13"/>
          <p:cNvSpPr/>
          <p:nvPr/>
        </p:nvSpPr>
        <p:spPr>
          <a:xfrm>
            <a:off x="7969910" y="2359152"/>
            <a:ext cx="0" cy="347472"/>
          </a:xfrm>
          <a:prstGeom prst="line">
            <a:avLst/>
          </a:prstGeom>
          <a:noFill/>
          <a:ln w="19050">
            <a:solidFill>
              <a:srgbClr val="174C3C"/>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52% / target 76%</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Median wait-time compliance</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198571"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030261" y="2980944"/>
            <a:ext cx="0" cy="347472"/>
          </a:xfrm>
          <a:prstGeom prst="line">
            <a:avLst/>
          </a:prstGeom>
          <a:noFill/>
          <a:ln w="19050">
            <a:solidFill>
              <a:srgbClr val="174C3C"/>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53% / target 77%</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Community action closure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258922" cy="201168"/>
          </a:xfrm>
          <a:prstGeom prst="roundRect">
            <a:avLst>
              <a:gd name="adj" fmla="val 13636"/>
            </a:avLst>
          </a:prstGeom>
          <a:solidFill>
            <a:srgbClr val="E0B33D"/>
          </a:solidFill>
          <a:ln w="12700">
            <a:solidFill>
              <a:srgbClr val="E0B33D"/>
            </a:solidFill>
            <a:prstDash val="solid"/>
          </a:ln>
        </p:spPr>
      </p:sp>
      <p:sp>
        <p:nvSpPr>
          <p:cNvPr id="26" name="Shape 23"/>
          <p:cNvSpPr/>
          <p:nvPr/>
        </p:nvSpPr>
        <p:spPr>
          <a:xfrm>
            <a:off x="8090611" y="3602736"/>
            <a:ext cx="0" cy="347472"/>
          </a:xfrm>
          <a:prstGeom prst="line">
            <a:avLst/>
          </a:prstGeom>
          <a:noFill/>
          <a:ln w="19050">
            <a:solidFill>
              <a:srgbClr val="174C3C"/>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54% / target 78%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Central Facilities, respectful care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Northern Facilities, medicine availability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Southern Facilities, wait-time reliability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Agree facility-level service improvement contracts for primary healthcare.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Stabilise tracer-medicine availability for primary healthcare.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Introduce visible wait-time and triage standards for primary healthcare.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Fund priority disability-access adaptations for primary healthcare.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Hold quarterly community-provider evidence reviews for primary healthcare.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Agree facility-level service improvement contracts for primary healthcare.</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Stabilise tracer-medicine availability for primary healthcare.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Introduce visible wait-time and triage standards for primary healthcare.</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Fund priority disability-access adaptations for primary healthcare.</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Hold quarterly community-provider evidence reviews for primary healthcare.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Central Facilities, respectful care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Northern Facilities, medicine availability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Southern Facilities, wait-time reliability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Hard-to-Reach Facilities, disability access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Central Facilities, provider-community accountability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sampling frame: Synthetic frame covering programme-relevant population groups in Malawi</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sample size: 2437</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Results-Based Management: Findings and recommendations are connected to outputs, outcomes and indicators.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Theory of Change: The report tests causal pathways, assumptions and risks without claiming unsupported attribution.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SDG 3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4C3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E0B33D"/>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Scorecard Intelligence Report</dc:title>
  <dc:subject>Synthetic Demonstration Publication</dc:subject>
  <dc:creator>VoiceInsights Africa</dc:creator>
  <cp:lastModifiedBy>VoiceInsights Africa</cp:lastModifiedBy>
  <cp:revision>1</cp:revision>
  <dcterms:created xsi:type="dcterms:W3CDTF">2026-07-12T22:51:25Z</dcterms:created>
  <dcterms:modified xsi:type="dcterms:W3CDTF">2026-07-12T22:51:25Z</dcterms:modified>
</cp:coreProperties>
</file>