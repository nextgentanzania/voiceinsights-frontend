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1B6E"/>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7446A8"/>
          </a:solidFill>
          <a:ln w="12700">
            <a:solidFill>
              <a:srgbClr val="7446A8"/>
            </a:solidFill>
            <a:prstDash val="solid"/>
          </a:ln>
        </p:spPr>
      </p:sp>
      <p:sp>
        <p:nvSpPr>
          <p:cNvPr id="3" name="Shape 1"/>
          <p:cNvSpPr/>
          <p:nvPr/>
        </p:nvSpPr>
        <p:spPr>
          <a:xfrm>
            <a:off x="2542032" y="0"/>
            <a:ext cx="91440" cy="6858000"/>
          </a:xfrm>
          <a:prstGeom prst="rect">
            <a:avLst/>
          </a:prstGeom>
          <a:solidFill>
            <a:srgbClr val="D4AF37"/>
          </a:solidFill>
          <a:ln w="12700">
            <a:solidFill>
              <a:srgbClr val="D4AF37"/>
            </a:solidFill>
            <a:prstDash val="solid"/>
          </a:ln>
        </p:spPr>
      </p:sp>
      <p:sp>
        <p:nvSpPr>
          <p:cNvPr id="4" name="Shape 2"/>
          <p:cNvSpPr/>
          <p:nvPr/>
        </p:nvSpPr>
        <p:spPr>
          <a:xfrm>
            <a:off x="1234440" y="1261872"/>
            <a:ext cx="1737360" cy="64008"/>
          </a:xfrm>
          <a:prstGeom prst="rect">
            <a:avLst/>
          </a:prstGeom>
          <a:solidFill>
            <a:srgbClr val="D4AF37"/>
          </a:solidFill>
          <a:ln w="12700">
            <a:solidFill>
              <a:srgbClr val="D4AF37"/>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D4AF37"/>
                </a:solidFill>
              </a:rPr>
              <a:t>FLAGSHIP SYNTHETIC DEMONSTRATION PUBLICATION | COVER 2</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Donor Impact Evaluation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Uganda | Integrated Livelihoods</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This flagship synthetic demonstration publication examines integrated livelihoods performance in Uganda.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Approve an adaptive results and learning window for integrated livelihoods.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3C1B6E"/>
                </a:solidFill>
              </a:rPr>
              <a:t>1728</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3C1B6E"/>
                </a:solidFill>
              </a:rPr>
              <a:t>91%</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3C1B6E"/>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3C1B6E"/>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Across Uganda's synthetic study areas, outcome additionality is the clearest differentiator of integrated livelihoods performance. The evidence is strongest in Northern Livelihoods Cluster,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Across Uganda's synthetic study areas, value for money is the clearest differentiator of integrated livelihoods performance. The evidence is strongest in Eastern Enterprise Cluster,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Across Uganda's synthetic study areas, livelihood resilience is the clearest differentiator of integrated livelihoods performance. The evidence is strongest in Lake Communities,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Northern Livelihoods Cluster</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405579"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73%</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Eastern Enterprise Cluster</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4465930" cy="201168"/>
          </a:xfrm>
          <a:prstGeom prst="roundRect">
            <a:avLst>
              <a:gd name="adj" fmla="val 13636"/>
            </a:avLst>
          </a:prstGeom>
          <a:solidFill>
            <a:srgbClr val="D4AF37"/>
          </a:solidFill>
          <a:ln w="12700">
            <a:solidFill>
              <a:srgbClr val="D4AF37"/>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74%</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Lake Communities</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4526280"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75%</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Central Markets</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4586630" cy="201168"/>
          </a:xfrm>
          <a:prstGeom prst="roundRect">
            <a:avLst>
              <a:gd name="adj" fmla="val 13636"/>
            </a:avLst>
          </a:prstGeom>
          <a:solidFill>
            <a:srgbClr val="D4AF37"/>
          </a:solidFill>
          <a:ln w="12700">
            <a:solidFill>
              <a:srgbClr val="D4AF37"/>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Outcome additionality index</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405579"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211312" y="1737360"/>
            <a:ext cx="0" cy="347472"/>
          </a:xfrm>
          <a:prstGeom prst="line">
            <a:avLst/>
          </a:prstGeom>
          <a:noFill/>
          <a:ln w="19050">
            <a:solidFill>
              <a:srgbClr val="3C1B6E"/>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73% / target 80%</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Cost per sustained outcome</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4465930" cy="201168"/>
          </a:xfrm>
          <a:prstGeom prst="roundRect">
            <a:avLst>
              <a:gd name="adj" fmla="val 13636"/>
            </a:avLst>
          </a:prstGeom>
          <a:solidFill>
            <a:srgbClr val="D4AF37"/>
          </a:solidFill>
          <a:ln w="12700">
            <a:solidFill>
              <a:srgbClr val="D4AF37"/>
            </a:solidFill>
            <a:prstDash val="solid"/>
          </a:ln>
        </p:spPr>
      </p:sp>
      <p:sp>
        <p:nvSpPr>
          <p:cNvPr id="16" name="Shape 13"/>
          <p:cNvSpPr/>
          <p:nvPr/>
        </p:nvSpPr>
        <p:spPr>
          <a:xfrm>
            <a:off x="8271662" y="2359152"/>
            <a:ext cx="0" cy="347472"/>
          </a:xfrm>
          <a:prstGeom prst="line">
            <a:avLst/>
          </a:prstGeom>
          <a:noFill/>
          <a:ln w="19050">
            <a:solidFill>
              <a:srgbClr val="3C1B6E"/>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74% / target 81%</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Resilience capacity score</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4526280"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8332013" y="2980944"/>
            <a:ext cx="0" cy="347472"/>
          </a:xfrm>
          <a:prstGeom prst="line">
            <a:avLst/>
          </a:prstGeom>
          <a:noFill/>
          <a:ln w="19050">
            <a:solidFill>
              <a:srgbClr val="3C1B6E"/>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75% / target 82%</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26133F"/>
                </a:solidFill>
              </a:rPr>
              <a:t>Women-controlled income gain</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4586630" cy="201168"/>
          </a:xfrm>
          <a:prstGeom prst="roundRect">
            <a:avLst>
              <a:gd name="adj" fmla="val 13636"/>
            </a:avLst>
          </a:prstGeom>
          <a:solidFill>
            <a:srgbClr val="D4AF37"/>
          </a:solidFill>
          <a:ln w="12700">
            <a:solidFill>
              <a:srgbClr val="D4AF37"/>
            </a:solidFill>
            <a:prstDash val="solid"/>
          </a:ln>
        </p:spPr>
      </p:sp>
      <p:sp>
        <p:nvSpPr>
          <p:cNvPr id="26" name="Shape 23"/>
          <p:cNvSpPr/>
          <p:nvPr/>
        </p:nvSpPr>
        <p:spPr>
          <a:xfrm>
            <a:off x="8392363" y="3602736"/>
            <a:ext cx="0" cy="347472"/>
          </a:xfrm>
          <a:prstGeom prst="line">
            <a:avLst/>
          </a:prstGeom>
          <a:noFill/>
          <a:ln w="19050">
            <a:solidFill>
              <a:srgbClr val="3C1B6E"/>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26133F"/>
                </a:solidFill>
              </a:rPr>
              <a:t>76% / target 83%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“In Northern Livelihoods Cluster, outcome additionality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 Eastern Enterprise Cluster, value for money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 Lake Communities, livelihood resilience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Approve an adaptive results and learning window for integrated livelihoods.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Reallocate financing toward high-additionality pathways for integrated livelihoods.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Introduce equity-weighted value-for-money reviews for integrated livelihoods.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26133F"/>
                </a:solidFill>
              </a:rPr>
              <a:t>Fund partner transition and institutional ownership for integrated livelihoods.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26133F"/>
                </a:solidFill>
              </a:rPr>
              <a:t>Commission a pre-exit sustainability verification for integrated livelihoods.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Approve an adaptive results and learning window for integrated livelihoods.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Reallocate financing toward high-additionality pathways for integrated livelihoods.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Introduce equity-weighted value-for-money reviews for integrated livelihoods.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26133F"/>
                </a:solidFill>
              </a:rPr>
              <a:t>Fund partner transition and institutional ownership for integrated livelihoods.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26133F"/>
                </a:solidFill>
              </a:rPr>
              <a:t>Commission a pre-exit sustainability verification for integrated livelihoods.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“In Northern Livelihoods Cluster, outcome additionality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 Eastern Enterprise Cluster, value for money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 Lake Communities, livelihood resilience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 Central Markets, gendered benefit distribution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26133F"/>
                </a:solidFill>
              </a:rPr>
              <a:t>“In Northern Livelihoods Cluster, sustainability after exit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sampling frame: Synthetic frame covering programme-relevant population groups in Uganda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26133F"/>
                </a:solidFill>
              </a:rPr>
              <a:t>sample size: 1728</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26133F"/>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Data Protection and Privacy Controls: The publication uses governed response, evidence and export data.</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Results-Based Management: Findings and recommendations are connected to outputs, outcomes and indicators.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Theory of Change: The report tests causal pathways, assumptions and risks without claiming unsupported attribution.</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26133F"/>
                </a:solidFill>
              </a:rPr>
              <a:t>OECD-DAC Evaluation Criteria: The publication evaluates programme relevance, coherence and results.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26133F"/>
                </a:solidFill>
              </a:rPr>
              <a:t>UNEG Evaluation Norms and Standards: The evaluation product documents credibility, ethics, utility and limitations.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SDG Context-specific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D"/>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26133F"/>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26133F"/>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26133F"/>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26133F"/>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26133F"/>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26133F"/>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C1B6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D4AF37"/>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Donor Impact Evaluation Report</dc:title>
  <dc:subject>Synthetic Demonstration Publication</dc:subject>
  <dc:creator>VoiceInsights Africa</dc:creator>
  <cp:lastModifiedBy>VoiceInsights Africa</cp:lastModifiedBy>
  <cp:revision>1</cp:revision>
  <dcterms:created xsi:type="dcterms:W3CDTF">2026-07-12T22:51:24Z</dcterms:created>
  <dcterms:modified xsi:type="dcterms:W3CDTF">2026-07-12T22:51:24Z</dcterms:modified>
</cp:coreProperties>
</file>