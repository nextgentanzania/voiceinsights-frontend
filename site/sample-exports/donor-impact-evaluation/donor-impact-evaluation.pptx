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Lst>
  <p:sldSz cx="12192000" cy="6858000" type="screen16x9"/>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07251D"/>
          </a:solidFill>
          <a:ln>
            <a:noFill/>
          </a:ln>
        </p:spPr>
      </p:sp>
      <p:sp>
        <p:nvSpPr>
          <p:cNvPr id="3" name="Top rule"/>
          <p:cNvSpPr/>
          <p:nvPr/>
        </p:nvSpPr>
        <p:spPr>
          <a:xfrm>
            <a:off x="0" y="0"/>
            <a:ext cx="12192000" cy="70000"/>
          </a:xfrm>
          <a:prstGeom prst="rect">
            <a:avLst/>
          </a:prstGeom>
          <a:solidFill>
            <a:srgbClr val="D4AF37"/>
          </a:solidFill>
          <a:ln>
            <a:noFill/>
          </a:ln>
        </p:spPr>
      </p:sp>
      <p:sp>
        <p:nvSpPr>
          <p:cNvPr id="4" name="Accent panel"/>
          <p:cNvSpPr/>
          <p:nvPr/>
        </p:nvSpPr>
        <p:spPr>
          <a:xfrm>
            <a:off x="9300000" y="0"/>
            <a:ext cx="2892000" cy="6858000"/>
          </a:xfrm>
          <a:prstGeom prst="rect">
            <a:avLst/>
          </a:prstGeom>
          <a:solidFill>
            <a:srgbClr val="0B6E4F"/>
          </a:solidFill>
          <a:ln>
            <a:noFill/>
          </a:ln>
        </p:spPr>
      </p:sp>
      <p:sp>
        <p:nvSpPr>
          <p:cNvPr id="5" name="Gold rule"/>
          <p:cNvSpPr/>
          <p:nvPr/>
        </p:nvSpPr>
        <p:spPr>
          <a:xfrm>
            <a:off x="8880000" y="0"/>
            <a:ext cx="120000" cy="6858000"/>
          </a:xfrm>
          <a:prstGeom prst="rect">
            <a:avLst/>
          </a:prstGeom>
          <a:solidFill>
            <a:srgbClr val="D4AF37"/>
          </a:solidFill>
          <a:ln>
            <a:noFill/>
          </a:ln>
        </p:spPr>
      </p:sp>
      <p:sp>
        <p:nvSpPr>
          <p:cNvPr id="6" name="VoiceInsights logo bar 1"/>
          <p:cNvSpPr/>
          <p:nvPr/>
        </p:nvSpPr>
        <p:spPr>
          <a:xfrm>
            <a:off x="640000" y="400000"/>
            <a:ext cx="90000" cy="180000"/>
          </a:xfrm>
          <a:prstGeom prst="roundRect">
            <a:avLst/>
          </a:prstGeom>
          <a:solidFill>
            <a:srgbClr val="0B6E4F"/>
          </a:solidFill>
          <a:ln>
            <a:noFill/>
          </a:ln>
        </p:spPr>
      </p:sp>
      <p:sp>
        <p:nvSpPr>
          <p:cNvPr id="7" name="VoiceInsights logo bar 2"/>
          <p:cNvSpPr/>
          <p:nvPr/>
        </p:nvSpPr>
        <p:spPr>
          <a:xfrm>
            <a:off x="800000" y="315000"/>
            <a:ext cx="110000" cy="350000"/>
          </a:xfrm>
          <a:prstGeom prst="roundRect">
            <a:avLst/>
          </a:prstGeom>
          <a:solidFill>
            <a:srgbClr val="0B6E4F"/>
          </a:solidFill>
          <a:ln>
            <a:noFill/>
          </a:ln>
        </p:spPr>
      </p:sp>
      <p:sp>
        <p:nvSpPr>
          <p:cNvPr id="8" name="VoiceInsights logo bar 3"/>
          <p:cNvSpPr/>
          <p:nvPr/>
        </p:nvSpPr>
        <p:spPr>
          <a:xfrm>
            <a:off x="980000" y="210000"/>
            <a:ext cx="125000" cy="560000"/>
          </a:xfrm>
          <a:prstGeom prst="roundRect">
            <a:avLst/>
          </a:prstGeom>
          <a:solidFill>
            <a:srgbClr val="0B6E4F"/>
          </a:solidFill>
          <a:ln>
            <a:noFill/>
          </a:ln>
        </p:spPr>
      </p:sp>
      <p:sp>
        <p:nvSpPr>
          <p:cNvPr id="9" name="VoiceInsights logo bar 4"/>
          <p:cNvSpPr/>
          <p:nvPr/>
        </p:nvSpPr>
        <p:spPr>
          <a:xfrm>
            <a:off x="1175000" y="315000"/>
            <a:ext cx="110000" cy="350000"/>
          </a:xfrm>
          <a:prstGeom prst="roundRect">
            <a:avLst/>
          </a:prstGeom>
          <a:solidFill>
            <a:srgbClr val="0B6E4F"/>
          </a:solidFill>
          <a:ln>
            <a:noFill/>
          </a:ln>
        </p:spPr>
      </p:sp>
      <p:sp>
        <p:nvSpPr>
          <p:cNvPr id="10" name="VoiceInsights logo bar 5"/>
          <p:cNvSpPr/>
          <p:nvPr/>
        </p:nvSpPr>
        <p:spPr>
          <a:xfrm>
            <a:off x="1355000" y="400000"/>
            <a:ext cx="90000" cy="180000"/>
          </a:xfrm>
          <a:prstGeom prst="roundRect">
            <a:avLst/>
          </a:prstGeom>
          <a:solidFill>
            <a:srgbClr val="0B6E4F"/>
          </a:solidFill>
          <a:ln>
            <a:noFill/>
          </a:ln>
        </p:spPr>
      </p:sp>
      <p:sp>
        <p:nvSpPr>
          <p:cNvPr id="11"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FFFFFF"/>
                </a:solidFill>
                <a:latin typeface="Aptos"/>
              </a:rPr>
              <a:t>VOICEINSIGHTS AFRICA</a:t>
            </a:r>
          </a:p>
        </p:txBody>
      </p:sp>
      <p:sp>
        <p:nvSpPr>
          <p:cNvPr id="12" name="Classification"/>
          <p:cNvSpPr txBox="1"/>
          <p:nvPr/>
        </p:nvSpPr>
        <p:spPr>
          <a:xfrm>
            <a:off x="640000" y="1160000"/>
            <a:ext cx="7100000" cy="420000"/>
          </a:xfrm>
          <a:prstGeom prst="rect">
            <a:avLst/>
          </a:prstGeom>
          <a:noFill/>
          <a:ln>
            <a:noFill/>
          </a:ln>
        </p:spPr>
        <p:txBody>
          <a:bodyPr wrap="square" anchor="t" lIns="0" rIns="0" tIns="0" bIns="0"/>
          <a:lstStyle/>
          <a:p>
            <a:pPr algn="l"/>
            <a:r>
              <a:rPr lang="en-US" sz="1250" b="1">
                <a:solidFill>
                  <a:srgbClr val="D4AF37"/>
                </a:solidFill>
                <a:latin typeface="Aptos"/>
              </a:rPr>
              <a:t>FLAGSHIP SYNTHETIC DEMONSTRATION PUBLICATION</a:t>
            </a:r>
          </a:p>
        </p:txBody>
      </p:sp>
      <p:sp>
        <p:nvSpPr>
          <p:cNvPr id="13" name="Title"/>
          <p:cNvSpPr txBox="1"/>
          <p:nvPr/>
        </p:nvSpPr>
        <p:spPr>
          <a:xfrm>
            <a:off x="640000" y="1760000"/>
            <a:ext cx="7600000" cy="1900000"/>
          </a:xfrm>
          <a:prstGeom prst="rect">
            <a:avLst/>
          </a:prstGeom>
          <a:noFill/>
          <a:ln>
            <a:noFill/>
          </a:ln>
        </p:spPr>
        <p:txBody>
          <a:bodyPr wrap="square" anchor="t" lIns="0" rIns="0" tIns="0" bIns="0"/>
          <a:lstStyle/>
          <a:p>
            <a:pPr algn="l"/>
            <a:r>
              <a:rPr lang="en-US" sz="3600" b="1">
                <a:solidFill>
                  <a:srgbClr val="FFFFFF"/>
                </a:solidFill>
                <a:latin typeface="Aptos"/>
              </a:rPr>
              <a:t>Donor Impact Evaluation Report</a:t>
            </a:r>
          </a:p>
        </p:txBody>
      </p:sp>
      <p:sp>
        <p:nvSpPr>
          <p:cNvPr id="14" name="Subtitle"/>
          <p:cNvSpPr txBox="1"/>
          <p:nvPr/>
        </p:nvSpPr>
        <p:spPr>
          <a:xfrm>
            <a:off x="640000" y="3900000"/>
            <a:ext cx="6900000" cy="450000"/>
          </a:xfrm>
          <a:prstGeom prst="rect">
            <a:avLst/>
          </a:prstGeom>
          <a:noFill/>
          <a:ln>
            <a:noFill/>
          </a:ln>
        </p:spPr>
        <p:txBody>
          <a:bodyPr wrap="square" anchor="t" lIns="0" rIns="0" tIns="0" bIns="0"/>
          <a:lstStyle/>
          <a:p>
            <a:pPr algn="l"/>
            <a:r>
              <a:rPr lang="en-US" sz="1800">
                <a:solidFill>
                  <a:srgbClr val="D8E5DF"/>
                </a:solidFill>
                <a:latin typeface="Aptos"/>
              </a:rPr>
              <a:t>Uganda | Integrated Livelihoods</a:t>
            </a:r>
          </a:p>
        </p:txBody>
      </p:sp>
      <p:sp>
        <p:nvSpPr>
          <p:cNvPr id="15" name="Prepared"/>
          <p:cNvSpPr txBox="1"/>
          <p:nvPr/>
        </p:nvSpPr>
        <p:spPr>
          <a:xfrm>
            <a:off x="640000" y="5000000"/>
            <a:ext cx="6500000" cy="760000"/>
          </a:xfrm>
          <a:prstGeom prst="rect">
            <a:avLst/>
          </a:prstGeom>
          <a:noFill/>
          <a:ln>
            <a:noFill/>
          </a:ln>
        </p:spPr>
        <p:txBody>
          <a:bodyPr wrap="square" anchor="t" lIns="0" rIns="0" tIns="0" bIns="0"/>
          <a:lstStyle/>
          <a:p>
            <a:pPr algn="l"/>
            <a:r>
              <a:rPr lang="en-US" sz="1450">
                <a:solidFill>
                  <a:srgbClr val="FFFFFF"/>
                </a:solidFill>
                <a:latin typeface="Aptos"/>
              </a:rPr>
              <a:t>Prepared by VoiceInsights Africa Every Voice. Every Language. Every Insight.</a:t>
            </a:r>
          </a:p>
        </p:txBody>
      </p:sp>
      <p:sp>
        <p:nvSpPr>
          <p:cNvPr id="16" name="Notice"/>
          <p:cNvSpPr txBox="1"/>
          <p:nvPr/>
        </p:nvSpPr>
        <p:spPr>
          <a:xfrm>
            <a:off x="9550000" y="5260000"/>
            <a:ext cx="2050000" cy="650000"/>
          </a:xfrm>
          <a:prstGeom prst="rect">
            <a:avLst/>
          </a:prstGeom>
          <a:noFill/>
          <a:ln>
            <a:noFill/>
          </a:ln>
        </p:spPr>
        <p:txBody>
          <a:bodyPr wrap="square" anchor="ctr" lIns="0" rIns="0" tIns="0" bIns="0"/>
          <a:lstStyle/>
          <a:p>
            <a:pPr algn="c"/>
            <a:r>
              <a:rPr lang="en-US" sz="1250" b="1">
                <a:solidFill>
                  <a:srgbClr val="FFFFFF"/>
                </a:solidFill>
                <a:latin typeface="Aptos"/>
              </a:rPr>
              <a:t>SYNTHETIC DATA Not official statistics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Five-minute leadership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Executive Intelligence Book</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executive brief: Donor leadership should protect current gains in integrated livelihoods while concentrating new action on the lowest-performing groups and locations.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Approve an adaptive results and learning window.</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Reallocate financing toward high-additionality pathways.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Introduce equity-weighted value-for-money reviews.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critical findings: Outcome additionality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What matters, why it matters and what must be decided</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Executive Brief</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summary: Every number in this publication answers one question: what is actually happening with integrated livelihoods performance in Uganda, and for whom. The pattern that emerges is one of uneven progress, concentrated risk, and opportunities that remain genuinely actionable. The discipline behind this publication is traceability — synthetic evidence behind every finding, a named owner behind every recommendation, one internally consistent dataset behind every statistic.</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Approve an adaptive results and learning window.</a:t>
            </a:r>
          </a:p>
        </p:txBody>
      </p:sp>
      <p:sp>
        <p:nvSpPr>
          <p:cNvPr id="18"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Accountable choices for leadership</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Priority Decisions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Approve an adaptive results and learning window.</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Reallocate financing toward high-additionality pathways.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Introduce equity-weighted value-for-money reviews.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Fund partner transition and institutional ownership.</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Commission a pre-exit sustainability verification.</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Evidence-backed signals requiring attention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Critical Findings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Outcome additionality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Value for money</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Livelihood resilience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Gendered benefit distribution</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Sustainability after exit</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Claim-to-source lineage and confidence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Evidence Intelligence Book</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“In Northern Livelihoods Cluster, outcome additionality shapes whether rural women can turn services into lasting outcomes.”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“Young adults in Eastern Enterprise Cluster put it plainly: value for money is what decides whether progress holds or slips back.”</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“Why does Lake Communities lag behind? Ask persons with disabilities, and the answer comes back to livelihood resilience.”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“Elsewhere, gendered benefit distribution might be a footnote. For frontline workers in Central Markets, it is the whole story.”</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“Low-income households in Northern Livelihoods Cluster frame it simply: when sustainability after exit breaks down, everything else does too.”</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Evidence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evidence: “In Northern Livelihoods Cluster, outcome additionality shapes whether rural women can turn services into lasting outcomes.”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“Young adults in Eastern Enterprise Cluster put it plainly: value for money is what decides whether progress holds or slips back.”</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“Why does Lake Communities lag behind? Ask persons with disabilities, and the answer comes back to livelihood resilience.”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“Elsewhere, gendered benefit distribution might be a footnote. For frontline workers in Central Markets, it is the whole story.”</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“Low-income households in Northern Livelihoods Cluster frame it simply: when sustainability after exit breaks down, everything else does too.”</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Sampling, weighting, uncertainty and reproducibility</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Statistical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Uganda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Prioritisation for management action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Risk and Opportunity Matrix</a:t>
            </a:r>
          </a:p>
        </p:txBody>
      </p:sp>
      <p:sp>
        <p:nvSpPr>
          <p:cNvPr id="12" name="Risk panel"/>
          <p:cNvSpPr/>
          <p:nvPr/>
        </p:nvSpPr>
        <p:spPr>
          <a:xfrm>
            <a:off x="640000" y="2050000"/>
            <a:ext cx="5200000" cy="3400000"/>
          </a:xfrm>
          <a:prstGeom prst="roundRect">
            <a:avLst/>
          </a:prstGeom>
          <a:solidFill>
            <a:srgbClr val="FFF2F0"/>
          </a:solidFill>
          <a:ln w="12700">
            <a:solidFill>
              <a:srgbClr val="E7C5BF"/>
            </a:solidFill>
          </a:ln>
        </p:spPr>
      </p:sp>
      <p:sp>
        <p:nvSpPr>
          <p:cNvPr id="13" name="Opportunity panel"/>
          <p:cNvSpPr/>
          <p:nvPr/>
        </p:nvSpPr>
        <p:spPr>
          <a:xfrm>
            <a:off x="5980000" y="2050000"/>
            <a:ext cx="5200000" cy="3400000"/>
          </a:xfrm>
          <a:prstGeom prst="roundRect">
            <a:avLst/>
          </a:prstGeom>
          <a:solidFill>
            <a:srgbClr val="ECF7F1"/>
          </a:solidFill>
          <a:ln w="12700">
            <a:solidFill>
              <a:srgbClr val="B8DCCB"/>
            </a:solidFill>
          </a:ln>
        </p:spPr>
      </p:sp>
      <p:sp>
        <p:nvSpPr>
          <p:cNvPr id="14" name="Risk title"/>
          <p:cNvSpPr txBox="1"/>
          <p:nvPr/>
        </p:nvSpPr>
        <p:spPr>
          <a:xfrm>
            <a:off x="940000" y="2320000"/>
            <a:ext cx="4400000" cy="330000"/>
          </a:xfrm>
          <a:prstGeom prst="rect">
            <a:avLst/>
          </a:prstGeom>
          <a:noFill/>
          <a:ln>
            <a:noFill/>
          </a:ln>
        </p:spPr>
        <p:txBody>
          <a:bodyPr wrap="square" anchor="t" lIns="0" rIns="0" tIns="0" bIns="0"/>
          <a:lstStyle/>
          <a:p>
            <a:pPr algn="l"/>
            <a:r>
              <a:rPr lang="en-US" sz="1350" b="1">
                <a:solidFill>
                  <a:srgbClr val="A33A2B"/>
                </a:solidFill>
                <a:latin typeface="Aptos"/>
              </a:rPr>
              <a:t>CRITICAL RISKS</a:t>
            </a:r>
          </a:p>
        </p:txBody>
      </p:sp>
      <p:sp>
        <p:nvSpPr>
          <p:cNvPr id="15" name="Opportunity title"/>
          <p:cNvSpPr txBox="1"/>
          <p:nvPr/>
        </p:nvSpPr>
        <p:spPr>
          <a:xfrm>
            <a:off x="6280000" y="2320000"/>
            <a:ext cx="4400000" cy="330000"/>
          </a:xfrm>
          <a:prstGeom prst="rect">
            <a:avLst/>
          </a:prstGeom>
          <a:noFill/>
          <a:ln>
            <a:noFill/>
          </a:ln>
        </p:spPr>
        <p:txBody>
          <a:bodyPr wrap="square" anchor="t" lIns="0" rIns="0" tIns="0" bIns="0"/>
          <a:lstStyle/>
          <a:p>
            <a:pPr algn="l"/>
            <a:r>
              <a:rPr lang="en-US" sz="1350" b="1">
                <a:solidFill>
                  <a:srgbClr val="0B6E4F"/>
                </a:solidFill>
                <a:latin typeface="Aptos"/>
              </a:rPr>
              <a:t>TOP OPPORTUNITIES</a:t>
            </a:r>
          </a:p>
        </p:txBody>
      </p:sp>
      <p:sp>
        <p:nvSpPr>
          <p:cNvPr id="16" name="Risks"/>
          <p:cNvSpPr txBox="1"/>
          <p:nvPr/>
        </p:nvSpPr>
        <p:spPr>
          <a:xfrm>
            <a:off x="940000" y="2850000"/>
            <a:ext cx="4400000" cy="2200000"/>
          </a:xfrm>
          <a:prstGeom prst="rect">
            <a:avLst/>
          </a:prstGeom>
          <a:noFill/>
          <a:ln>
            <a:noFill/>
          </a:ln>
        </p:spPr>
        <p:txBody>
          <a:bodyPr wrap="square" anchor="t" lIns="0" rIns="0" tIns="0" bIns="0"/>
          <a:lstStyle/>
          <a:p>
            <a:pPr algn="l"/>
            <a:r>
              <a:rPr lang="en-US" sz="1450">
                <a:solidFill>
                  <a:srgbClr val="532B25"/>
                </a:solidFill>
                <a:latin typeface="Aptos"/>
              </a:rPr>
              <a:t>1. External factors outside this publication's scope could offset gains in integrated livelihoods 2. Evidence and monitoring capacity lags the pace of decisions being made on integrated livelihoods</a:t>
            </a:r>
          </a:p>
        </p:txBody>
      </p:sp>
      <p:sp>
        <p:nvSpPr>
          <p:cNvPr id="17" name="Opportunities"/>
          <p:cNvSpPr txBox="1"/>
          <p:nvPr/>
        </p:nvSpPr>
        <p:spPr>
          <a:xfrm>
            <a:off x="6280000" y="2850000"/>
            <a:ext cx="4400000" cy="2200000"/>
          </a:xfrm>
          <a:prstGeom prst="rect">
            <a:avLst/>
          </a:prstGeom>
          <a:noFill/>
          <a:ln>
            <a:noFill/>
          </a:ln>
        </p:spPr>
        <p:txBody>
          <a:bodyPr wrap="square" anchor="t" lIns="0" rIns="0" tIns="0" bIns="0"/>
          <a:lstStyle/>
          <a:p>
            <a:pPr algn="l"/>
            <a:r>
              <a:rPr lang="en-US" sz="1450">
                <a:solidFill>
                  <a:srgbClr val="164C3A"/>
                </a:solidFill>
                <a:latin typeface="Aptos"/>
              </a:rPr>
              <a:t>1. Closing the equity gap the evidence has already located 2. Targeted acceleration in the lowest-performing part of integrated livelihoods 3. Converting early gains in integrated livelihoods into durable, sustained progress</a:t>
            </a:r>
          </a:p>
        </p:txBody>
      </p:sp>
      <p:sp>
        <p:nvSpPr>
          <p:cNvPr id="18"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International Standards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framework: OECD-DAC</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relevance: Applied where relevant to Integrated Livelihoods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EVI-DON-001</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EVI-DON-002</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limitations: Synthetic demonstration mapping; institutional validation not implied</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OECD-DAC</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Synthetic evidence indicates a strong relevance signal, subject to the stated design limitations.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moderate-to-strong coherence signal, subject to the stated design limitations.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strong effectiveness signal, subject to the stated design limitations.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moderate-to-strong efficiency signal, subject to the stated design limitations.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strong impact signal, subject to the stated design limitations.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Results-Based Management</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inputs: Governed synthetic data</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inputs: Delivery capacity</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inputs: Approved financing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activities: Evidence collection</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activities: Segmented analysis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Core Humanitarian Standard</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commitment number: 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commitment: CHS Commitment 1</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EVI-DON-001</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status: CONTEXT ONLY</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action: Validate relevance and assign an accountable owner before live use.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Immediate, medium-term and strategic action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Implementation Roadmap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Approve an adaptive results and learning window.</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Reallocate financing toward high-additionality pathways.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Introduce equity-weighted value-for-money reviews.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Fund partner transition and institutional ownership.</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Commission a pre-exit sustainability verification.</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Evidence, statistical, visual and decision assurance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Publication Quality Gate</a:t>
            </a:r>
          </a:p>
        </p:txBody>
      </p:sp>
      <p:sp>
        <p:nvSpPr>
          <p:cNvPr id="12" name="Metric card 1"/>
          <p:cNvSpPr/>
          <p:nvPr/>
        </p:nvSpPr>
        <p:spPr>
          <a:xfrm>
            <a:off x="640000" y="2050000"/>
            <a:ext cx="2580000" cy="1500000"/>
          </a:xfrm>
          <a:prstGeom prst="roundRect">
            <a:avLst/>
          </a:prstGeom>
          <a:solidFill>
            <a:srgbClr val="FFFFFF"/>
          </a:solidFill>
          <a:ln w="12700">
            <a:solidFill>
              <a:srgbClr val="DCE7E2"/>
            </a:solidFill>
          </a:ln>
        </p:spPr>
      </p:sp>
      <p:sp>
        <p:nvSpPr>
          <p:cNvPr id="13" name="Metric value 1"/>
          <p:cNvSpPr txBox="1"/>
          <p:nvPr/>
        </p:nvSpPr>
        <p:spPr>
          <a:xfrm>
            <a:off x="82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14" name="Metric label 1"/>
          <p:cNvSpPr txBox="1"/>
          <p:nvPr/>
        </p:nvSpPr>
        <p:spPr>
          <a:xfrm>
            <a:off x="82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Editorial Review Passed</a:t>
            </a:r>
          </a:p>
        </p:txBody>
      </p:sp>
      <p:sp>
        <p:nvSpPr>
          <p:cNvPr id="15" name="Metric card 2"/>
          <p:cNvSpPr/>
          <p:nvPr/>
        </p:nvSpPr>
        <p:spPr>
          <a:xfrm>
            <a:off x="3470000" y="2050000"/>
            <a:ext cx="2580000" cy="1500000"/>
          </a:xfrm>
          <a:prstGeom prst="roundRect">
            <a:avLst/>
          </a:prstGeom>
          <a:solidFill>
            <a:srgbClr val="FFFFFF"/>
          </a:solidFill>
          <a:ln w="12700">
            <a:solidFill>
              <a:srgbClr val="DCE7E2"/>
            </a:solidFill>
          </a:ln>
        </p:spPr>
      </p:sp>
      <p:sp>
        <p:nvSpPr>
          <p:cNvPr id="16" name="Metric value 2"/>
          <p:cNvSpPr txBox="1"/>
          <p:nvPr/>
        </p:nvSpPr>
        <p:spPr>
          <a:xfrm>
            <a:off x="365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17" name="Metric label 2"/>
          <p:cNvSpPr txBox="1"/>
          <p:nvPr/>
        </p:nvSpPr>
        <p:spPr>
          <a:xfrm>
            <a:off x="365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Evidence Review Passed</a:t>
            </a:r>
          </a:p>
        </p:txBody>
      </p:sp>
      <p:sp>
        <p:nvSpPr>
          <p:cNvPr id="18" name="Metric card 3"/>
          <p:cNvSpPr/>
          <p:nvPr/>
        </p:nvSpPr>
        <p:spPr>
          <a:xfrm>
            <a:off x="6300000" y="2050000"/>
            <a:ext cx="2580000" cy="1500000"/>
          </a:xfrm>
          <a:prstGeom prst="roundRect">
            <a:avLst/>
          </a:prstGeom>
          <a:solidFill>
            <a:srgbClr val="FFFFFF"/>
          </a:solidFill>
          <a:ln w="12700">
            <a:solidFill>
              <a:srgbClr val="DCE7E2"/>
            </a:solidFill>
          </a:ln>
        </p:spPr>
      </p:sp>
      <p:sp>
        <p:nvSpPr>
          <p:cNvPr id="19" name="Metric value 3"/>
          <p:cNvSpPr txBox="1"/>
          <p:nvPr/>
        </p:nvSpPr>
        <p:spPr>
          <a:xfrm>
            <a:off x="648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20" name="Metric label 3"/>
          <p:cNvSpPr txBox="1"/>
          <p:nvPr/>
        </p:nvSpPr>
        <p:spPr>
          <a:xfrm>
            <a:off x="648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Publication Integrity Verified</a:t>
            </a:r>
          </a:p>
        </p:txBody>
      </p:sp>
      <p:sp>
        <p:nvSpPr>
          <p:cNvPr id="21" name="Metric card 4"/>
          <p:cNvSpPr/>
          <p:nvPr/>
        </p:nvSpPr>
        <p:spPr>
          <a:xfrm>
            <a:off x="9130000" y="2050000"/>
            <a:ext cx="2580000" cy="1500000"/>
          </a:xfrm>
          <a:prstGeom prst="roundRect">
            <a:avLst/>
          </a:prstGeom>
          <a:solidFill>
            <a:srgbClr val="FFFFFF"/>
          </a:solidFill>
          <a:ln w="12700">
            <a:solidFill>
              <a:srgbClr val="DCE7E2"/>
            </a:solidFill>
          </a:ln>
        </p:spPr>
      </p:sp>
      <p:sp>
        <p:nvSpPr>
          <p:cNvPr id="22" name="Metric value 4"/>
          <p:cNvSpPr txBox="1"/>
          <p:nvPr/>
        </p:nvSpPr>
        <p:spPr>
          <a:xfrm>
            <a:off x="931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23" name="Metric label 4"/>
          <p:cNvSpPr txBox="1"/>
          <p:nvPr/>
        </p:nvSpPr>
        <p:spPr>
          <a:xfrm>
            <a:off x="931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Accessibility Verified</a:t>
            </a:r>
          </a:p>
        </p:txBody>
      </p:sp>
      <p:sp>
        <p:nvSpPr>
          <p:cNvPr id="24"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Visual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visualizations: Executive Kpi Cards: Outcome additionality index</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Regional Heat Map: Cost per sustained outcome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Choropleth Map: Resilience capacity score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Risk Matrix: Women-controlled income gain</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Decision Matrix: Outcome additionality index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Accessibility Assurance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wcag target: WCAG 2.2 AA</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tagged pdf required: true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alt text required: true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table fallback required: true</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keyboard navigation required: true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Publication Products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exports: Premium PDF</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Editable Word</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Native PowerPoint</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Statistical Excel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Board Deck</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Methodology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research objectives: Assess integrated livelihoods performance and equity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research objectives: Identify operational drivers and decision priorities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What outcomes are changing?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Who is being left behind?</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Which actions are most likely to improve performance?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Sampling Design</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Uganda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Weighting and Uncertainty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Uganda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Reliability and Validity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Uganda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Missing Data and Outliers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Uganda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Regional Intelligence 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 Choropleth Map: Resilience capacity score</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Performance Heat 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 Regional Heat Map: Cost per sustained outcome</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Risk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risk: External factors outside this publication's scope could offset gains in integrated livelihoods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likelihood: Low</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impact: Medium</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risk: Evidence and monitoring capacity lags the pace of decisions being made on integrated livelihoods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likelihood: Medium</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Decision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Approve an adaptive results and learning window.</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Reallocate financing toward high-additionality pathways.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Introduce equity-weighted value-for-money reviews.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Fund partner transition and institutional ownership.</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Commission a pre-exit sustainability verification.</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Opportunity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Closing the equity gap the evidence has already located</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Targeted acceleration in the lowest-performing part of integrated livelihoods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Converting early gains in integrated livelihoods into durable, sustained progress</a:t>
            </a:r>
          </a:p>
        </p:txBody>
      </p:sp>
      <p:sp>
        <p:nvSpPr>
          <p:cNvPr id="21"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Cost of Inaction</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narrative: A further delay carries a real cost: recovering lost ground in integrated livelihoods later is typically more expensive than sustaining momentum now.</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Ownership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DEC-DON-01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DEC-DON-02</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DEC-DON-03</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DEC-DON-04</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DEC-DON-05</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Implementation Roadmap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Approve an adaptive results and learning window.</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Reallocate financing toward high-additionality pathways.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Introduce equity-weighted value-for-money reviews.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Fund partner transition and institutional ownership.</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Commission a pre-exit sustainability verification.</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Data Dictionary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variable: indicator 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label: Synthetic Integrated Livelihoods indicator 1</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type: numeric</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allowed values: 0–100</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missing code: NA</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Appendices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Technical methodology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and weighting</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registry</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Statistical tables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Data dictionary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Responsible interpretation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Limitations and Integrity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All content is synthetic and must not be interpreted as official statistics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Geographic references are illustrative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Budget implications are directional and require formal costing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Causal claims are not made without an appropriate design</a:t>
            </a:r>
          </a:p>
        </p:txBody>
      </p:sp>
      <p:sp>
        <p:nvSpPr>
          <p:cNvPr id="24"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34</a:t>
            </a:r>
          </a:p>
        </p:txBody>
      </p:sp>
    </p:spTree>
  </p:cSld>
  <p:clrMapOvr>
    <a:masterClrMapping/>
  </p:clrMapOvr>
</p:sld>
</file>

<file path=docProps/app.xml><?xml version="1.0" encoding="utf-8"?>
<Properties xmlns="http://schemas.openxmlformats.org/officeDocument/2006/extended-properties">
  <Application>VoiceInsights Africa</Application>
  <Slides>34</Slides>
</Properties>
</file>

<file path=docProps/core.xml><?xml version="1.0" encoding="utf-8"?>
<cp:coreProperties xmlns:cp="http://schemas.openxmlformats.org/package/2006/metadata/core-properties" xmlns:dc="http://purl.org/dc/elements/1.1/">
  <dc:title>Donor Impact Evaluation Report</dc:title>
  <dc:creator>VoiceInsights Africa</dc:creator>
</cp:coreProperties>
</file>