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slide" Target="slides/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251D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Accent panel"/>
          <p:cNvSpPr/>
          <p:nvPr/>
        </p:nvSpPr>
        <p:spPr>
          <a:xfrm>
            <a:off x="9300000" y="0"/>
            <a:ext cx="2892000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Gold rule"/>
          <p:cNvSpPr/>
          <p:nvPr/>
        </p:nvSpPr>
        <p:spPr>
          <a:xfrm>
            <a:off x="8880000" y="0"/>
            <a:ext cx="120000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6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0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1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FFFFFF"/>
                </a:solidFill>
                <a:latin typeface="Aptos"/>
              </a:rPr>
              <a:t>VOICEINSIGHTS AFRICA</a:t>
            </a:r>
          </a:p>
        </p:txBody>
      </p:sp>
      <p:sp>
        <p:nvSpPr>
          <p:cNvPr id="12" name="Classification"/>
          <p:cNvSpPr txBox="1"/>
          <p:nvPr/>
        </p:nvSpPr>
        <p:spPr>
          <a:xfrm>
            <a:off x="640000" y="1160000"/>
            <a:ext cx="7100000" cy="4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250" b="1">
                <a:solidFill>
                  <a:srgbClr val="D4AF37"/>
                </a:solidFill>
                <a:latin typeface="Aptos"/>
              </a:rPr>
              <a:t>FLAGSHIP SYNTHETIC DEMONSTRATION PUBLICATION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640000" y="1760000"/>
            <a:ext cx="7600000" cy="19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3600" b="1">
                <a:solidFill>
                  <a:srgbClr val="FFFFFF"/>
                </a:solidFill>
                <a:latin typeface="Aptos"/>
              </a:rPr>
              <a:t>Financial Inclusion Intelligence Report</a:t>
            </a:r>
          </a:p>
        </p:txBody>
      </p:sp>
      <p:sp>
        <p:nvSpPr>
          <p:cNvPr id="14" name="Subtitle"/>
          <p:cNvSpPr txBox="1"/>
          <p:nvPr/>
        </p:nvSpPr>
        <p:spPr>
          <a:xfrm>
            <a:off x="640000" y="3900000"/>
            <a:ext cx="690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800">
                <a:solidFill>
                  <a:srgbClr val="D8E5DF"/>
                </a:solidFill>
                <a:latin typeface="Aptos"/>
              </a:rPr>
              <a:t>Ghana | Financial Inclusion</a:t>
            </a:r>
          </a:p>
        </p:txBody>
      </p:sp>
      <p:sp>
        <p:nvSpPr>
          <p:cNvPr id="15" name="Prepared"/>
          <p:cNvSpPr txBox="1"/>
          <p:nvPr/>
        </p:nvSpPr>
        <p:spPr>
          <a:xfrm>
            <a:off x="640000" y="5000000"/>
            <a:ext cx="6500000" cy="7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FFFFFF"/>
                </a:solidFill>
                <a:latin typeface="Aptos"/>
              </a:rPr>
              <a:t>Prepared by VoiceInsights Africa Every Voice. Every Language. Every Insight.</a:t>
            </a:r>
          </a:p>
        </p:txBody>
      </p:sp>
      <p:sp>
        <p:nvSpPr>
          <p:cNvPr id="16" name="Notice"/>
          <p:cNvSpPr txBox="1"/>
          <p:nvPr/>
        </p:nvSpPr>
        <p:spPr>
          <a:xfrm>
            <a:off x="9550000" y="5260000"/>
            <a:ext cx="205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SYNTHETIC DATA Not official statistics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Five-minute leadership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Executive Intelligence Book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executive brief: The priority for corporate leadership is converting early financial inclusion progress into durable gains before the next reporting cycle.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 snapshot: Address the access barrier most limiting formal financial-service uptake.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 snapshot: Expand agent-network density in the least-served areas.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 snapshot: Fund targeted financial-literacy programmes for first-time account holders.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critical findings: Dormant-account prevalence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What matters, why it matters and what must be decided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Executive Brief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summary: What follows is a governed account of financial inclusion performance in Ghana: where it is working, where it is not, and what to do next. The evidence identifies uneven progress, concentrated risk, and a set of opportunities still open to act on. Every finding traces to a synthetic source record, every recommendation names an accountable owner, and every statistic in this publication is drawn from a single, internally consistent dataset.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decision: Address the access barrier most limiting formal financial-service uptake.</a:t>
            </a:r>
          </a:p>
        </p:txBody>
      </p:sp>
      <p:sp>
        <p:nvSpPr>
          <p:cNvPr id="18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Accountable choices for leadership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Priority Decisions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Address the access barrier most limiting formal financial-service uptake.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Expand agent-network density in the least-served areas.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Fund targeted financial-literacy programmes for first-time account holders.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Convert dormant accounts through targeted engagement campaigns.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Close the rural-urban financial-access disparity.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Evidence-backed signals requiring attention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Critical Findings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Dormant-account prevalence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Agent-network density gaps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Financial-literacy gaps among first-time account holders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Usage barriers beyond account ownership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Rural-urban access disparity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Claim-to-source lineage and confidence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Evidence Intelligence Book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“Why does Greater Accra Region lag behind? Ask rural women, and the answer comes back to dormant-account prevalence.”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“Elsewhere, agent-network density gaps might be a footnote. For young adults in Ashanti Region, it is the whole story.”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“Persons with disabilities in Northern Region frame it simply: when financial-literacy gaps among first-time account holders breaks down, everything else does too.”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“In Volta Region, usage barriers beyond account ownership shapes whether frontline workers can turn services into lasting outcomes.”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“Low-income households in Greater Accra Region put it plainly: rural-urban access disparity is what decides whether progress holds or slips back.”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Evidence Intelligence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evidence: “Why does Greater Accra Region lag behind? Ask rural women, and the answer comes back to dormant-account prevalence.”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“Elsewhere, agent-network density gaps might be a footnote. For young adults in Ashanti Region, it is the whole story.”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“Persons with disabilities in Northern Region frame it simply: when financial-literacy gaps among first-time account holders breaks down, everything else does too.”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“In Volta Region, usage barriers beyond account ownership shapes whether frontline workers can turn services into lasting outcomes.”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“Low-income households in Greater Accra Region put it plainly: rural-urban access disparity is what decides whether progress holds or slips back.”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Sampling, weighting, uncertainty and reproducibility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Statistical Intelligence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Ghana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Prioritisation for management action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Risk and Opportunity Matrix</a:t>
            </a:r>
          </a:p>
        </p:txBody>
      </p:sp>
      <p:sp>
        <p:nvSpPr>
          <p:cNvPr id="12" name="Risk panel"/>
          <p:cNvSpPr/>
          <p:nvPr/>
        </p:nvSpPr>
        <p:spPr>
          <a:xfrm>
            <a:off x="640000" y="2050000"/>
            <a:ext cx="5200000" cy="3400000"/>
          </a:xfrm>
          <a:prstGeom prst="roundRect">
            <a:avLst/>
          </a:prstGeom>
          <a:solidFill>
            <a:srgbClr val="FFF2F0"/>
          </a:solidFill>
          <a:ln w="12700">
            <a:solidFill>
              <a:srgbClr val="E7C5BF"/>
            </a:solidFill>
          </a:ln>
        </p:spPr>
      </p:sp>
      <p:sp>
        <p:nvSpPr>
          <p:cNvPr id="13" name="Opportunity panel"/>
          <p:cNvSpPr/>
          <p:nvPr/>
        </p:nvSpPr>
        <p:spPr>
          <a:xfrm>
            <a:off x="5980000" y="2050000"/>
            <a:ext cx="5200000" cy="3400000"/>
          </a:xfrm>
          <a:prstGeom prst="roundRect">
            <a:avLst/>
          </a:prstGeom>
          <a:solidFill>
            <a:srgbClr val="ECF7F1"/>
          </a:solidFill>
          <a:ln w="12700">
            <a:solidFill>
              <a:srgbClr val="B8DCCB"/>
            </a:solidFill>
          </a:ln>
        </p:spPr>
      </p:sp>
      <p:sp>
        <p:nvSpPr>
          <p:cNvPr id="14" name="Risk title"/>
          <p:cNvSpPr txBox="1"/>
          <p:nvPr/>
        </p:nvSpPr>
        <p:spPr>
          <a:xfrm>
            <a:off x="940000" y="2320000"/>
            <a:ext cx="44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50" b="1">
                <a:solidFill>
                  <a:srgbClr val="A33A2B"/>
                </a:solidFill>
                <a:latin typeface="Aptos"/>
              </a:rPr>
              <a:t>CRITICAL RISKS</a:t>
            </a:r>
          </a:p>
        </p:txBody>
      </p:sp>
      <p:sp>
        <p:nvSpPr>
          <p:cNvPr id="15" name="Opportunity title"/>
          <p:cNvSpPr txBox="1"/>
          <p:nvPr/>
        </p:nvSpPr>
        <p:spPr>
          <a:xfrm>
            <a:off x="6280000" y="2320000"/>
            <a:ext cx="44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50" b="1">
                <a:solidFill>
                  <a:srgbClr val="0B6E4F"/>
                </a:solidFill>
                <a:latin typeface="Aptos"/>
              </a:rPr>
              <a:t>TOP OPPORTUNITIES</a:t>
            </a:r>
          </a:p>
        </p:txBody>
      </p:sp>
      <p:sp>
        <p:nvSpPr>
          <p:cNvPr id="16" name="Risks"/>
          <p:cNvSpPr txBox="1"/>
          <p:nvPr/>
        </p:nvSpPr>
        <p:spPr>
          <a:xfrm>
            <a:off x="940000" y="2850000"/>
            <a:ext cx="4400000" cy="2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532B25"/>
                </a:solidFill>
                <a:latin typeface="Aptos"/>
              </a:rPr>
              <a:t>1. Leadership turnover during implementation stalls momentum on financial inclusion 2. Evidence and monitoring capacity lags the pace of decisions being made on financial inclusion</a:t>
            </a:r>
          </a:p>
        </p:txBody>
      </p:sp>
      <p:sp>
        <p:nvSpPr>
          <p:cNvPr id="17" name="Opportunities"/>
          <p:cNvSpPr txBox="1"/>
          <p:nvPr/>
        </p:nvSpPr>
        <p:spPr>
          <a:xfrm>
            <a:off x="6280000" y="2850000"/>
            <a:ext cx="4400000" cy="2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64C3A"/>
                </a:solidFill>
                <a:latin typeface="Aptos"/>
              </a:rPr>
              <a:t>1. Stronger feedback accountability between frontline delivery and leadership 2. Scaling what is already working in the highest-performing region 3. Evidence-led reallocation of resources already committed to financial inclusion</a:t>
            </a:r>
          </a:p>
        </p:txBody>
      </p:sp>
      <p:sp>
        <p:nvSpPr>
          <p:cNvPr id="18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International Standards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framework: Data Protection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relevance: Applied where relevant to Financial Inclusion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ids: EVI-FIN-001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ids: EVI-FIN-002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limitations: Synthetic demonstration mapping; institutional validation not implied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OECD-DAC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Synthetic evidence indicates a strong relevance signal, subject to the stated design limitations.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moderate-to-strong coherence signal, subject to the stated design limitations.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strong effectiveness signal, subject to the stated design limitations.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moderate-to-strong efficiency signal, subject to the stated design limitations.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strong impact signal, subject to the stated design limitations.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Results-Based Management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inputs: Governed synthetic data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inputs: Delivery capacity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inputs: Approved financing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activities: Evidence collection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activities: Segmented analysis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Core Humanitarian Standard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commitment number: 1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commitment: CHS Commitment 1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ids: EVI-FIN-001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status: CONTEXT ONLY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action: Validate relevance and assign an accountable owner before live use.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Immediate, medium-term and strategic action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Implementation Roadmap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Address the access barrier most limiting formal financial-service uptake.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Expand agent-network density in the least-served areas.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Fund targeted financial-literacy programmes for first-time account holders.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Convert dormant accounts through targeted engagement campaigns.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Close the rural-urban financial-access disparity.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Evidence, statistical, visual and decision assurance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Publication Quality Gate</a:t>
            </a:r>
          </a:p>
        </p:txBody>
      </p:sp>
      <p:sp>
        <p:nvSpPr>
          <p:cNvPr id="12" name="Metric card 1"/>
          <p:cNvSpPr/>
          <p:nvPr/>
        </p:nvSpPr>
        <p:spPr>
          <a:xfrm>
            <a:off x="64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13" name="Metric value 1"/>
          <p:cNvSpPr txBox="1"/>
          <p:nvPr/>
        </p:nvSpPr>
        <p:spPr>
          <a:xfrm>
            <a:off x="82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14" name="Metric label 1"/>
          <p:cNvSpPr txBox="1"/>
          <p:nvPr/>
        </p:nvSpPr>
        <p:spPr>
          <a:xfrm>
            <a:off x="82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Editorial Review Passed</a:t>
            </a:r>
          </a:p>
        </p:txBody>
      </p:sp>
      <p:sp>
        <p:nvSpPr>
          <p:cNvPr id="15" name="Metric card 2"/>
          <p:cNvSpPr/>
          <p:nvPr/>
        </p:nvSpPr>
        <p:spPr>
          <a:xfrm>
            <a:off x="347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16" name="Metric value 2"/>
          <p:cNvSpPr txBox="1"/>
          <p:nvPr/>
        </p:nvSpPr>
        <p:spPr>
          <a:xfrm>
            <a:off x="365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17" name="Metric label 2"/>
          <p:cNvSpPr txBox="1"/>
          <p:nvPr/>
        </p:nvSpPr>
        <p:spPr>
          <a:xfrm>
            <a:off x="365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Evidence Review Passed</a:t>
            </a:r>
          </a:p>
        </p:txBody>
      </p:sp>
      <p:sp>
        <p:nvSpPr>
          <p:cNvPr id="18" name="Metric card 3"/>
          <p:cNvSpPr/>
          <p:nvPr/>
        </p:nvSpPr>
        <p:spPr>
          <a:xfrm>
            <a:off x="630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19" name="Metric value 3"/>
          <p:cNvSpPr txBox="1"/>
          <p:nvPr/>
        </p:nvSpPr>
        <p:spPr>
          <a:xfrm>
            <a:off x="648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20" name="Metric label 3"/>
          <p:cNvSpPr txBox="1"/>
          <p:nvPr/>
        </p:nvSpPr>
        <p:spPr>
          <a:xfrm>
            <a:off x="648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Publication Integrity Verified</a:t>
            </a:r>
          </a:p>
        </p:txBody>
      </p:sp>
      <p:sp>
        <p:nvSpPr>
          <p:cNvPr id="21" name="Metric card 4"/>
          <p:cNvSpPr/>
          <p:nvPr/>
        </p:nvSpPr>
        <p:spPr>
          <a:xfrm>
            <a:off x="913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22" name="Metric value 4"/>
          <p:cNvSpPr txBox="1"/>
          <p:nvPr/>
        </p:nvSpPr>
        <p:spPr>
          <a:xfrm>
            <a:off x="931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23" name="Metric label 4"/>
          <p:cNvSpPr txBox="1"/>
          <p:nvPr/>
        </p:nvSpPr>
        <p:spPr>
          <a:xfrm>
            <a:off x="931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Accessibility Verified</a:t>
            </a:r>
          </a:p>
        </p:txBody>
      </p:sp>
      <p:sp>
        <p:nvSpPr>
          <p:cNvPr id="24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Visual Intelligence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visualizations: Executive Kpi Cards: Active account usage rate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Regional Heat Map: Agent-network density per population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Choropleth Map: Financial-literacy assessment score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Risk Matrix: Rural-urban access gap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Decision Matrix: Active account usage rate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Accessibility Assurance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wcag target: WCAG 2.2 AA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tagged pdf required: true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alt text required: true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table fallback required: true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keyboard navigation required: true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Publication Products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exports: Premium PDF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Editable Word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Native PowerPoint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Statistical Excel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Board Deck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Methodology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research objectives: Assess financial inclusion performance and equity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research objectives: Identify operational drivers and decision priorities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evaluation questions: What outcomes are changing?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evaluation questions: Who is being left behind?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evaluation questions: Which actions are most likely to improve performance?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Sampling Design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Ghana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Weighting and Uncertainty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Ghana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Reliability and Validity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Ghana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Missing Data and Outliers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Ghana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Regional Intelligence 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visual: Choropleth Map: Financial-literacy assessment score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Performance Heat 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visual: Regional Heat Map: Agent-network density per population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Risk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risk: Leadership turnover during implementation stalls momentum on financial inclusion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likelihood: Low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impact: High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risk: Evidence and monitoring capacity lags the pace of decisions being made on financial inclusion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likelihood: Medium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Decision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Address the access barrier most limiting formal financial-service uptake.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Expand agent-network density in the least-served areas.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Fund targeted financial-literacy programmes for first-time account holders.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Convert dormant accounts through targeted engagement campaigns.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Close the rural-urban financial-access disparity.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Opportunity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Stronger feedback accountability between frontline delivery and leadership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Scaling what is already working in the highest-performing region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Evidence-led reallocation of resources already committed to financial inclusion</a:t>
            </a:r>
          </a:p>
        </p:txBody>
      </p:sp>
      <p:sp>
        <p:nvSpPr>
          <p:cNvPr id="21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Cost of Inaction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narrative: A further delay carries a real cost: recovering lost ground in financial inclusion later is typically more expensive than sustaining momentum now.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Ownership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DEC-FIN-01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DEC-FIN-02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DEC-FIN-03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DEC-FIN-04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DEC-FIN-05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Implementation Roadmap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Address the access barrier most limiting formal financial-service uptake.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Expand agent-network density in the least-served areas.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Fund targeted financial-literacy programmes for first-time account holders.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Convert dormant accounts through targeted engagement campaigns.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Close the rural-urban financial-access disparity.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Data Dictionary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variable: indicator 1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label: Synthetic Financial Inclusion indicator 1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type: numeric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allowed values: 0–100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missing code: NA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Appendices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Technical methodology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and weighting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registry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Statistical tables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Data dictionary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Responsible interpretation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Limitations and Integrity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All content is synthetic and must not be interpreted as official statistics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Geographic references are illustrative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Budget implications are directional and require formal costing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Causal claims are not made without an appropriate design</a:t>
            </a:r>
          </a:p>
        </p:txBody>
      </p:sp>
      <p:sp>
        <p:nvSpPr>
          <p:cNvPr id="24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34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>
  <Application>VoiceInsights Africa</Application>
  <Slides>34</Slides>
</Properties>
</file>

<file path=docProps/core.xml><?xml version="1.0" encoding="utf-8"?>
<cp:coreProperties xmlns:cp="http://schemas.openxmlformats.org/package/2006/metadata/core-properties" xmlns:dc="http://purl.org/dc/elements/1.1/">
  <dc:title>Financial Inclusion Intelligence Report</dc:title>
  <dc:creator>VoiceInsights Africa</dc:creator>
</cp:coreProperties>
</file>