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B53"/>
        </a:solidFill>
      </p:bgPr>
    </p:bg>
    <p:spTree>
      <p:nvGrpSpPr>
        <p:cNvPr id="1" name=""/>
        <p:cNvGrpSpPr/>
        <p:nvPr/>
      </p:nvGrpSpPr>
      <p:grpSpPr>
        <a:xfrm>
          <a:off x="0" y="0"/>
          <a:ext cx="0" cy="0"/>
          <a:chOff x="0" y="0"/>
          <a:chExt cx="0" cy="0"/>
        </a:xfrm>
      </p:grpSpPr>
      <p:sp>
        <p:nvSpPr>
          <p:cNvPr id="2" name="Shape 0"/>
          <p:cNvSpPr/>
          <p:nvPr/>
        </p:nvSpPr>
        <p:spPr>
          <a:xfrm>
            <a:off x="0" y="5349240"/>
            <a:ext cx="12191695" cy="1508760"/>
          </a:xfrm>
          <a:prstGeom prst="rect">
            <a:avLst/>
          </a:prstGeom>
          <a:solidFill>
            <a:srgbClr val="486581"/>
          </a:solidFill>
          <a:ln w="12700">
            <a:solidFill>
              <a:srgbClr val="486581"/>
            </a:solidFill>
            <a:prstDash val="solid"/>
          </a:ln>
        </p:spPr>
      </p:sp>
      <p:sp>
        <p:nvSpPr>
          <p:cNvPr id="3" name="Shape 1"/>
          <p:cNvSpPr/>
          <p:nvPr/>
        </p:nvSpPr>
        <p:spPr>
          <a:xfrm>
            <a:off x="0" y="5120640"/>
            <a:ext cx="12191695" cy="91440"/>
          </a:xfrm>
          <a:prstGeom prst="rect">
            <a:avLst/>
          </a:prstGeom>
          <a:solidFill>
            <a:srgbClr val="2BB0A6"/>
          </a:solidFill>
          <a:ln w="12700">
            <a:solidFill>
              <a:srgbClr val="2BB0A6"/>
            </a:solidFill>
            <a:prstDash val="solid"/>
          </a:ln>
        </p:spPr>
      </p:sp>
      <p:sp>
        <p:nvSpPr>
          <p:cNvPr id="4" name="Shape 2"/>
          <p:cNvSpPr/>
          <p:nvPr/>
        </p:nvSpPr>
        <p:spPr>
          <a:xfrm>
            <a:off x="914400" y="1408176"/>
            <a:ext cx="1097280" cy="64008"/>
          </a:xfrm>
          <a:prstGeom prst="rect">
            <a:avLst/>
          </a:prstGeom>
          <a:solidFill>
            <a:srgbClr val="2BB0A6"/>
          </a:solidFill>
          <a:ln w="12700">
            <a:solidFill>
              <a:srgbClr val="2BB0A6"/>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2BB0A6"/>
                </a:solidFill>
              </a:rPr>
              <a:t>FLAGSHIP SYNTHETIC DEMONSTRATION PUBLICATION | COVER 16</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SDG Progress Intelligence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Africa | Sustainable Development</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This flagship synthetic demonstration publication examines sustainable development performance in Africa.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Focus acceleration plans on off-track targets for sustainable development.</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3279</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78%</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243B53"/>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Across Africa's synthetic study areas, target trajectory is the clearest differentiator of sustainable development performance. The evidence is strongest in East Africa,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Africa's synthetic study areas, leave-no-one-behind gaps is the clearest differentiator of sustainable development performance. The evidence is strongest in West Africa,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Africa's synthetic study areas, financing alignment is the clearest differentiator of sustainable development performance. The evidence is strongest in Southern Africa,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East Africa</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043477"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67%</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West Africa</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4103827" cy="201168"/>
          </a:xfrm>
          <a:prstGeom prst="roundRect">
            <a:avLst>
              <a:gd name="adj" fmla="val 13636"/>
            </a:avLst>
          </a:prstGeom>
          <a:solidFill>
            <a:srgbClr val="2BB0A6"/>
          </a:solidFill>
          <a:ln w="12700">
            <a:solidFill>
              <a:srgbClr val="2BB0A6"/>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68%</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Southern Africa</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4164178"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69%</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Central Africa</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4224528" cy="201168"/>
          </a:xfrm>
          <a:prstGeom prst="roundRect">
            <a:avLst>
              <a:gd name="adj" fmla="val 13636"/>
            </a:avLst>
          </a:prstGeom>
          <a:solidFill>
            <a:srgbClr val="2BB0A6"/>
          </a:solidFill>
          <a:ln w="12700">
            <a:solidFill>
              <a:srgbClr val="2BB0A6"/>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Targets on track</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646981"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452714" y="1737360"/>
            <a:ext cx="0" cy="347472"/>
          </a:xfrm>
          <a:prstGeom prst="line">
            <a:avLst/>
          </a:prstGeom>
          <a:noFill/>
          <a:ln w="19050">
            <a:solidFill>
              <a:srgbClr val="243B53"/>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77% / target 84%</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Equity gap index</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4707331" cy="201168"/>
          </a:xfrm>
          <a:prstGeom prst="roundRect">
            <a:avLst>
              <a:gd name="adj" fmla="val 13636"/>
            </a:avLst>
          </a:prstGeom>
          <a:solidFill>
            <a:srgbClr val="2BB0A6"/>
          </a:solidFill>
          <a:ln w="12700">
            <a:solidFill>
              <a:srgbClr val="2BB0A6"/>
            </a:solidFill>
            <a:prstDash val="solid"/>
          </a:ln>
        </p:spPr>
      </p:sp>
      <p:sp>
        <p:nvSpPr>
          <p:cNvPr id="16" name="Shape 13"/>
          <p:cNvSpPr/>
          <p:nvPr/>
        </p:nvSpPr>
        <p:spPr>
          <a:xfrm>
            <a:off x="8513064" y="2359152"/>
            <a:ext cx="0" cy="347472"/>
          </a:xfrm>
          <a:prstGeom prst="line">
            <a:avLst/>
          </a:prstGeom>
          <a:noFill/>
          <a:ln w="19050">
            <a:solidFill>
              <a:srgbClr val="243B53"/>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78% / target 85%</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SDG-aligned financing</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4767682"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8573414" y="2980944"/>
            <a:ext cx="0" cy="347472"/>
          </a:xfrm>
          <a:prstGeom prst="line">
            <a:avLst/>
          </a:prstGeom>
          <a:noFill/>
          <a:ln w="19050">
            <a:solidFill>
              <a:srgbClr val="243B53"/>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79% / target 86%</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Data availability score</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4828032" cy="201168"/>
          </a:xfrm>
          <a:prstGeom prst="roundRect">
            <a:avLst>
              <a:gd name="adj" fmla="val 13636"/>
            </a:avLst>
          </a:prstGeom>
          <a:solidFill>
            <a:srgbClr val="2BB0A6"/>
          </a:solidFill>
          <a:ln w="12700">
            <a:solidFill>
              <a:srgbClr val="2BB0A6"/>
            </a:solidFill>
            <a:prstDash val="solid"/>
          </a:ln>
        </p:spPr>
      </p:sp>
      <p:sp>
        <p:nvSpPr>
          <p:cNvPr id="26" name="Shape 23"/>
          <p:cNvSpPr/>
          <p:nvPr/>
        </p:nvSpPr>
        <p:spPr>
          <a:xfrm>
            <a:off x="8633765" y="3602736"/>
            <a:ext cx="0" cy="347472"/>
          </a:xfrm>
          <a:prstGeom prst="line">
            <a:avLst/>
          </a:prstGeom>
          <a:noFill/>
          <a:ln w="19050">
            <a:solidFill>
              <a:srgbClr val="243B53"/>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80% / target 87%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East Africa, target trajectory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West Africa, leave-no-one-behind gaps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Southern Africa, financing alignment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Focus acceleration plans on off-track targets for sustainable development.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Fund disaggregated leave-no-one-behind measures for sustainable development.</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Align budget tagging with SDG contribution logic for sustainable development.</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Close priority national data gaps for sustainable development.</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Screen investments for climate-development co-benefits for sustainable development.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Focus acceleration plans on off-track targets for sustainable development.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Fund disaggregated leave-no-one-behind measures for sustainable development.</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Align budget tagging with SDG contribution logic for sustainable development.</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Close priority national data gaps for sustainable development.</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Screen investments for climate-development co-benefits for sustainable development.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East Africa, target trajectory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West Africa, leave-no-one-behind gaps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Southern Africa, financing alignment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Central Africa, data availability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East Africa, climate-development co-benefits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sampling frame: Synthetic frame covering programme-relevant population groups in Africa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sample size: 3279</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Data Protection and Privacy Controls: The publication uses governed response, evidence and export data.</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SDG Context-specific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2BB0A6"/>
          </a:solidFill>
          <a:ln w="12700">
            <a:solidFill>
              <a:srgbClr val="2BB0A6"/>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3B5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2BB0A6"/>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SDG Progress Intelligence Report</dc:title>
  <dc:subject>Synthetic Demonstration Publication</dc:subject>
  <dc:creator>VoiceInsights Africa</dc:creator>
  <cp:lastModifiedBy>VoiceInsights Africa</cp:lastModifiedBy>
  <cp:revision>1</cp:revision>
  <dcterms:created xsi:type="dcterms:W3CDTF">2026-07-12T22:51:26Z</dcterms:created>
  <dcterms:modified xsi:type="dcterms:W3CDTF">2026-07-12T22:51:26Z</dcterms:modified>
</cp:coreProperties>
</file>