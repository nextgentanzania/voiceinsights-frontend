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slide" Target="slides/slide33.xml"/><Relationship Id="rId34" Type="http://schemas.openxmlformats.org/officeDocument/2006/relationships/slide" Target="slides/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251D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4" name="Accent panel"/>
          <p:cNvSpPr/>
          <p:nvPr/>
        </p:nvSpPr>
        <p:spPr>
          <a:xfrm>
            <a:off x="9300000" y="0"/>
            <a:ext cx="2892000" cy="6858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Gold rule"/>
          <p:cNvSpPr/>
          <p:nvPr/>
        </p:nvSpPr>
        <p:spPr>
          <a:xfrm>
            <a:off x="8880000" y="0"/>
            <a:ext cx="120000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6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0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1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FFFFFF"/>
                </a:solidFill>
                <a:latin typeface="Aptos"/>
              </a:rPr>
              <a:t>VOICEINSIGHTS AFRICA</a:t>
            </a:r>
          </a:p>
        </p:txBody>
      </p:sp>
      <p:sp>
        <p:nvSpPr>
          <p:cNvPr id="12" name="Classification"/>
          <p:cNvSpPr txBox="1"/>
          <p:nvPr/>
        </p:nvSpPr>
        <p:spPr>
          <a:xfrm>
            <a:off x="640000" y="1160000"/>
            <a:ext cx="7100000" cy="4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250" b="1">
                <a:solidFill>
                  <a:srgbClr val="D4AF37"/>
                </a:solidFill>
                <a:latin typeface="Aptos"/>
              </a:rPr>
              <a:t>FLAGSHIP SYNTHETIC DEMONSTRATION PUBLICATION</a:t>
            </a:r>
          </a:p>
        </p:txBody>
      </p:sp>
      <p:sp>
        <p:nvSpPr>
          <p:cNvPr id="13" name="Title"/>
          <p:cNvSpPr txBox="1"/>
          <p:nvPr/>
        </p:nvSpPr>
        <p:spPr>
          <a:xfrm>
            <a:off x="640000" y="1760000"/>
            <a:ext cx="7600000" cy="19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3600" b="1">
                <a:solidFill>
                  <a:srgbClr val="FFFFFF"/>
                </a:solidFill>
                <a:latin typeface="Aptos"/>
              </a:rPr>
              <a:t>Customer Experience Intelligence Report</a:t>
            </a:r>
          </a:p>
        </p:txBody>
      </p:sp>
      <p:sp>
        <p:nvSpPr>
          <p:cNvPr id="14" name="Subtitle"/>
          <p:cNvSpPr txBox="1"/>
          <p:nvPr/>
        </p:nvSpPr>
        <p:spPr>
          <a:xfrm>
            <a:off x="640000" y="3900000"/>
            <a:ext cx="6900000" cy="4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800">
                <a:solidFill>
                  <a:srgbClr val="D8E5DF"/>
                </a:solidFill>
                <a:latin typeface="Aptos"/>
              </a:rPr>
              <a:t>Tanzania | Customer Experience</a:t>
            </a:r>
          </a:p>
        </p:txBody>
      </p:sp>
      <p:sp>
        <p:nvSpPr>
          <p:cNvPr id="15" name="Prepared"/>
          <p:cNvSpPr txBox="1"/>
          <p:nvPr/>
        </p:nvSpPr>
        <p:spPr>
          <a:xfrm>
            <a:off x="640000" y="5000000"/>
            <a:ext cx="6500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FFFFFF"/>
                </a:solidFill>
                <a:latin typeface="Aptos"/>
              </a:rPr>
              <a:t>Prepared by VoiceInsights Africa Every Voice. Every Language. Every Insight.</a:t>
            </a:r>
          </a:p>
        </p:txBody>
      </p:sp>
      <p:sp>
        <p:nvSpPr>
          <p:cNvPr id="16" name="Notice"/>
          <p:cNvSpPr txBox="1"/>
          <p:nvPr/>
        </p:nvSpPr>
        <p:spPr>
          <a:xfrm>
            <a:off x="9550000" y="5260000"/>
            <a:ext cx="2050000" cy="6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SYNTHETIC DATA Not official statistics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Five-minute leadership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Executive Intelligence Book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executive brief: Corporate leadership's attention should shift from monitoring customer experience performance to acting on the specific groups and locations the evidence flags as most exposed.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decision snapshot: Redesign the two highest-friction journeys.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decision snapshot: Give frontline teams authority for first-contact recovery.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decision snapshot: Publish plain-language pricing and service explanations.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critical findings: Journey friction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What matters, why it matters and what must be decided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Executive Brief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summary: Tanzania has made real gains in customer experience performance — and real gaps remain alongside them. This publication separates the two, using a governed evidence model built to surface risk and opportunity, not just describe them. No claim in this publication stands alone: findings link to synthetic evidence, recommendations carry a named owner, and every statistic shares one internally consistent dataset.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decision: Redesign the two highest-friction journeys.</a:t>
            </a:r>
          </a:p>
        </p:txBody>
      </p:sp>
      <p:sp>
        <p:nvSpPr>
          <p:cNvPr id="18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Accountable choices for leadership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Priority Decisions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Redesign the two highest-friction journeys.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Give frontline teams authority for first-contact recovery.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Publish plain-language pricing and service explanations.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Introduce assisted channels for vulnerable customers.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Trigger retention interventions from governed churn signals.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Evidence-backed signals requiring attention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Critical Findings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Journey friction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First-contact resolution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Trust and transparency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Vulnerable customer inclusion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Churn propensity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Claim-to-source lineage and confidence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Evidence Intelligence Book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“In Dar es Salaam, journey friction shapes whether rural women can turn services into lasting outcomes.”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“Young adults in Northern Zone put it plainly: first-contact resolution is what decides whether progress holds or slips back.”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“Why does Lake Zone lag behind? Ask persons with disabilities, and the answer comes back to trust and transparency.”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“Elsewhere, vulnerable customer inclusion might be a footnote. For frontline workers in Digital-only Customers, it is the whole story.”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“Low-income households in Dar es Salaam frame it simply: when churn propensity breaks down, everything else does too.”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Evidence Intelligence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evidence: “In Dar es Salaam, journey friction shapes whether rural women can turn services into lasting outcomes.”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evidence: “Young adults in Northern Zone put it plainly: first-contact resolution is what decides whether progress holds or slips back.”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evidence: “Why does Lake Zone lag behind? Ask persons with disabilities, and the answer comes back to trust and transparency.”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evidence: “Elsewhere, vulnerable customer inclusion might be a footnote. For frontline workers in Digital-only Customers, it is the whole story.”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evidence: “Low-income households in Dar es Salaam frame it simply: when churn propensity breaks down, everything else does too.”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Sampling, weighting, uncertainty and reproducibility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Statistical Intelligence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sampling design: Stratified multi-stage synthetic demonstration design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sampling frame: Synthetic frame covering programme-relevant population groups in Tanzania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Region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Urban/rural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Sex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Prioritisation for management action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Risk and Opportunity Matrix</a:t>
            </a:r>
          </a:p>
        </p:txBody>
      </p:sp>
      <p:sp>
        <p:nvSpPr>
          <p:cNvPr id="12" name="Risk panel"/>
          <p:cNvSpPr/>
          <p:nvPr/>
        </p:nvSpPr>
        <p:spPr>
          <a:xfrm>
            <a:off x="640000" y="2050000"/>
            <a:ext cx="5200000" cy="3400000"/>
          </a:xfrm>
          <a:prstGeom prst="roundRect">
            <a:avLst/>
          </a:prstGeom>
          <a:solidFill>
            <a:srgbClr val="FFF2F0"/>
          </a:solidFill>
          <a:ln w="12700">
            <a:solidFill>
              <a:srgbClr val="E7C5BF"/>
            </a:solidFill>
          </a:ln>
        </p:spPr>
      </p:sp>
      <p:sp>
        <p:nvSpPr>
          <p:cNvPr id="13" name="Opportunity panel"/>
          <p:cNvSpPr/>
          <p:nvPr/>
        </p:nvSpPr>
        <p:spPr>
          <a:xfrm>
            <a:off x="5980000" y="2050000"/>
            <a:ext cx="5200000" cy="3400000"/>
          </a:xfrm>
          <a:prstGeom prst="roundRect">
            <a:avLst/>
          </a:prstGeom>
          <a:solidFill>
            <a:srgbClr val="ECF7F1"/>
          </a:solidFill>
          <a:ln w="12700">
            <a:solidFill>
              <a:srgbClr val="B8DCCB"/>
            </a:solidFill>
          </a:ln>
        </p:spPr>
      </p:sp>
      <p:sp>
        <p:nvSpPr>
          <p:cNvPr id="14" name="Risk title"/>
          <p:cNvSpPr txBox="1"/>
          <p:nvPr/>
        </p:nvSpPr>
        <p:spPr>
          <a:xfrm>
            <a:off x="940000" y="2320000"/>
            <a:ext cx="4400000" cy="3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350" b="1">
                <a:solidFill>
                  <a:srgbClr val="A33A2B"/>
                </a:solidFill>
                <a:latin typeface="Aptos"/>
              </a:rPr>
              <a:t>CRITICAL RISKS</a:t>
            </a:r>
          </a:p>
        </p:txBody>
      </p:sp>
      <p:sp>
        <p:nvSpPr>
          <p:cNvPr id="15" name="Opportunity title"/>
          <p:cNvSpPr txBox="1"/>
          <p:nvPr/>
        </p:nvSpPr>
        <p:spPr>
          <a:xfrm>
            <a:off x="6280000" y="2320000"/>
            <a:ext cx="4400000" cy="3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350" b="1">
                <a:solidFill>
                  <a:srgbClr val="0B6E4F"/>
                </a:solidFill>
                <a:latin typeface="Aptos"/>
              </a:rPr>
              <a:t>TOP OPPORTUNITIES</a:t>
            </a:r>
          </a:p>
        </p:txBody>
      </p:sp>
      <p:sp>
        <p:nvSpPr>
          <p:cNvPr id="16" name="Risks"/>
          <p:cNvSpPr txBox="1"/>
          <p:nvPr/>
        </p:nvSpPr>
        <p:spPr>
          <a:xfrm>
            <a:off x="940000" y="2850000"/>
            <a:ext cx="4400000" cy="22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532B25"/>
                </a:solidFill>
                <a:latin typeface="Aptos"/>
              </a:rPr>
              <a:t>1. Evidence and monitoring capacity lags the pace of decisions being made on customer experience 2. External factors outside this publication's scope could offset gains in customer experience</a:t>
            </a:r>
          </a:p>
        </p:txBody>
      </p:sp>
      <p:sp>
        <p:nvSpPr>
          <p:cNvPr id="17" name="Opportunities"/>
          <p:cNvSpPr txBox="1"/>
          <p:nvPr/>
        </p:nvSpPr>
        <p:spPr>
          <a:xfrm>
            <a:off x="6280000" y="2850000"/>
            <a:ext cx="4400000" cy="22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64C3A"/>
                </a:solidFill>
                <a:latin typeface="Aptos"/>
              </a:rPr>
              <a:t>1. Closing the equity gap the evidence has already located 2. Using the confidence intervals already published here to focus investment 3. Evidence-led reallocation of resources already committed to customer experience</a:t>
            </a:r>
          </a:p>
        </p:txBody>
      </p:sp>
      <p:sp>
        <p:nvSpPr>
          <p:cNvPr id="18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International Standards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framework: Data Protection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relevance: Applied where relevant to Customer Experience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evidence ids: EVI-CUS-001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evidence ids: EVI-CUS-002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limitations: Synthetic demonstration mapping; institutional validation not implied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OECD-DAC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Synthetic evidence indicates a strong relevance signal, subject to the stated design limitations.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Synthetic evidence indicates a moderate-to-strong coherence signal, subject to the stated design limitations.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Synthetic evidence indicates a strong effectiveness signal, subject to the stated design limitations.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Synthetic evidence indicates a moderate-to-strong efficiency signal, subject to the stated design limitations.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Synthetic evidence indicates a strong impact signal, subject to the stated design limitations.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Results-Based Management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inputs: Governed synthetic data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inputs: Delivery capacity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inputs: Approved financing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activities: Evidence collection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activities: Segmented analysis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Core Humanitarian Standard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commitment number: 1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commitment: CHS Commitment 1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evidence ids: EVI-CUS-001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status: CONTEXT ONLY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action: Validate relevance and assign an accountable owner before live use.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Immediate, medium-term and strategic action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Implementation Roadmap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Redesign the two highest-friction journeys.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Give frontline teams authority for first-contact recovery.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Publish plain-language pricing and service explanations.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Introduce assisted channels for vulnerable customers.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Trigger retention interventions from governed churn signals.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Evidence, statistical, visual and decision assurance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Publication Quality Gate</a:t>
            </a:r>
          </a:p>
        </p:txBody>
      </p:sp>
      <p:sp>
        <p:nvSpPr>
          <p:cNvPr id="12" name="Metric card 1"/>
          <p:cNvSpPr/>
          <p:nvPr/>
        </p:nvSpPr>
        <p:spPr>
          <a:xfrm>
            <a:off x="640000" y="2050000"/>
            <a:ext cx="2580000" cy="15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7E2"/>
            </a:solidFill>
          </a:ln>
        </p:spPr>
      </p:sp>
      <p:sp>
        <p:nvSpPr>
          <p:cNvPr id="13" name="Metric value 1"/>
          <p:cNvSpPr txBox="1"/>
          <p:nvPr/>
        </p:nvSpPr>
        <p:spPr>
          <a:xfrm>
            <a:off x="820000" y="2300000"/>
            <a:ext cx="2220000" cy="5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0B2E59"/>
                </a:solidFill>
                <a:latin typeface="Aptos"/>
              </a:rPr>
              <a:t>Passed</a:t>
            </a:r>
          </a:p>
        </p:txBody>
      </p:sp>
      <p:sp>
        <p:nvSpPr>
          <p:cNvPr id="14" name="Metric label 1"/>
          <p:cNvSpPr txBox="1"/>
          <p:nvPr/>
        </p:nvSpPr>
        <p:spPr>
          <a:xfrm>
            <a:off x="820000" y="3000000"/>
            <a:ext cx="2220000" cy="38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52667A"/>
                </a:solidFill>
                <a:latin typeface="Aptos"/>
              </a:rPr>
              <a:t>Editorial Review Passed</a:t>
            </a:r>
          </a:p>
        </p:txBody>
      </p:sp>
      <p:sp>
        <p:nvSpPr>
          <p:cNvPr id="15" name="Metric card 2"/>
          <p:cNvSpPr/>
          <p:nvPr/>
        </p:nvSpPr>
        <p:spPr>
          <a:xfrm>
            <a:off x="3470000" y="2050000"/>
            <a:ext cx="2580000" cy="15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7E2"/>
            </a:solidFill>
          </a:ln>
        </p:spPr>
      </p:sp>
      <p:sp>
        <p:nvSpPr>
          <p:cNvPr id="16" name="Metric value 2"/>
          <p:cNvSpPr txBox="1"/>
          <p:nvPr/>
        </p:nvSpPr>
        <p:spPr>
          <a:xfrm>
            <a:off x="3650000" y="2300000"/>
            <a:ext cx="2220000" cy="5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0B2E59"/>
                </a:solidFill>
                <a:latin typeface="Aptos"/>
              </a:rPr>
              <a:t>Passed</a:t>
            </a:r>
          </a:p>
        </p:txBody>
      </p:sp>
      <p:sp>
        <p:nvSpPr>
          <p:cNvPr id="17" name="Metric label 2"/>
          <p:cNvSpPr txBox="1"/>
          <p:nvPr/>
        </p:nvSpPr>
        <p:spPr>
          <a:xfrm>
            <a:off x="3650000" y="3000000"/>
            <a:ext cx="2220000" cy="38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52667A"/>
                </a:solidFill>
                <a:latin typeface="Aptos"/>
              </a:rPr>
              <a:t>Evidence Review Passed</a:t>
            </a:r>
          </a:p>
        </p:txBody>
      </p:sp>
      <p:sp>
        <p:nvSpPr>
          <p:cNvPr id="18" name="Metric card 3"/>
          <p:cNvSpPr/>
          <p:nvPr/>
        </p:nvSpPr>
        <p:spPr>
          <a:xfrm>
            <a:off x="6300000" y="2050000"/>
            <a:ext cx="2580000" cy="15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7E2"/>
            </a:solidFill>
          </a:ln>
        </p:spPr>
      </p:sp>
      <p:sp>
        <p:nvSpPr>
          <p:cNvPr id="19" name="Metric value 3"/>
          <p:cNvSpPr txBox="1"/>
          <p:nvPr/>
        </p:nvSpPr>
        <p:spPr>
          <a:xfrm>
            <a:off x="6480000" y="2300000"/>
            <a:ext cx="2220000" cy="5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0B2E59"/>
                </a:solidFill>
                <a:latin typeface="Aptos"/>
              </a:rPr>
              <a:t>Passed</a:t>
            </a:r>
          </a:p>
        </p:txBody>
      </p:sp>
      <p:sp>
        <p:nvSpPr>
          <p:cNvPr id="20" name="Metric label 3"/>
          <p:cNvSpPr txBox="1"/>
          <p:nvPr/>
        </p:nvSpPr>
        <p:spPr>
          <a:xfrm>
            <a:off x="6480000" y="3000000"/>
            <a:ext cx="2220000" cy="38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52667A"/>
                </a:solidFill>
                <a:latin typeface="Aptos"/>
              </a:rPr>
              <a:t>Publication Integrity Verified</a:t>
            </a:r>
          </a:p>
        </p:txBody>
      </p:sp>
      <p:sp>
        <p:nvSpPr>
          <p:cNvPr id="21" name="Metric card 4"/>
          <p:cNvSpPr/>
          <p:nvPr/>
        </p:nvSpPr>
        <p:spPr>
          <a:xfrm>
            <a:off x="9130000" y="2050000"/>
            <a:ext cx="2580000" cy="15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7E2"/>
            </a:solidFill>
          </a:ln>
        </p:spPr>
      </p:sp>
      <p:sp>
        <p:nvSpPr>
          <p:cNvPr id="22" name="Metric value 4"/>
          <p:cNvSpPr txBox="1"/>
          <p:nvPr/>
        </p:nvSpPr>
        <p:spPr>
          <a:xfrm>
            <a:off x="9310000" y="2300000"/>
            <a:ext cx="2220000" cy="5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0B2E59"/>
                </a:solidFill>
                <a:latin typeface="Aptos"/>
              </a:rPr>
              <a:t>Passed</a:t>
            </a:r>
          </a:p>
        </p:txBody>
      </p:sp>
      <p:sp>
        <p:nvSpPr>
          <p:cNvPr id="23" name="Metric label 4"/>
          <p:cNvSpPr txBox="1"/>
          <p:nvPr/>
        </p:nvSpPr>
        <p:spPr>
          <a:xfrm>
            <a:off x="9310000" y="3000000"/>
            <a:ext cx="2220000" cy="38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52667A"/>
                </a:solidFill>
                <a:latin typeface="Aptos"/>
              </a:rPr>
              <a:t>Accessibility Verified</a:t>
            </a:r>
          </a:p>
        </p:txBody>
      </p:sp>
      <p:sp>
        <p:nvSpPr>
          <p:cNvPr id="24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Visual Intelligence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visualizations: Executive Kpi Cards: Customer effort score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visualizations: Regional Heat Map: First-contact resolution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visualizations: Choropleth Map: Trust index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visualizations: Risk Matrix: Predicted retention rate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visualizations: Decision Matrix: Customer effort score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Accessibility Assurance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wcag target: WCAG 2.2 AA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tagged pdf required: true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alt text required: true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table fallback required: true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keyboard navigation required: true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Publication Products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exports: Premium PDF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exports: Editable Word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exports: Native PowerPoint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exports: Statistical Excel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exports: Board Deck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Methodology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research objectives: Assess customer experience performance and equity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research objectives: Identify operational drivers and decision priorities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evaluation questions: What outcomes are changing?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evaluation questions: Who is being left behind?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evaluation questions: Which actions are most likely to improve performance?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Sampling Design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sampling design: Stratified multi-stage synthetic demonstration design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sampling frame: Synthetic frame covering programme-relevant population groups in Tanzania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Region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Urban/rural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Sex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Weighting and Uncertainty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sampling design: Stratified multi-stage synthetic demonstration design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sampling frame: Synthetic frame covering programme-relevant population groups in Tanzania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Region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Urban/rural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Sex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Reliability and Validity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sampling design: Stratified multi-stage synthetic demonstration design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sampling frame: Synthetic frame covering programme-relevant population groups in Tanzania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Region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Urban/rural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Sex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Missing Data and Outliers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sampling design: Stratified multi-stage synthetic demonstration design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sampling frame: Synthetic frame covering programme-relevant population groups in Tanzania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Region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Urban/rural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Sex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Regional Intelligence Map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visual: Choropleth Map: Trust index</a:t>
            </a:r>
          </a:p>
        </p:txBody>
      </p:sp>
      <p:sp>
        <p:nvSpPr>
          <p:cNvPr id="15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Performance Heat Map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visual: Regional Heat Map: First-contact resolution</a:t>
            </a:r>
          </a:p>
        </p:txBody>
      </p:sp>
      <p:sp>
        <p:nvSpPr>
          <p:cNvPr id="15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Risk Matrix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risk: Evidence and monitoring capacity lags the pace of decisions being made on customer experience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likelihood: Medium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impact: Medium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risk: External factors outside this publication's scope could offset gains in customer experience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likelihood: Low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Decision Matrix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Redesign the two highest-friction journeys.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Give frontline teams authority for first-contact recovery.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Publish plain-language pricing and service explanations.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Introduce assisted channels for vulnerable customers.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Trigger retention interventions from governed churn signals.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Opportunity Matrix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Closing the equity gap the evidence has already located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Using the confidence intervals already published here to focus investment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Evidence-led reallocation of resources already committed to customer experience</a:t>
            </a:r>
          </a:p>
        </p:txBody>
      </p:sp>
      <p:sp>
        <p:nvSpPr>
          <p:cNvPr id="21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Cost of Inaction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narrative: Delaying action on customer experience performance is unlikely to be neutral: the evidence suggests the current gap compounds rather than holds steady.</a:t>
            </a:r>
          </a:p>
        </p:txBody>
      </p:sp>
      <p:sp>
        <p:nvSpPr>
          <p:cNvPr id="15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Ownership Matrix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DEC-CUS-01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DEC-CUS-02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DEC-CUS-03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DEC-CUS-04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DEC-CUS-05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Implementation Roadmap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Redesign the two highest-friction journeys.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Give frontline teams authority for first-contact recovery.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Publish plain-language pricing and service explanations.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Introduce assisted channels for vulnerable customers.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Trigger retention interventions from governed churn signals.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Data Dictionary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variable: indicator 1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label: Synthetic Customer Experience indicator 1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type: numeric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allowed values: 0–100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missing code: NA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Appendices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Technical methodology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Sampling and weighting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Evidence registry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Statistical tables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Data dictionary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Responsible interpretation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Limitations and Integrity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All content is synthetic and must not be interpreted as official statistics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Geographic references are illustrative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Budget implications are directional and require formal costing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Causal claims are not made without an appropriate design</a:t>
            </a:r>
          </a:p>
        </p:txBody>
      </p:sp>
      <p:sp>
        <p:nvSpPr>
          <p:cNvPr id="24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34</a:t>
            </a:r>
          </a:p>
        </p:txBody>
      </p:sp>
    </p:spTree>
  </p:cSld>
  <p:clrMapOvr>
    <a:masterClrMapping/>
  </p:clrMapOvr>
</p:sld>
</file>

<file path=docProps/app.xml><?xml version="1.0" encoding="utf-8"?>
<Properties xmlns="http://schemas.openxmlformats.org/officeDocument/2006/extended-properties">
  <Application>VoiceInsights Africa</Application>
  <Slides>34</Slides>
</Properties>
</file>

<file path=docProps/core.xml><?xml version="1.0" encoding="utf-8"?>
<cp:coreProperties xmlns:cp="http://schemas.openxmlformats.org/package/2006/metadata/core-properties" xmlns:dc="http://purl.org/dc/elements/1.1/">
  <dc:title>Customer Experience Intelligence Report</dc:title>
  <dc:creator>VoiceInsights Africa</dc:creator>
</cp:coreProperties>
</file>