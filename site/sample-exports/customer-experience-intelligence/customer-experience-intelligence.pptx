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0B7A75"/>
          </a:solidFill>
          <a:ln w="12700">
            <a:solidFill>
              <a:srgbClr val="0B7A75"/>
            </a:solidFill>
            <a:prstDash val="solid"/>
          </a:ln>
        </p:spPr>
      </p:sp>
      <p:sp>
        <p:nvSpPr>
          <p:cNvPr id="3" name="Shape 1"/>
          <p:cNvSpPr/>
          <p:nvPr/>
        </p:nvSpPr>
        <p:spPr>
          <a:xfrm>
            <a:off x="2542032" y="0"/>
            <a:ext cx="91440" cy="6858000"/>
          </a:xfrm>
          <a:prstGeom prst="rect">
            <a:avLst/>
          </a:prstGeom>
          <a:solidFill>
            <a:srgbClr val="D4AF37"/>
          </a:solidFill>
          <a:ln w="12700">
            <a:solidFill>
              <a:srgbClr val="D4AF37"/>
            </a:solidFill>
            <a:prstDash val="solid"/>
          </a:ln>
        </p:spPr>
      </p:sp>
      <p:sp>
        <p:nvSpPr>
          <p:cNvPr id="4" name="Shape 2"/>
          <p:cNvSpPr/>
          <p:nvPr/>
        </p:nvSpPr>
        <p:spPr>
          <a:xfrm>
            <a:off x="914400" y="1554480"/>
            <a:ext cx="1737360" cy="64008"/>
          </a:xfrm>
          <a:prstGeom prst="rect">
            <a:avLst/>
          </a:prstGeom>
          <a:solidFill>
            <a:srgbClr val="D4AF37"/>
          </a:solidFill>
          <a:ln w="12700">
            <a:solidFill>
              <a:srgbClr val="D4AF37"/>
            </a:solidFill>
            <a:prstDash val="solid"/>
          </a:ln>
        </p:spPr>
      </p:sp>
      <p:pic>
        <p:nvPicPr>
          <p:cNvPr id="5" name="Image 0" descr="preencoded.png">    </p:cNvPr>
          <p:cNvPicPr>
            <a:picLocks noChangeAspect="1"/>
          </p:cNvPicPr>
          <p:nvPr/>
        </p:nvPicPr>
        <p:blipFill>
          <a:blip r:embed="rId1"/>
          <a:stretch>
            <a:fillRect/>
          </a:stretch>
        </p:blipFill>
        <p:spPr>
          <a:xfrm>
            <a:off x="594360" y="320040"/>
            <a:ext cx="777240" cy="548640"/>
          </a:xfrm>
          <a:prstGeom prst="rect">
            <a:avLst/>
          </a:prstGeom>
        </p:spPr>
      </p:pic>
      <p:sp>
        <p:nvSpPr>
          <p:cNvPr id="6" name="Text 3"/>
          <p:cNvSpPr/>
          <p:nvPr/>
        </p:nvSpPr>
        <p:spPr>
          <a:xfrm>
            <a:off x="1508760" y="42976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7" name="Text 4"/>
          <p:cNvSpPr/>
          <p:nvPr/>
        </p:nvSpPr>
        <p:spPr>
          <a:xfrm>
            <a:off x="594360" y="1234440"/>
            <a:ext cx="7132320" cy="228600"/>
          </a:xfrm>
          <a:prstGeom prst="rect">
            <a:avLst/>
          </a:prstGeom>
          <a:noFill/>
          <a:ln/>
        </p:spPr>
        <p:txBody>
          <a:bodyPr wrap="square" lIns="0" tIns="0" rIns="0" bIns="0" rtlCol="0" anchor="ctr"/>
          <a:lstStyle/>
          <a:p>
            <a:pPr indent="0" marL="0">
              <a:buNone/>
            </a:pPr>
            <a:r>
              <a:rPr lang="en-US" sz="900" b="1" spc="100" kern="0" dirty="0">
                <a:solidFill>
                  <a:srgbClr val="D4AF37"/>
                </a:solidFill>
              </a:rPr>
              <a:t>FLAGSHIP SYNTHETIC DEMONSTRATION PUBLICATION | COVER 6</a:t>
            </a:r>
            <a:endParaRPr lang="en-US" sz="900" dirty="0"/>
          </a:p>
        </p:txBody>
      </p:sp>
      <p:sp>
        <p:nvSpPr>
          <p:cNvPr id="8" name="Text 5"/>
          <p:cNvSpPr/>
          <p:nvPr/>
        </p:nvSpPr>
        <p:spPr>
          <a:xfrm>
            <a:off x="594360" y="1828800"/>
            <a:ext cx="7589520" cy="1371600"/>
          </a:xfrm>
          <a:prstGeom prst="rect">
            <a:avLst/>
          </a:prstGeom>
          <a:noFill/>
          <a:ln/>
        </p:spPr>
        <p:txBody>
          <a:bodyPr wrap="square" lIns="0" tIns="0" rIns="0" bIns="0" rtlCol="0" anchor="ctr"/>
          <a:lstStyle/>
          <a:p>
            <a:pPr indent="0" marL="0">
              <a:buNone/>
            </a:pPr>
            <a:r>
              <a:rPr lang="en-US" sz="3000" b="1" dirty="0">
                <a:solidFill>
                  <a:srgbClr val="FFFFFF"/>
                </a:solidFill>
              </a:rPr>
              <a:t>Customer Experience Intelligence Report</a:t>
            </a:r>
            <a:endParaRPr lang="en-US" sz="3000" dirty="0"/>
          </a:p>
        </p:txBody>
      </p:sp>
      <p:sp>
        <p:nvSpPr>
          <p:cNvPr id="9" name="Text 6"/>
          <p:cNvSpPr/>
          <p:nvPr/>
        </p:nvSpPr>
        <p:spPr>
          <a:xfrm>
            <a:off x="594360" y="3566160"/>
            <a:ext cx="5943600" cy="320040"/>
          </a:xfrm>
          <a:prstGeom prst="rect">
            <a:avLst/>
          </a:prstGeom>
          <a:noFill/>
          <a:ln/>
        </p:spPr>
        <p:txBody>
          <a:bodyPr wrap="square" lIns="0" tIns="0" rIns="0" bIns="0" rtlCol="0" anchor="ctr"/>
          <a:lstStyle/>
          <a:p>
            <a:pPr indent="0" marL="0">
              <a:buNone/>
            </a:pPr>
            <a:r>
              <a:rPr lang="en-US" sz="1600" dirty="0">
                <a:solidFill>
                  <a:srgbClr val="DDE9E4"/>
                </a:solidFill>
              </a:rPr>
              <a:t>Tanzania | Financial Services</a:t>
            </a:r>
            <a:endParaRPr lang="en-US" sz="1600" dirty="0"/>
          </a:p>
        </p:txBody>
      </p:sp>
      <p:sp>
        <p:nvSpPr>
          <p:cNvPr id="10" name="Text 7"/>
          <p:cNvSpPr/>
          <p:nvPr/>
        </p:nvSpPr>
        <p:spPr>
          <a:xfrm>
            <a:off x="594360" y="4526280"/>
            <a:ext cx="6035040" cy="640080"/>
          </a:xfrm>
          <a:prstGeom prst="rect">
            <a:avLst/>
          </a:prstGeom>
          <a:noFill/>
          <a:ln/>
        </p:spPr>
        <p:txBody>
          <a:bodyPr wrap="square" lIns="0" tIns="0" rIns="0" bIns="0" rtlCol="0" anchor="ctr"/>
          <a:lstStyle/>
          <a:p>
            <a:pPr indent="0" marL="0">
              <a:buNone/>
            </a:pPr>
            <a:r>
              <a:rPr lang="en-US" sz="1100" dirty="0">
                <a:solidFill>
                  <a:srgbClr val="FFFFFF"/>
                </a:solidFill>
              </a:rPr>
              <a:t>Prepared by VoiceInsights Africa</a:t>
            </a:r>
            <a:endParaRPr lang="en-US" sz="1100" dirty="0"/>
          </a:p>
          <a:p>
            <a:pPr indent="0" marL="0">
              <a:buNone/>
            </a:pPr>
            <a:r>
              <a:rPr lang="en-US" sz="1100" dirty="0">
                <a:solidFill>
                  <a:srgbClr val="FFFFFF"/>
                </a:solidFill>
              </a:rPr>
              <a:t>Every Voice. Every Language. Every Insight.</a:t>
            </a:r>
            <a:endParaRPr lang="en-US" sz="1100" dirty="0"/>
          </a:p>
        </p:txBody>
      </p:sp>
      <p:sp>
        <p:nvSpPr>
          <p:cNvPr id="11" name="Text 8"/>
          <p:cNvSpPr/>
          <p:nvPr/>
        </p:nvSpPr>
        <p:spPr>
          <a:xfrm>
            <a:off x="9555480" y="5394960"/>
            <a:ext cx="2194560" cy="640080"/>
          </a:xfrm>
          <a:prstGeom prst="rect">
            <a:avLst/>
          </a:prstGeom>
          <a:noFill/>
          <a:ln/>
        </p:spPr>
        <p:txBody>
          <a:bodyPr wrap="square" lIns="0" tIns="0" rIns="0" bIns="0" rtlCol="0" anchor="ctr"/>
          <a:lstStyle/>
          <a:p>
            <a:pPr algn="ctr" indent="0" marL="0">
              <a:buNone/>
            </a:pPr>
            <a:r>
              <a:rPr lang="en-US" sz="1100" b="1" dirty="0">
                <a:solidFill>
                  <a:srgbClr val="FFFFFF"/>
                </a:solidFill>
              </a:rPr>
              <a:t>SYNTHETIC DATA</a:t>
            </a:r>
            <a:endParaRPr lang="en-US" sz="1100" dirty="0"/>
          </a:p>
          <a:p>
            <a:pPr algn="ctr" indent="0" marL="0">
              <a:buNone/>
            </a:pPr>
            <a:r>
              <a:rPr lang="en-US" sz="1100" b="1" dirty="0">
                <a:solidFill>
                  <a:srgbClr val="FFFFFF"/>
                </a:solidFill>
              </a:rPr>
              <a:t>Not official statistics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EXECUTIVE BRIEF</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decision in five minutes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This flagship synthetic demonstration publication examines financial services performance in Tanzania. The governed evidence model identifies uneven progress, concentrated risks and actionable opportunities. Findings are linked to synthetic source records, recommendations carry named accountability fields, and all statistical claims are generated from one internally consistent dataset.</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Redesign the two highest-friction journeys for financial services.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Improvement is achievable within 12–18 months if ownership, resourcing and evidence review are maintained.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PERFORMANCE AND CONFIDENCE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Executive dashboard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03 | Synthetic Demonstration Publication</a:t>
            </a:r>
            <a:endParaRPr lang="en-US" sz="700" dirty="0"/>
          </a:p>
        </p:txBody>
      </p:sp>
      <p:sp>
        <p:nvSpPr>
          <p:cNvPr id="8" name="Shape 5"/>
          <p:cNvSpPr/>
          <p:nvPr/>
        </p:nvSpPr>
        <p:spPr>
          <a:xfrm>
            <a:off x="548640" y="1874520"/>
            <a:ext cx="2514600" cy="1280160"/>
          </a:xfrm>
          <a:prstGeom prst="roundRect">
            <a:avLst>
              <a:gd name="adj" fmla="val 5714"/>
            </a:avLst>
          </a:prstGeom>
          <a:solidFill>
            <a:srgbClr val="FFFFFF"/>
          </a:solidFill>
          <a:ln w="12700">
            <a:solidFill>
              <a:srgbClr val="D8E5DF"/>
            </a:solidFill>
            <a:prstDash val="solid"/>
          </a:ln>
        </p:spPr>
      </p:sp>
      <p:sp>
        <p:nvSpPr>
          <p:cNvPr id="9" name="Text 6"/>
          <p:cNvSpPr/>
          <p:nvPr/>
        </p:nvSpPr>
        <p:spPr>
          <a:xfrm>
            <a:off x="713232" y="2121408"/>
            <a:ext cx="2148840" cy="411480"/>
          </a:xfrm>
          <a:prstGeom prst="rect">
            <a:avLst/>
          </a:prstGeom>
          <a:noFill/>
          <a:ln/>
        </p:spPr>
        <p:txBody>
          <a:bodyPr wrap="square" lIns="0" tIns="0" rIns="0" bIns="0" rtlCol="0" anchor="ctr"/>
          <a:lstStyle/>
          <a:p>
            <a:pPr indent="0" marL="0">
              <a:buNone/>
            </a:pPr>
            <a:r>
              <a:rPr lang="en-US" sz="2500" b="1" dirty="0">
                <a:solidFill>
                  <a:srgbClr val="102A43"/>
                </a:solidFill>
              </a:rPr>
              <a:t>1636</a:t>
            </a:r>
            <a:endParaRPr lang="en-US" sz="2500" dirty="0"/>
          </a:p>
        </p:txBody>
      </p:sp>
      <p:sp>
        <p:nvSpPr>
          <p:cNvPr id="10" name="Text 7"/>
          <p:cNvSpPr/>
          <p:nvPr/>
        </p:nvSpPr>
        <p:spPr>
          <a:xfrm>
            <a:off x="71323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Synthetic responses</a:t>
            </a:r>
            <a:endParaRPr lang="en-US" sz="1000" dirty="0"/>
          </a:p>
        </p:txBody>
      </p:sp>
      <p:sp>
        <p:nvSpPr>
          <p:cNvPr id="11" name="Shape 8"/>
          <p:cNvSpPr/>
          <p:nvPr/>
        </p:nvSpPr>
        <p:spPr>
          <a:xfrm>
            <a:off x="3337560" y="1874520"/>
            <a:ext cx="2514600" cy="1280160"/>
          </a:xfrm>
          <a:prstGeom prst="roundRect">
            <a:avLst>
              <a:gd name="adj" fmla="val 5714"/>
            </a:avLst>
          </a:prstGeom>
          <a:solidFill>
            <a:srgbClr val="FFFFFF"/>
          </a:solidFill>
          <a:ln w="12700">
            <a:solidFill>
              <a:srgbClr val="D8E5DF"/>
            </a:solidFill>
            <a:prstDash val="solid"/>
          </a:ln>
        </p:spPr>
      </p:sp>
      <p:sp>
        <p:nvSpPr>
          <p:cNvPr id="12" name="Text 9"/>
          <p:cNvSpPr/>
          <p:nvPr/>
        </p:nvSpPr>
        <p:spPr>
          <a:xfrm>
            <a:off x="3502152" y="2121408"/>
            <a:ext cx="2148840" cy="411480"/>
          </a:xfrm>
          <a:prstGeom prst="rect">
            <a:avLst/>
          </a:prstGeom>
          <a:noFill/>
          <a:ln/>
        </p:spPr>
        <p:txBody>
          <a:bodyPr wrap="square" lIns="0" tIns="0" rIns="0" bIns="0" rtlCol="0" anchor="ctr"/>
          <a:lstStyle/>
          <a:p>
            <a:pPr indent="0" marL="0">
              <a:buNone/>
            </a:pPr>
            <a:r>
              <a:rPr lang="en-US" sz="2500" b="1" dirty="0">
                <a:solidFill>
                  <a:srgbClr val="102A43"/>
                </a:solidFill>
              </a:rPr>
              <a:t>84%</a:t>
            </a:r>
            <a:endParaRPr lang="en-US" sz="2500" dirty="0"/>
          </a:p>
        </p:txBody>
      </p:sp>
      <p:sp>
        <p:nvSpPr>
          <p:cNvPr id="13" name="Text 10"/>
          <p:cNvSpPr/>
          <p:nvPr/>
        </p:nvSpPr>
        <p:spPr>
          <a:xfrm>
            <a:off x="350215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Response rate</a:t>
            </a:r>
            <a:endParaRPr lang="en-US" sz="1000" dirty="0"/>
          </a:p>
        </p:txBody>
      </p:sp>
      <p:sp>
        <p:nvSpPr>
          <p:cNvPr id="14" name="Shape 11"/>
          <p:cNvSpPr/>
          <p:nvPr/>
        </p:nvSpPr>
        <p:spPr>
          <a:xfrm>
            <a:off x="6126480" y="1874520"/>
            <a:ext cx="2514600" cy="1280160"/>
          </a:xfrm>
          <a:prstGeom prst="roundRect">
            <a:avLst>
              <a:gd name="adj" fmla="val 5714"/>
            </a:avLst>
          </a:prstGeom>
          <a:solidFill>
            <a:srgbClr val="FFFFFF"/>
          </a:solidFill>
          <a:ln w="12700">
            <a:solidFill>
              <a:srgbClr val="D8E5DF"/>
            </a:solidFill>
            <a:prstDash val="solid"/>
          </a:ln>
        </p:spPr>
      </p:sp>
      <p:sp>
        <p:nvSpPr>
          <p:cNvPr id="15" name="Text 12"/>
          <p:cNvSpPr/>
          <p:nvPr/>
        </p:nvSpPr>
        <p:spPr>
          <a:xfrm>
            <a:off x="6291072" y="2121408"/>
            <a:ext cx="2148840" cy="411480"/>
          </a:xfrm>
          <a:prstGeom prst="rect">
            <a:avLst/>
          </a:prstGeom>
          <a:noFill/>
          <a:ln/>
        </p:spPr>
        <p:txBody>
          <a:bodyPr wrap="square" lIns="0" tIns="0" rIns="0" bIns="0" rtlCol="0" anchor="ctr"/>
          <a:lstStyle/>
          <a:p>
            <a:pPr indent="0" marL="0">
              <a:buNone/>
            </a:pPr>
            <a:r>
              <a:rPr lang="en-US" sz="2500" b="1" dirty="0">
                <a:solidFill>
                  <a:srgbClr val="102A43"/>
                </a:solidFill>
              </a:rPr>
              <a:t>4</a:t>
            </a:r>
            <a:endParaRPr lang="en-US" sz="2500" dirty="0"/>
          </a:p>
        </p:txBody>
      </p:sp>
      <p:sp>
        <p:nvSpPr>
          <p:cNvPr id="16" name="Text 13"/>
          <p:cNvSpPr/>
          <p:nvPr/>
        </p:nvSpPr>
        <p:spPr>
          <a:xfrm>
            <a:off x="629107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Regions</a:t>
            </a:r>
            <a:endParaRPr lang="en-US" sz="1000" dirty="0"/>
          </a:p>
        </p:txBody>
      </p:sp>
      <p:sp>
        <p:nvSpPr>
          <p:cNvPr id="17" name="Shape 14"/>
          <p:cNvSpPr/>
          <p:nvPr/>
        </p:nvSpPr>
        <p:spPr>
          <a:xfrm>
            <a:off x="8915400" y="1874520"/>
            <a:ext cx="2514600" cy="1280160"/>
          </a:xfrm>
          <a:prstGeom prst="roundRect">
            <a:avLst>
              <a:gd name="adj" fmla="val 5714"/>
            </a:avLst>
          </a:prstGeom>
          <a:solidFill>
            <a:srgbClr val="FFFFFF"/>
          </a:solidFill>
          <a:ln w="12700">
            <a:solidFill>
              <a:srgbClr val="D8E5DF"/>
            </a:solidFill>
            <a:prstDash val="solid"/>
          </a:ln>
        </p:spPr>
      </p:sp>
      <p:sp>
        <p:nvSpPr>
          <p:cNvPr id="18" name="Text 15"/>
          <p:cNvSpPr/>
          <p:nvPr/>
        </p:nvSpPr>
        <p:spPr>
          <a:xfrm>
            <a:off x="9079992" y="2121408"/>
            <a:ext cx="2148840" cy="411480"/>
          </a:xfrm>
          <a:prstGeom prst="rect">
            <a:avLst/>
          </a:prstGeom>
          <a:noFill/>
          <a:ln/>
        </p:spPr>
        <p:txBody>
          <a:bodyPr wrap="square" lIns="0" tIns="0" rIns="0" bIns="0" rtlCol="0" anchor="ctr"/>
          <a:lstStyle/>
          <a:p>
            <a:pPr indent="0" marL="0">
              <a:buNone/>
            </a:pPr>
            <a:r>
              <a:rPr lang="en-US" sz="2500" b="1" dirty="0">
                <a:solidFill>
                  <a:srgbClr val="102A43"/>
                </a:solidFill>
              </a:rPr>
              <a:t>82/100</a:t>
            </a:r>
            <a:endParaRPr lang="en-US" sz="2500" dirty="0"/>
          </a:p>
        </p:txBody>
      </p:sp>
      <p:sp>
        <p:nvSpPr>
          <p:cNvPr id="19" name="Text 16"/>
          <p:cNvSpPr/>
          <p:nvPr/>
        </p:nvSpPr>
        <p:spPr>
          <a:xfrm>
            <a:off x="9079992" y="2743200"/>
            <a:ext cx="2148840" cy="182880"/>
          </a:xfrm>
          <a:prstGeom prst="rect">
            <a:avLst/>
          </a:prstGeom>
          <a:noFill/>
          <a:ln/>
        </p:spPr>
        <p:txBody>
          <a:bodyPr wrap="square" lIns="0" tIns="0" rIns="0" bIns="0" rtlCol="0" anchor="ctr"/>
          <a:lstStyle/>
          <a:p>
            <a:pPr indent="0" marL="0">
              <a:buNone/>
            </a:pPr>
            <a:r>
              <a:rPr lang="en-US" sz="1000" b="1" dirty="0">
                <a:solidFill>
                  <a:srgbClr val="60756B"/>
                </a:solidFill>
              </a:rPr>
              <a:t>Demonstration readiness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CRITICAL FINDINGS</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Three findings require leadership attention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Across Tanzania's synthetic study areas, journey friction is the clearest differentiator of financial services performance. The evidence is strongest in Dar es Salaam, where rural women face the largest gap. If the pattern remains unaddressed for twelve months, it is likely to weaken equity, delivery confidence and the durability of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Tanzania's synthetic study areas, first-contact resolution is the clearest differentiator of financial services performance. The evidence is strongest in Northern Zone, where young adults face the largest gap. If the pattern remains unaddressed for twelve months, it is likely to weaken equity, delivery confidence and the durability of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Across Tanzania's synthetic study areas, trust and transparency is the clearest differentiator of financial services performance. The evidence is strongest in Lake Zone, where persons with disabilities face the largest gap. If the pattern remains unaddressed for twelve months, it is likely to weaken equity, delivery confidence and the durability of outcomes.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REGIONAL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Outcomes vary materially by region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05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Dar es Salaam</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4103827" cy="201168"/>
          </a:xfrm>
          <a:prstGeom prst="roundRect">
            <a:avLst>
              <a:gd name="adj" fmla="val 13636"/>
            </a:avLst>
          </a:prstGeom>
          <a:solidFill>
            <a:srgbClr val="07883F"/>
          </a:solidFill>
          <a:ln w="12700">
            <a:solidFill>
              <a:srgbClr val="07883F"/>
            </a:solidFill>
            <a:prstDash val="solid"/>
          </a:ln>
        </p:spPr>
      </p:sp>
      <p:sp>
        <p:nvSpPr>
          <p:cNvPr id="11" name="Text 8"/>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68%</a:t>
            </a:r>
            <a:endParaRPr lang="en-US" sz="1000" dirty="0"/>
          </a:p>
        </p:txBody>
      </p:sp>
      <p:sp>
        <p:nvSpPr>
          <p:cNvPr id="12" name="Text 9"/>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Northern Zone</a:t>
            </a:r>
            <a:endParaRPr lang="en-US" sz="1100" dirty="0"/>
          </a:p>
        </p:txBody>
      </p:sp>
      <p:sp>
        <p:nvSpPr>
          <p:cNvPr id="13" name="Shape 10"/>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4" name="Shape 11"/>
          <p:cNvSpPr/>
          <p:nvPr/>
        </p:nvSpPr>
        <p:spPr>
          <a:xfrm>
            <a:off x="3383280" y="2423160"/>
            <a:ext cx="4164178" cy="201168"/>
          </a:xfrm>
          <a:prstGeom prst="roundRect">
            <a:avLst>
              <a:gd name="adj" fmla="val 13636"/>
            </a:avLst>
          </a:prstGeom>
          <a:solidFill>
            <a:srgbClr val="D4AF37"/>
          </a:solidFill>
          <a:ln w="12700">
            <a:solidFill>
              <a:srgbClr val="D4AF37"/>
            </a:solidFill>
            <a:prstDash val="solid"/>
          </a:ln>
        </p:spPr>
      </p:sp>
      <p:sp>
        <p:nvSpPr>
          <p:cNvPr id="15" name="Text 12"/>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69%</a:t>
            </a:r>
            <a:endParaRPr lang="en-US" sz="1000" dirty="0"/>
          </a:p>
        </p:txBody>
      </p:sp>
      <p:sp>
        <p:nvSpPr>
          <p:cNvPr id="16" name="Text 13"/>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Lake Zone</a:t>
            </a:r>
            <a:endParaRPr lang="en-US" sz="1100" dirty="0"/>
          </a:p>
        </p:txBody>
      </p:sp>
      <p:sp>
        <p:nvSpPr>
          <p:cNvPr id="17" name="Shape 14"/>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18" name="Shape 15"/>
          <p:cNvSpPr/>
          <p:nvPr/>
        </p:nvSpPr>
        <p:spPr>
          <a:xfrm>
            <a:off x="3383280" y="3044952"/>
            <a:ext cx="4224528" cy="201168"/>
          </a:xfrm>
          <a:prstGeom prst="roundRect">
            <a:avLst>
              <a:gd name="adj" fmla="val 13636"/>
            </a:avLst>
          </a:prstGeom>
          <a:solidFill>
            <a:srgbClr val="07883F"/>
          </a:solidFill>
          <a:ln w="12700">
            <a:solidFill>
              <a:srgbClr val="07883F"/>
            </a:solidFill>
            <a:prstDash val="solid"/>
          </a:ln>
        </p:spPr>
      </p:sp>
      <p:sp>
        <p:nvSpPr>
          <p:cNvPr id="19" name="Text 16"/>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70%</a:t>
            </a:r>
            <a:endParaRPr lang="en-US" sz="1000" dirty="0"/>
          </a:p>
        </p:txBody>
      </p:sp>
      <p:sp>
        <p:nvSpPr>
          <p:cNvPr id="20" name="Text 17"/>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Digital-only Customers</a:t>
            </a:r>
            <a:endParaRPr lang="en-US" sz="1100" dirty="0"/>
          </a:p>
        </p:txBody>
      </p:sp>
      <p:sp>
        <p:nvSpPr>
          <p:cNvPr id="21" name="Shape 18"/>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2" name="Shape 19"/>
          <p:cNvSpPr/>
          <p:nvPr/>
        </p:nvSpPr>
        <p:spPr>
          <a:xfrm>
            <a:off x="3383280" y="3666744"/>
            <a:ext cx="4284878" cy="201168"/>
          </a:xfrm>
          <a:prstGeom prst="roundRect">
            <a:avLst>
              <a:gd name="adj" fmla="val 13636"/>
            </a:avLst>
          </a:prstGeom>
          <a:solidFill>
            <a:srgbClr val="D4AF37"/>
          </a:solidFill>
          <a:ln w="12700">
            <a:solidFill>
              <a:srgbClr val="D4AF37"/>
            </a:solidFill>
            <a:prstDash val="solid"/>
          </a:ln>
        </p:spPr>
      </p:sp>
      <p:sp>
        <p:nvSpPr>
          <p:cNvPr id="23" name="Text 20"/>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71%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INDICATOR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Target gaps reveal where delivery is slipping</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06 | Synthetic Demonstration Publication</a:t>
            </a:r>
            <a:endParaRPr lang="en-US" sz="700" dirty="0"/>
          </a:p>
        </p:txBody>
      </p:sp>
      <p:sp>
        <p:nvSpPr>
          <p:cNvPr id="8" name="Text 5"/>
          <p:cNvSpPr/>
          <p:nvPr/>
        </p:nvSpPr>
        <p:spPr>
          <a:xfrm>
            <a:off x="548640" y="1783080"/>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Customer effort score</a:t>
            </a:r>
            <a:endParaRPr lang="en-US" sz="1100" dirty="0"/>
          </a:p>
        </p:txBody>
      </p:sp>
      <p:sp>
        <p:nvSpPr>
          <p:cNvPr id="9" name="Shape 6"/>
          <p:cNvSpPr/>
          <p:nvPr/>
        </p:nvSpPr>
        <p:spPr>
          <a:xfrm>
            <a:off x="3383280" y="1801368"/>
            <a:ext cx="6035040" cy="201168"/>
          </a:xfrm>
          <a:prstGeom prst="roundRect">
            <a:avLst>
              <a:gd name="adj" fmla="val 13636"/>
            </a:avLst>
          </a:prstGeom>
          <a:solidFill>
            <a:srgbClr val="DDE8E3"/>
          </a:solidFill>
          <a:ln w="12700">
            <a:solidFill>
              <a:srgbClr val="DDE8E3"/>
            </a:solidFill>
            <a:prstDash val="solid"/>
          </a:ln>
        </p:spPr>
      </p:sp>
      <p:sp>
        <p:nvSpPr>
          <p:cNvPr id="10" name="Shape 7"/>
          <p:cNvSpPr/>
          <p:nvPr/>
        </p:nvSpPr>
        <p:spPr>
          <a:xfrm>
            <a:off x="3383280" y="1801368"/>
            <a:ext cx="3983126" cy="201168"/>
          </a:xfrm>
          <a:prstGeom prst="roundRect">
            <a:avLst>
              <a:gd name="adj" fmla="val 13636"/>
            </a:avLst>
          </a:prstGeom>
          <a:solidFill>
            <a:srgbClr val="07883F"/>
          </a:solidFill>
          <a:ln w="12700">
            <a:solidFill>
              <a:srgbClr val="07883F"/>
            </a:solidFill>
            <a:prstDash val="solid"/>
          </a:ln>
        </p:spPr>
      </p:sp>
      <p:sp>
        <p:nvSpPr>
          <p:cNvPr id="11" name="Shape 8"/>
          <p:cNvSpPr/>
          <p:nvPr/>
        </p:nvSpPr>
        <p:spPr>
          <a:xfrm>
            <a:off x="8814816" y="1737360"/>
            <a:ext cx="0" cy="347472"/>
          </a:xfrm>
          <a:prstGeom prst="line">
            <a:avLst/>
          </a:prstGeom>
          <a:noFill/>
          <a:ln w="19050">
            <a:solidFill>
              <a:srgbClr val="102A43"/>
            </a:solidFill>
            <a:prstDash val="solid"/>
          </a:ln>
        </p:spPr>
      </p:sp>
      <p:sp>
        <p:nvSpPr>
          <p:cNvPr id="12" name="Text 9"/>
          <p:cNvSpPr/>
          <p:nvPr/>
        </p:nvSpPr>
        <p:spPr>
          <a:xfrm>
            <a:off x="9601200" y="1783080"/>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66% / target 90%</a:t>
            </a:r>
            <a:endParaRPr lang="en-US" sz="1000" dirty="0"/>
          </a:p>
        </p:txBody>
      </p:sp>
      <p:sp>
        <p:nvSpPr>
          <p:cNvPr id="13" name="Text 10"/>
          <p:cNvSpPr/>
          <p:nvPr/>
        </p:nvSpPr>
        <p:spPr>
          <a:xfrm>
            <a:off x="548640" y="2404872"/>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First-contact resolution</a:t>
            </a:r>
            <a:endParaRPr lang="en-US" sz="1100" dirty="0"/>
          </a:p>
        </p:txBody>
      </p:sp>
      <p:sp>
        <p:nvSpPr>
          <p:cNvPr id="14" name="Shape 11"/>
          <p:cNvSpPr/>
          <p:nvPr/>
        </p:nvSpPr>
        <p:spPr>
          <a:xfrm>
            <a:off x="3383280" y="2423160"/>
            <a:ext cx="6035040" cy="201168"/>
          </a:xfrm>
          <a:prstGeom prst="roundRect">
            <a:avLst>
              <a:gd name="adj" fmla="val 13636"/>
            </a:avLst>
          </a:prstGeom>
          <a:solidFill>
            <a:srgbClr val="DDE8E3"/>
          </a:solidFill>
          <a:ln w="12700">
            <a:solidFill>
              <a:srgbClr val="DDE8E3"/>
            </a:solidFill>
            <a:prstDash val="solid"/>
          </a:ln>
        </p:spPr>
      </p:sp>
      <p:sp>
        <p:nvSpPr>
          <p:cNvPr id="15" name="Shape 12"/>
          <p:cNvSpPr/>
          <p:nvPr/>
        </p:nvSpPr>
        <p:spPr>
          <a:xfrm>
            <a:off x="3383280" y="2423160"/>
            <a:ext cx="4043477" cy="201168"/>
          </a:xfrm>
          <a:prstGeom prst="roundRect">
            <a:avLst>
              <a:gd name="adj" fmla="val 13636"/>
            </a:avLst>
          </a:prstGeom>
          <a:solidFill>
            <a:srgbClr val="D4AF37"/>
          </a:solidFill>
          <a:ln w="12700">
            <a:solidFill>
              <a:srgbClr val="D4AF37"/>
            </a:solidFill>
            <a:prstDash val="solid"/>
          </a:ln>
        </p:spPr>
      </p:sp>
      <p:sp>
        <p:nvSpPr>
          <p:cNvPr id="16" name="Shape 13"/>
          <p:cNvSpPr/>
          <p:nvPr/>
        </p:nvSpPr>
        <p:spPr>
          <a:xfrm>
            <a:off x="8875166" y="2359152"/>
            <a:ext cx="0" cy="347472"/>
          </a:xfrm>
          <a:prstGeom prst="line">
            <a:avLst/>
          </a:prstGeom>
          <a:noFill/>
          <a:ln w="19050">
            <a:solidFill>
              <a:srgbClr val="102A43"/>
            </a:solidFill>
            <a:prstDash val="solid"/>
          </a:ln>
        </p:spPr>
      </p:sp>
      <p:sp>
        <p:nvSpPr>
          <p:cNvPr id="17" name="Text 14"/>
          <p:cNvSpPr/>
          <p:nvPr/>
        </p:nvSpPr>
        <p:spPr>
          <a:xfrm>
            <a:off x="9601200" y="2404872"/>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67% / target 91%</a:t>
            </a:r>
            <a:endParaRPr lang="en-US" sz="1000" dirty="0"/>
          </a:p>
        </p:txBody>
      </p:sp>
      <p:sp>
        <p:nvSpPr>
          <p:cNvPr id="18" name="Text 15"/>
          <p:cNvSpPr/>
          <p:nvPr/>
        </p:nvSpPr>
        <p:spPr>
          <a:xfrm>
            <a:off x="548640" y="3026664"/>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Trust index</a:t>
            </a:r>
            <a:endParaRPr lang="en-US" sz="1100" dirty="0"/>
          </a:p>
        </p:txBody>
      </p:sp>
      <p:sp>
        <p:nvSpPr>
          <p:cNvPr id="19" name="Shape 16"/>
          <p:cNvSpPr/>
          <p:nvPr/>
        </p:nvSpPr>
        <p:spPr>
          <a:xfrm>
            <a:off x="3383280" y="3044952"/>
            <a:ext cx="6035040" cy="201168"/>
          </a:xfrm>
          <a:prstGeom prst="roundRect">
            <a:avLst>
              <a:gd name="adj" fmla="val 13636"/>
            </a:avLst>
          </a:prstGeom>
          <a:solidFill>
            <a:srgbClr val="DDE8E3"/>
          </a:solidFill>
          <a:ln w="12700">
            <a:solidFill>
              <a:srgbClr val="DDE8E3"/>
            </a:solidFill>
            <a:prstDash val="solid"/>
          </a:ln>
        </p:spPr>
      </p:sp>
      <p:sp>
        <p:nvSpPr>
          <p:cNvPr id="20" name="Shape 17"/>
          <p:cNvSpPr/>
          <p:nvPr/>
        </p:nvSpPr>
        <p:spPr>
          <a:xfrm>
            <a:off x="3383280" y="3044952"/>
            <a:ext cx="4103827" cy="201168"/>
          </a:xfrm>
          <a:prstGeom prst="roundRect">
            <a:avLst>
              <a:gd name="adj" fmla="val 13636"/>
            </a:avLst>
          </a:prstGeom>
          <a:solidFill>
            <a:srgbClr val="07883F"/>
          </a:solidFill>
          <a:ln w="12700">
            <a:solidFill>
              <a:srgbClr val="07883F"/>
            </a:solidFill>
            <a:prstDash val="solid"/>
          </a:ln>
        </p:spPr>
      </p:sp>
      <p:sp>
        <p:nvSpPr>
          <p:cNvPr id="21" name="Shape 18"/>
          <p:cNvSpPr/>
          <p:nvPr/>
        </p:nvSpPr>
        <p:spPr>
          <a:xfrm>
            <a:off x="8935517" y="2980944"/>
            <a:ext cx="0" cy="347472"/>
          </a:xfrm>
          <a:prstGeom prst="line">
            <a:avLst/>
          </a:prstGeom>
          <a:noFill/>
          <a:ln w="19050">
            <a:solidFill>
              <a:srgbClr val="102A43"/>
            </a:solidFill>
            <a:prstDash val="solid"/>
          </a:ln>
        </p:spPr>
      </p:sp>
      <p:sp>
        <p:nvSpPr>
          <p:cNvPr id="22" name="Text 19"/>
          <p:cNvSpPr/>
          <p:nvPr/>
        </p:nvSpPr>
        <p:spPr>
          <a:xfrm>
            <a:off x="9601200" y="3026664"/>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68% / target 92%</a:t>
            </a:r>
            <a:endParaRPr lang="en-US" sz="1000" dirty="0"/>
          </a:p>
        </p:txBody>
      </p:sp>
      <p:sp>
        <p:nvSpPr>
          <p:cNvPr id="23" name="Text 20"/>
          <p:cNvSpPr/>
          <p:nvPr/>
        </p:nvSpPr>
        <p:spPr>
          <a:xfrm>
            <a:off x="548640" y="3648456"/>
            <a:ext cx="2926080" cy="228600"/>
          </a:xfrm>
          <a:prstGeom prst="rect">
            <a:avLst/>
          </a:prstGeom>
          <a:noFill/>
          <a:ln/>
        </p:spPr>
        <p:txBody>
          <a:bodyPr wrap="square" lIns="0" tIns="0" rIns="0" bIns="0" rtlCol="0" anchor="ctr"/>
          <a:lstStyle/>
          <a:p>
            <a:pPr indent="0" marL="0">
              <a:buNone/>
            </a:pPr>
            <a:r>
              <a:rPr lang="en-US" sz="1100" b="1" dirty="0">
                <a:solidFill>
                  <a:srgbClr val="102A43"/>
                </a:solidFill>
              </a:rPr>
              <a:t>Predicted retention rate</a:t>
            </a:r>
            <a:endParaRPr lang="en-US" sz="1100" dirty="0"/>
          </a:p>
        </p:txBody>
      </p:sp>
      <p:sp>
        <p:nvSpPr>
          <p:cNvPr id="24" name="Shape 21"/>
          <p:cNvSpPr/>
          <p:nvPr/>
        </p:nvSpPr>
        <p:spPr>
          <a:xfrm>
            <a:off x="3383280" y="3666744"/>
            <a:ext cx="6035040" cy="201168"/>
          </a:xfrm>
          <a:prstGeom prst="roundRect">
            <a:avLst>
              <a:gd name="adj" fmla="val 13636"/>
            </a:avLst>
          </a:prstGeom>
          <a:solidFill>
            <a:srgbClr val="DDE8E3"/>
          </a:solidFill>
          <a:ln w="12700">
            <a:solidFill>
              <a:srgbClr val="DDE8E3"/>
            </a:solidFill>
            <a:prstDash val="solid"/>
          </a:ln>
        </p:spPr>
      </p:sp>
      <p:sp>
        <p:nvSpPr>
          <p:cNvPr id="25" name="Shape 22"/>
          <p:cNvSpPr/>
          <p:nvPr/>
        </p:nvSpPr>
        <p:spPr>
          <a:xfrm>
            <a:off x="3383280" y="3666744"/>
            <a:ext cx="4164178" cy="201168"/>
          </a:xfrm>
          <a:prstGeom prst="roundRect">
            <a:avLst>
              <a:gd name="adj" fmla="val 13636"/>
            </a:avLst>
          </a:prstGeom>
          <a:solidFill>
            <a:srgbClr val="D4AF37"/>
          </a:solidFill>
          <a:ln w="12700">
            <a:solidFill>
              <a:srgbClr val="D4AF37"/>
            </a:solidFill>
            <a:prstDash val="solid"/>
          </a:ln>
        </p:spPr>
      </p:sp>
      <p:sp>
        <p:nvSpPr>
          <p:cNvPr id="26" name="Shape 23"/>
          <p:cNvSpPr/>
          <p:nvPr/>
        </p:nvSpPr>
        <p:spPr>
          <a:xfrm>
            <a:off x="7969910" y="3602736"/>
            <a:ext cx="0" cy="347472"/>
          </a:xfrm>
          <a:prstGeom prst="line">
            <a:avLst/>
          </a:prstGeom>
          <a:noFill/>
          <a:ln w="19050">
            <a:solidFill>
              <a:srgbClr val="102A43"/>
            </a:solidFill>
            <a:prstDash val="solid"/>
          </a:ln>
        </p:spPr>
      </p:sp>
      <p:sp>
        <p:nvSpPr>
          <p:cNvPr id="27" name="Text 24"/>
          <p:cNvSpPr/>
          <p:nvPr/>
        </p:nvSpPr>
        <p:spPr>
          <a:xfrm>
            <a:off x="9601200" y="3648456"/>
            <a:ext cx="1554480" cy="228600"/>
          </a:xfrm>
          <a:prstGeom prst="rect">
            <a:avLst/>
          </a:prstGeom>
          <a:noFill/>
          <a:ln/>
        </p:spPr>
        <p:txBody>
          <a:bodyPr wrap="square" lIns="0" tIns="0" rIns="0" bIns="0" rtlCol="0" anchor="ctr"/>
          <a:lstStyle/>
          <a:p>
            <a:pPr algn="r" indent="0" marL="0">
              <a:buNone/>
            </a:pPr>
            <a:r>
              <a:rPr lang="en-US" sz="1000" b="1" dirty="0">
                <a:solidFill>
                  <a:srgbClr val="102A43"/>
                </a:solidFill>
              </a:rPr>
              <a:t>69% / target 76%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RESPONDENT VOICE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What respondents are telling decision-makers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07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Dar es Salaam, journey friction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Northern Zone, first-contact resolution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Lake Zone, trust and transparency shapes whether persons with disabilities can turn services into lasting outcomes.”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DECISION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Priority decisions and accountable owners</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08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Redesign the two highest-friction journeys for financial services.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Give frontline teams authority for first-contact recovery for financial services.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Publish plain-language pricing and service explanations for financial services.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Introduce assisted channels for vulnerable customers for financial services.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Trigger retention interventions from governed churn signals for financial services.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STRATEGIC CONSEQUENCE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The cost of inaction compounds over time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09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Without corrective action, existing gaps are likely to persist and may increase the future cost of recovery.</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 medium-scale reprioritization is indicated; formal costing and fiduciary review are required.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IMPLEMENTATION</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A phased implementation roadmap</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10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Redesign the two highest-friction journeys for financial services.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Give frontline teams authority for first-contact recovery for financial services.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Publish plain-language pricing and service explanations for financial services.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Introduce assisted channels for vulnerable customers for financial services.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Trigger retention interventions from governed churn signals for financial services.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EVIDENCE LINEAGE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Every material claim links back to evidence</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11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“In Dar es Salaam, journey friction shapes whether rural women can turn services into lasting outcomes.”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Northern Zone, first-contact resolution shapes whether young adults can turn services into lasting outcomes.”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Lake Zone, trust and transparency shapes whether persons with disabilities can turn services into lasting outcomes.”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Digital-only Customers, vulnerable customer inclusion shapes whether frontline workers can turn services into lasting outcomes.”</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“In Dar es Salaam, churn propensity shapes whether low-income households can turn services into lasting outcomes.”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STATISTICAL ASSURANCE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Methodology designed for reproducibility</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12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sampling design: Stratified multi-stage synthetic demonstration design</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sampling frame: Synthetic frame covering programme-relevant population groups in Tanzania</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stratification: ["Region","Urban/rural","Sex","Age","Disability status"]</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sample size: 1636</a:t>
            </a:r>
            <a:endParaRPr lang="en-US" sz="1500" dirty="0"/>
          </a:p>
        </p:txBody>
      </p:sp>
      <p:sp>
        <p:nvSpPr>
          <p:cNvPr id="20" name="Shape 17"/>
          <p:cNvSpPr/>
          <p:nvPr/>
        </p:nvSpPr>
        <p:spPr>
          <a:xfrm>
            <a:off x="548640" y="5074920"/>
            <a:ext cx="384048" cy="384048"/>
          </a:xfrm>
          <a:prstGeom prst="roundRect">
            <a:avLst>
              <a:gd name="adj" fmla="val 11905"/>
            </a:avLst>
          </a:prstGeom>
          <a:solidFill>
            <a:srgbClr val="07883F"/>
          </a:solidFill>
          <a:ln w="12700">
            <a:solidFill>
              <a:srgbClr val="07883F"/>
            </a:solidFill>
            <a:prstDash val="solid"/>
          </a:ln>
        </p:spPr>
      </p:sp>
      <p:sp>
        <p:nvSpPr>
          <p:cNvPr id="21" name="Text 18"/>
          <p:cNvSpPr/>
          <p:nvPr/>
        </p:nvSpPr>
        <p:spPr>
          <a:xfrm>
            <a:off x="548640" y="515721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2" name="Text 19"/>
          <p:cNvSpPr/>
          <p:nvPr/>
        </p:nvSpPr>
        <p:spPr>
          <a:xfrm>
            <a:off x="1143000" y="5056632"/>
            <a:ext cx="9875520" cy="475488"/>
          </a:xfrm>
          <a:prstGeom prst="rect">
            <a:avLst/>
          </a:prstGeom>
          <a:noFill/>
          <a:ln/>
        </p:spPr>
        <p:txBody>
          <a:bodyPr wrap="square" lIns="0" tIns="0" rIns="0" bIns="0" rtlCol="0" anchor="ctr"/>
          <a:lstStyle/>
          <a:p>
            <a:pPr indent="0" marL="0">
              <a:buNone/>
            </a:pPr>
            <a:r>
              <a:rPr lang="en-US" sz="1500" dirty="0">
                <a:solidFill>
                  <a:srgbClr val="102A43"/>
                </a:solidFill>
              </a:rPr>
              <a:t>weighting: Post-stratification weights normalized to the synthetic population frame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INTERNATIONAL ALIGNMENT</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Standards are applied where genuinely relevant</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13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Data Protection and Privacy Controls: The publication uses governed response, evidence and export data.</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Responsible AI: AI-assisted interpretation requires grounding, human review, privacy and limitations.</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Accessibility: Publications must be readable and operable across formats and assistive technologies.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SDG INTELLIGENCE</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SDG contribution is transparent and bounded</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14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SDG Context-specific — Primary. Contribution mapping only; no attribution or institutional endorsement is implied.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883F"/>
          </a:solidFill>
          <a:ln w="12700">
            <a:solidFill>
              <a:srgbClr val="07883F"/>
            </a:solidFill>
            <a:prstDash val="solid"/>
          </a:ln>
        </p:spPr>
      </p:sp>
      <p:pic>
        <p:nvPicPr>
          <p:cNvPr id="3" name="Image 0" descr="preencoded.png">    </p:cNvPr>
          <p:cNvPicPr>
            <a:picLocks noChangeAspect="1"/>
          </p:cNvPicPr>
          <p:nvPr/>
        </p:nvPicPr>
        <p:blipFill>
          <a:blip r:embed="rId1"/>
          <a:stretch>
            <a:fillRect/>
          </a:stretch>
        </p:blipFill>
        <p:spPr>
          <a:xfrm>
            <a:off x="411480" y="164592"/>
            <a:ext cx="566928" cy="393192"/>
          </a:xfrm>
          <a:prstGeom prst="rect">
            <a:avLst/>
          </a:prstGeom>
        </p:spPr>
      </p:pic>
      <p:sp>
        <p:nvSpPr>
          <p:cNvPr id="4" name="Text 1"/>
          <p:cNvSpPr/>
          <p:nvPr/>
        </p:nvSpPr>
        <p:spPr>
          <a:xfrm>
            <a:off x="1051560" y="228600"/>
            <a:ext cx="2743200" cy="182880"/>
          </a:xfrm>
          <a:prstGeom prst="rect">
            <a:avLst/>
          </a:prstGeom>
          <a:noFill/>
          <a:ln/>
        </p:spPr>
        <p:txBody>
          <a:bodyPr wrap="square" lIns="0" tIns="0" rIns="0" bIns="0" rtlCol="0" anchor="ctr"/>
          <a:lstStyle/>
          <a:p>
            <a:pPr indent="0" marL="0">
              <a:buNone/>
            </a:pPr>
            <a:r>
              <a:rPr lang="en-US" sz="900" b="1" dirty="0">
                <a:solidFill>
                  <a:srgbClr val="07883F"/>
                </a:solidFill>
                <a:latin typeface="Aptos" pitchFamily="34" charset="0"/>
                <a:ea typeface="Aptos" pitchFamily="34" charset="-122"/>
                <a:cs typeface="Aptos" pitchFamily="34" charset="-120"/>
              </a:rPr>
              <a:t>VOICEINSIGHTS AFRICA</a:t>
            </a:r>
            <a:endParaRPr lang="en-US" sz="900" dirty="0"/>
          </a:p>
        </p:txBody>
      </p:sp>
      <p:sp>
        <p:nvSpPr>
          <p:cNvPr id="5" name="Text 2"/>
          <p:cNvSpPr/>
          <p:nvPr/>
        </p:nvSpPr>
        <p:spPr>
          <a:xfrm>
            <a:off x="502920" y="658368"/>
            <a:ext cx="4572000" cy="201168"/>
          </a:xfrm>
          <a:prstGeom prst="rect">
            <a:avLst/>
          </a:prstGeom>
          <a:noFill/>
          <a:ln/>
        </p:spPr>
        <p:txBody>
          <a:bodyPr wrap="square" lIns="0" tIns="0" rIns="0" bIns="0" rtlCol="0" anchor="ctr"/>
          <a:lstStyle/>
          <a:p>
            <a:pPr indent="0" marL="0">
              <a:buNone/>
            </a:pPr>
            <a:r>
              <a:rPr lang="en-US" sz="800" b="1" spc="100" kern="0" dirty="0">
                <a:solidFill>
                  <a:srgbClr val="07883F"/>
                </a:solidFill>
              </a:rPr>
              <a:t>PUBLICATION INTEGRITY</a:t>
            </a:r>
            <a:endParaRPr lang="en-US" sz="800" dirty="0"/>
          </a:p>
        </p:txBody>
      </p:sp>
      <p:sp>
        <p:nvSpPr>
          <p:cNvPr id="6" name="Text 3"/>
          <p:cNvSpPr/>
          <p:nvPr/>
        </p:nvSpPr>
        <p:spPr>
          <a:xfrm>
            <a:off x="502920" y="987552"/>
            <a:ext cx="10789920" cy="502920"/>
          </a:xfrm>
          <a:prstGeom prst="rect">
            <a:avLst/>
          </a:prstGeom>
          <a:noFill/>
          <a:ln/>
        </p:spPr>
        <p:txBody>
          <a:bodyPr wrap="square" lIns="0" tIns="0" rIns="0" bIns="0" rtlCol="0" anchor="ctr"/>
          <a:lstStyle/>
          <a:p>
            <a:pPr indent="0" marL="0">
              <a:buNone/>
            </a:pPr>
            <a:r>
              <a:rPr lang="en-US" sz="2500" b="1" dirty="0">
                <a:solidFill>
                  <a:srgbClr val="102A43"/>
                </a:solidFill>
              </a:rPr>
              <a:t>Limitations and responsible interpretation</a:t>
            </a:r>
            <a:endParaRPr lang="en-US" sz="2500" dirty="0"/>
          </a:p>
        </p:txBody>
      </p:sp>
      <p:sp>
        <p:nvSpPr>
          <p:cNvPr id="7" name="Text 4"/>
          <p:cNvSpPr/>
          <p:nvPr/>
        </p:nvSpPr>
        <p:spPr>
          <a:xfrm>
            <a:off x="502920" y="6537960"/>
            <a:ext cx="4114800" cy="137160"/>
          </a:xfrm>
          <a:prstGeom prst="rect">
            <a:avLst/>
          </a:prstGeom>
          <a:noFill/>
          <a:ln/>
        </p:spPr>
        <p:txBody>
          <a:bodyPr wrap="square" lIns="0" tIns="0" rIns="0" bIns="0" rtlCol="0" anchor="ctr"/>
          <a:lstStyle/>
          <a:p>
            <a:pPr indent="0" marL="0">
              <a:buNone/>
            </a:pPr>
            <a:r>
              <a:rPr lang="en-US" sz="700" dirty="0">
                <a:solidFill>
                  <a:srgbClr val="66788A"/>
                </a:solidFill>
              </a:rPr>
              <a:t>15 | Synthetic Demonstration Publication</a:t>
            </a:r>
            <a:endParaRPr lang="en-US" sz="700" dirty="0"/>
          </a:p>
        </p:txBody>
      </p:sp>
      <p:sp>
        <p:nvSpPr>
          <p:cNvPr id="8" name="Shape 5"/>
          <p:cNvSpPr/>
          <p:nvPr/>
        </p:nvSpPr>
        <p:spPr>
          <a:xfrm>
            <a:off x="548640" y="1783080"/>
            <a:ext cx="384048" cy="384048"/>
          </a:xfrm>
          <a:prstGeom prst="roundRect">
            <a:avLst>
              <a:gd name="adj" fmla="val 11905"/>
            </a:avLst>
          </a:prstGeom>
          <a:solidFill>
            <a:srgbClr val="D4AF37"/>
          </a:solidFill>
          <a:ln w="12700">
            <a:solidFill>
              <a:srgbClr val="D4AF37"/>
            </a:solidFill>
            <a:prstDash val="solid"/>
          </a:ln>
        </p:spPr>
      </p:sp>
      <p:sp>
        <p:nvSpPr>
          <p:cNvPr id="9" name="Text 6"/>
          <p:cNvSpPr/>
          <p:nvPr/>
        </p:nvSpPr>
        <p:spPr>
          <a:xfrm>
            <a:off x="548640" y="1865376"/>
            <a:ext cx="384048" cy="164592"/>
          </a:xfrm>
          <a:prstGeom prst="rect">
            <a:avLst/>
          </a:prstGeom>
          <a:noFill/>
          <a:ln/>
        </p:spPr>
        <p:txBody>
          <a:bodyPr wrap="square" lIns="0" tIns="0" rIns="0" bIns="0" rtlCol="0" anchor="ctr"/>
          <a:lstStyle/>
          <a:p>
            <a:pPr algn="ctr" indent="0" marL="0">
              <a:buNone/>
            </a:pPr>
            <a:r>
              <a:rPr lang="en-US" sz="1000" b="1" dirty="0">
                <a:solidFill>
                  <a:srgbClr val="102A43"/>
                </a:solidFill>
              </a:rPr>
              <a:t>1</a:t>
            </a:r>
            <a:endParaRPr lang="en-US" sz="1000" dirty="0"/>
          </a:p>
        </p:txBody>
      </p:sp>
      <p:sp>
        <p:nvSpPr>
          <p:cNvPr id="10" name="Text 7"/>
          <p:cNvSpPr/>
          <p:nvPr/>
        </p:nvSpPr>
        <p:spPr>
          <a:xfrm>
            <a:off x="1143000" y="1764792"/>
            <a:ext cx="9875520" cy="475488"/>
          </a:xfrm>
          <a:prstGeom prst="rect">
            <a:avLst/>
          </a:prstGeom>
          <a:noFill/>
          <a:ln/>
        </p:spPr>
        <p:txBody>
          <a:bodyPr wrap="square" lIns="0" tIns="0" rIns="0" bIns="0" rtlCol="0" anchor="ctr"/>
          <a:lstStyle/>
          <a:p>
            <a:pPr indent="0" marL="0">
              <a:buNone/>
            </a:pPr>
            <a:r>
              <a:rPr lang="en-US" sz="1700" b="1" dirty="0">
                <a:solidFill>
                  <a:srgbClr val="102A43"/>
                </a:solidFill>
              </a:rPr>
              <a:t>All content is synthetic and must not be interpreted as official statistics</a:t>
            </a:r>
            <a:endParaRPr lang="en-US" sz="1700" dirty="0"/>
          </a:p>
        </p:txBody>
      </p:sp>
      <p:sp>
        <p:nvSpPr>
          <p:cNvPr id="11" name="Shape 8"/>
          <p:cNvSpPr/>
          <p:nvPr/>
        </p:nvSpPr>
        <p:spPr>
          <a:xfrm>
            <a:off x="548640" y="2606040"/>
            <a:ext cx="384048" cy="384048"/>
          </a:xfrm>
          <a:prstGeom prst="roundRect">
            <a:avLst>
              <a:gd name="adj" fmla="val 11905"/>
            </a:avLst>
          </a:prstGeom>
          <a:solidFill>
            <a:srgbClr val="07883F"/>
          </a:solidFill>
          <a:ln w="12700">
            <a:solidFill>
              <a:srgbClr val="07883F"/>
            </a:solidFill>
            <a:prstDash val="solid"/>
          </a:ln>
        </p:spPr>
      </p:sp>
      <p:sp>
        <p:nvSpPr>
          <p:cNvPr id="12" name="Text 9"/>
          <p:cNvSpPr/>
          <p:nvPr/>
        </p:nvSpPr>
        <p:spPr>
          <a:xfrm>
            <a:off x="548640" y="268833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3" name="Text 10"/>
          <p:cNvSpPr/>
          <p:nvPr/>
        </p:nvSpPr>
        <p:spPr>
          <a:xfrm>
            <a:off x="1143000" y="2587752"/>
            <a:ext cx="9875520" cy="475488"/>
          </a:xfrm>
          <a:prstGeom prst="rect">
            <a:avLst/>
          </a:prstGeom>
          <a:noFill/>
          <a:ln/>
        </p:spPr>
        <p:txBody>
          <a:bodyPr wrap="square" lIns="0" tIns="0" rIns="0" bIns="0" rtlCol="0" anchor="ctr"/>
          <a:lstStyle/>
          <a:p>
            <a:pPr indent="0" marL="0">
              <a:buNone/>
            </a:pPr>
            <a:r>
              <a:rPr lang="en-US" sz="1500" dirty="0">
                <a:solidFill>
                  <a:srgbClr val="102A43"/>
                </a:solidFill>
              </a:rPr>
              <a:t>Geographic references are illustrative</a:t>
            </a:r>
            <a:endParaRPr lang="en-US" sz="1500" dirty="0"/>
          </a:p>
        </p:txBody>
      </p:sp>
      <p:sp>
        <p:nvSpPr>
          <p:cNvPr id="14" name="Shape 11"/>
          <p:cNvSpPr/>
          <p:nvPr/>
        </p:nvSpPr>
        <p:spPr>
          <a:xfrm>
            <a:off x="548640" y="3429000"/>
            <a:ext cx="384048" cy="384048"/>
          </a:xfrm>
          <a:prstGeom prst="roundRect">
            <a:avLst>
              <a:gd name="adj" fmla="val 11905"/>
            </a:avLst>
          </a:prstGeom>
          <a:solidFill>
            <a:srgbClr val="07883F"/>
          </a:solidFill>
          <a:ln w="12700">
            <a:solidFill>
              <a:srgbClr val="07883F"/>
            </a:solidFill>
            <a:prstDash val="solid"/>
          </a:ln>
        </p:spPr>
      </p:sp>
      <p:sp>
        <p:nvSpPr>
          <p:cNvPr id="15" name="Text 12"/>
          <p:cNvSpPr/>
          <p:nvPr/>
        </p:nvSpPr>
        <p:spPr>
          <a:xfrm>
            <a:off x="548640" y="351129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3"/>
          <p:cNvSpPr/>
          <p:nvPr/>
        </p:nvSpPr>
        <p:spPr>
          <a:xfrm>
            <a:off x="1143000" y="3410712"/>
            <a:ext cx="9875520" cy="475488"/>
          </a:xfrm>
          <a:prstGeom prst="rect">
            <a:avLst/>
          </a:prstGeom>
          <a:noFill/>
          <a:ln/>
        </p:spPr>
        <p:txBody>
          <a:bodyPr wrap="square" lIns="0" tIns="0" rIns="0" bIns="0" rtlCol="0" anchor="ctr"/>
          <a:lstStyle/>
          <a:p>
            <a:pPr indent="0" marL="0">
              <a:buNone/>
            </a:pPr>
            <a:r>
              <a:rPr lang="en-US" sz="1500" dirty="0">
                <a:solidFill>
                  <a:srgbClr val="102A43"/>
                </a:solidFill>
              </a:rPr>
              <a:t>Budget implications are directional and require formal costing</a:t>
            </a:r>
            <a:endParaRPr lang="en-US" sz="1500" dirty="0"/>
          </a:p>
        </p:txBody>
      </p:sp>
      <p:sp>
        <p:nvSpPr>
          <p:cNvPr id="17" name="Shape 14"/>
          <p:cNvSpPr/>
          <p:nvPr/>
        </p:nvSpPr>
        <p:spPr>
          <a:xfrm>
            <a:off x="548640" y="4251960"/>
            <a:ext cx="384048" cy="384048"/>
          </a:xfrm>
          <a:prstGeom prst="roundRect">
            <a:avLst>
              <a:gd name="adj" fmla="val 11905"/>
            </a:avLst>
          </a:prstGeom>
          <a:solidFill>
            <a:srgbClr val="07883F"/>
          </a:solidFill>
          <a:ln w="12700">
            <a:solidFill>
              <a:srgbClr val="07883F"/>
            </a:solidFill>
            <a:prstDash val="solid"/>
          </a:ln>
        </p:spPr>
      </p:sp>
      <p:sp>
        <p:nvSpPr>
          <p:cNvPr id="18" name="Text 15"/>
          <p:cNvSpPr/>
          <p:nvPr/>
        </p:nvSpPr>
        <p:spPr>
          <a:xfrm>
            <a:off x="548640" y="4334256"/>
            <a:ext cx="384048" cy="16459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9" name="Text 16"/>
          <p:cNvSpPr/>
          <p:nvPr/>
        </p:nvSpPr>
        <p:spPr>
          <a:xfrm>
            <a:off x="1143000" y="4233672"/>
            <a:ext cx="9875520" cy="475488"/>
          </a:xfrm>
          <a:prstGeom prst="rect">
            <a:avLst/>
          </a:prstGeom>
          <a:noFill/>
          <a:ln/>
        </p:spPr>
        <p:txBody>
          <a:bodyPr wrap="square" lIns="0" tIns="0" rIns="0" bIns="0" rtlCol="0" anchor="ctr"/>
          <a:lstStyle/>
          <a:p>
            <a:pPr indent="0" marL="0">
              <a:buNone/>
            </a:pPr>
            <a:r>
              <a:rPr lang="en-US" sz="1500" dirty="0">
                <a:solidFill>
                  <a:srgbClr val="102A43"/>
                </a:solidFill>
              </a:rPr>
              <a:t>Causal claims are not made without an appropriate design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2A4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94360" y="411480"/>
            <a:ext cx="777240" cy="548640"/>
          </a:xfrm>
          <a:prstGeom prst="rect">
            <a:avLst/>
          </a:prstGeom>
        </p:spPr>
      </p:pic>
      <p:sp>
        <p:nvSpPr>
          <p:cNvPr id="3" name="Text 0"/>
          <p:cNvSpPr/>
          <p:nvPr/>
        </p:nvSpPr>
        <p:spPr>
          <a:xfrm>
            <a:off x="1508760" y="521208"/>
            <a:ext cx="2926080" cy="201168"/>
          </a:xfrm>
          <a:prstGeom prst="rect">
            <a:avLst/>
          </a:prstGeom>
          <a:noFill/>
          <a:ln/>
        </p:spPr>
        <p:txBody>
          <a:bodyPr wrap="square" lIns="0" tIns="0" rIns="0" bIns="0" rtlCol="0" anchor="ctr"/>
          <a:lstStyle/>
          <a:p>
            <a:pPr indent="0" marL="0">
              <a:buNone/>
            </a:pPr>
            <a:r>
              <a:rPr lang="en-US" sz="1100" b="1" dirty="0">
                <a:solidFill>
                  <a:srgbClr val="FFFFFF"/>
                </a:solidFill>
              </a:rPr>
              <a:t>VOICEINSIGHTS AFRICA</a:t>
            </a:r>
            <a:endParaRPr lang="en-US" sz="1100" dirty="0"/>
          </a:p>
        </p:txBody>
      </p:sp>
      <p:sp>
        <p:nvSpPr>
          <p:cNvPr id="4" name="Text 1"/>
          <p:cNvSpPr/>
          <p:nvPr/>
        </p:nvSpPr>
        <p:spPr>
          <a:xfrm>
            <a:off x="594360" y="1965960"/>
            <a:ext cx="7589520" cy="1005840"/>
          </a:xfrm>
          <a:prstGeom prst="rect">
            <a:avLst/>
          </a:prstGeom>
          <a:noFill/>
          <a:ln/>
        </p:spPr>
        <p:txBody>
          <a:bodyPr wrap="square" lIns="0" tIns="0" rIns="0" bIns="0" rtlCol="0" anchor="ctr"/>
          <a:lstStyle/>
          <a:p>
            <a:pPr indent="0" marL="0">
              <a:buNone/>
            </a:pPr>
            <a:r>
              <a:rPr lang="en-US" sz="3000" b="1" dirty="0">
                <a:solidFill>
                  <a:srgbClr val="FFFFFF"/>
                </a:solidFill>
              </a:rPr>
              <a:t>From every voice to an accountable decision</a:t>
            </a:r>
            <a:endParaRPr lang="en-US" sz="3000" dirty="0"/>
          </a:p>
        </p:txBody>
      </p:sp>
      <p:sp>
        <p:nvSpPr>
          <p:cNvPr id="5" name="Text 2"/>
          <p:cNvSpPr/>
          <p:nvPr/>
        </p:nvSpPr>
        <p:spPr>
          <a:xfrm>
            <a:off x="594360" y="3337560"/>
            <a:ext cx="6400800" cy="320040"/>
          </a:xfrm>
          <a:prstGeom prst="rect">
            <a:avLst/>
          </a:prstGeom>
          <a:noFill/>
          <a:ln/>
        </p:spPr>
        <p:txBody>
          <a:bodyPr wrap="square" lIns="0" tIns="0" rIns="0" bIns="0" rtlCol="0" anchor="ctr"/>
          <a:lstStyle/>
          <a:p>
            <a:pPr indent="0" marL="0">
              <a:buNone/>
            </a:pPr>
            <a:r>
              <a:rPr lang="en-US" sz="1700" dirty="0">
                <a:solidFill>
                  <a:srgbClr val="D4AF37"/>
                </a:solidFill>
              </a:rPr>
              <a:t>Every Voice. Every Language. Every Insight.</a:t>
            </a:r>
            <a:endParaRPr lang="en-US" sz="1700" dirty="0"/>
          </a:p>
        </p:txBody>
      </p:sp>
      <p:sp>
        <p:nvSpPr>
          <p:cNvPr id="6" name="Shape 3"/>
          <p:cNvSpPr/>
          <p:nvPr/>
        </p:nvSpPr>
        <p:spPr>
          <a:xfrm>
            <a:off x="9235440" y="0"/>
            <a:ext cx="2956255" cy="6858000"/>
          </a:xfrm>
          <a:prstGeom prst="rect">
            <a:avLst/>
          </a:prstGeom>
          <a:solidFill>
            <a:srgbClr val="07883F"/>
          </a:solidFill>
          <a:ln w="12700">
            <a:solidFill>
              <a:srgbClr val="07883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VoiceInsights Africa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Experience Intelligence Report</dc:title>
  <dc:subject>Synthetic Demonstration Publication</dc:subject>
  <dc:creator>VoiceInsights Africa</dc:creator>
  <cp:lastModifiedBy>VoiceInsights Africa</cp:lastModifiedBy>
  <cp:revision>1</cp:revision>
  <dcterms:created xsi:type="dcterms:W3CDTF">2026-07-12T22:51:25Z</dcterms:created>
  <dcterms:modified xsi:type="dcterms:W3CDTF">2026-07-12T22:51:25Z</dcterms:modified>
</cp:coreProperties>
</file>