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2B55"/>
        </a:solidFill>
      </p:bgPr>
    </p:bg>
    <p:spTree>
      <p:nvGrpSpPr>
        <p:cNvPr id="1" name=""/>
        <p:cNvGrpSpPr/>
        <p:nvPr/>
      </p:nvGrpSpPr>
      <p:grpSpPr>
        <a:xfrm>
          <a:off x="0" y="0"/>
          <a:ext cx="0" cy="0"/>
          <a:chOff x="0" y="0"/>
          <a:chExt cx="0" cy="0"/>
        </a:xfrm>
      </p:grpSpPr>
      <p:sp>
        <p:nvSpPr>
          <p:cNvPr id="2" name="Shape 0"/>
          <p:cNvSpPr/>
          <p:nvPr/>
        </p:nvSpPr>
        <p:spPr>
          <a:xfrm>
            <a:off x="9235440" y="0"/>
            <a:ext cx="2956255" cy="6858000"/>
          </a:xfrm>
          <a:prstGeom prst="rect">
            <a:avLst/>
          </a:prstGeom>
          <a:solidFill>
            <a:srgbClr val="07883F"/>
          </a:solidFill>
          <a:ln w="12700">
            <a:solidFill>
              <a:srgbClr val="07883F"/>
            </a:solidFill>
            <a:prstDash val="solid"/>
          </a:ln>
        </p:spPr>
      </p:sp>
      <p:sp>
        <p:nvSpPr>
          <p:cNvPr id="3" name="Shape 1"/>
          <p:cNvSpPr/>
          <p:nvPr/>
        </p:nvSpPr>
        <p:spPr>
          <a:xfrm>
            <a:off x="8823960" y="0"/>
            <a:ext cx="109728" cy="6858000"/>
          </a:xfrm>
          <a:prstGeom prst="rect">
            <a:avLst/>
          </a:prstGeom>
          <a:solidFill>
            <a:srgbClr val="D4AF37"/>
          </a:solidFill>
          <a:ln w="12700">
            <a:solidFill>
              <a:srgbClr val="D4AF37"/>
            </a:solidFill>
            <a:prstDash val="solid"/>
          </a:ln>
        </p:spPr>
      </p:sp>
      <p:sp>
        <p:nvSpPr>
          <p:cNvPr id="4" name="Shape 2"/>
          <p:cNvSpPr/>
          <p:nvPr/>
        </p:nvSpPr>
        <p:spPr>
          <a:xfrm>
            <a:off x="914400" y="1408176"/>
            <a:ext cx="1417320" cy="64008"/>
          </a:xfrm>
          <a:prstGeom prst="rect">
            <a:avLst/>
          </a:prstGeom>
          <a:solidFill>
            <a:srgbClr val="D4AF37"/>
          </a:solidFill>
          <a:ln w="12700">
            <a:solidFill>
              <a:srgbClr val="D4AF37"/>
            </a:solidFill>
            <a:prstDash val="solid"/>
          </a:ln>
        </p:spPr>
      </p:sp>
      <p:pic>
        <p:nvPicPr>
          <p:cNvPr id="5" name="Image 0" descr="preencoded.png">    </p:cNvPr>
          <p:cNvPicPr>
            <a:picLocks noChangeAspect="1"/>
          </p:cNvPicPr>
          <p:nvPr/>
        </p:nvPicPr>
        <p:blipFill>
          <a:blip r:embed="rId1"/>
          <a:stretch>
            <a:fillRect/>
          </a:stretch>
        </p:blipFill>
        <p:spPr>
          <a:xfrm>
            <a:off x="594360" y="320040"/>
            <a:ext cx="777240" cy="548640"/>
          </a:xfrm>
          <a:prstGeom prst="rect">
            <a:avLst/>
          </a:prstGeom>
        </p:spPr>
      </p:pic>
      <p:sp>
        <p:nvSpPr>
          <p:cNvPr id="6" name="Text 3"/>
          <p:cNvSpPr/>
          <p:nvPr/>
        </p:nvSpPr>
        <p:spPr>
          <a:xfrm>
            <a:off x="1508760" y="429768"/>
            <a:ext cx="2926080" cy="201168"/>
          </a:xfrm>
          <a:prstGeom prst="rect">
            <a:avLst/>
          </a:prstGeom>
          <a:noFill/>
          <a:ln/>
        </p:spPr>
        <p:txBody>
          <a:bodyPr wrap="square" lIns="0" tIns="0" rIns="0" bIns="0" rtlCol="0" anchor="ctr"/>
          <a:lstStyle/>
          <a:p>
            <a:pPr indent="0" marL="0">
              <a:buNone/>
            </a:pPr>
            <a:r>
              <a:rPr lang="en-US" sz="1100" b="1" dirty="0">
                <a:solidFill>
                  <a:srgbClr val="FFFFFF"/>
                </a:solidFill>
              </a:rPr>
              <a:t>VOICEINSIGHTS AFRICA</a:t>
            </a:r>
            <a:endParaRPr lang="en-US" sz="1100" dirty="0"/>
          </a:p>
        </p:txBody>
      </p:sp>
      <p:sp>
        <p:nvSpPr>
          <p:cNvPr id="7" name="Text 4"/>
          <p:cNvSpPr/>
          <p:nvPr/>
        </p:nvSpPr>
        <p:spPr>
          <a:xfrm>
            <a:off x="594360" y="1234440"/>
            <a:ext cx="7132320" cy="228600"/>
          </a:xfrm>
          <a:prstGeom prst="rect">
            <a:avLst/>
          </a:prstGeom>
          <a:noFill/>
          <a:ln/>
        </p:spPr>
        <p:txBody>
          <a:bodyPr wrap="square" lIns="0" tIns="0" rIns="0" bIns="0" rtlCol="0" anchor="ctr"/>
          <a:lstStyle/>
          <a:p>
            <a:pPr indent="0" marL="0">
              <a:buNone/>
            </a:pPr>
            <a:r>
              <a:rPr lang="en-US" sz="900" b="1" spc="100" kern="0" dirty="0">
                <a:solidFill>
                  <a:srgbClr val="D4AF37"/>
                </a:solidFill>
              </a:rPr>
              <a:t>FLAGSHIP SYNTHETIC DEMONSTRATION PUBLICATION | COVER 1</a:t>
            </a:r>
            <a:endParaRPr lang="en-US" sz="900" dirty="0"/>
          </a:p>
        </p:txBody>
      </p:sp>
      <p:sp>
        <p:nvSpPr>
          <p:cNvPr id="8" name="Text 5"/>
          <p:cNvSpPr/>
          <p:nvPr/>
        </p:nvSpPr>
        <p:spPr>
          <a:xfrm>
            <a:off x="594360" y="1828800"/>
            <a:ext cx="7589520" cy="1371600"/>
          </a:xfrm>
          <a:prstGeom prst="rect">
            <a:avLst/>
          </a:prstGeom>
          <a:noFill/>
          <a:ln/>
        </p:spPr>
        <p:txBody>
          <a:bodyPr wrap="square" lIns="0" tIns="0" rIns="0" bIns="0" rtlCol="0" anchor="ctr"/>
          <a:lstStyle/>
          <a:p>
            <a:pPr indent="0" marL="0">
              <a:buNone/>
            </a:pPr>
            <a:r>
              <a:rPr lang="en-US" sz="3000" b="1" dirty="0">
                <a:solidFill>
                  <a:srgbClr val="FFFFFF"/>
                </a:solidFill>
              </a:rPr>
              <a:t>National Human Development Intelligence Report</a:t>
            </a:r>
            <a:endParaRPr lang="en-US" sz="3000" dirty="0"/>
          </a:p>
        </p:txBody>
      </p:sp>
      <p:sp>
        <p:nvSpPr>
          <p:cNvPr id="9" name="Text 6"/>
          <p:cNvSpPr/>
          <p:nvPr/>
        </p:nvSpPr>
        <p:spPr>
          <a:xfrm>
            <a:off x="594360" y="3566160"/>
            <a:ext cx="5943600" cy="320040"/>
          </a:xfrm>
          <a:prstGeom prst="rect">
            <a:avLst/>
          </a:prstGeom>
          <a:noFill/>
          <a:ln/>
        </p:spPr>
        <p:txBody>
          <a:bodyPr wrap="square" lIns="0" tIns="0" rIns="0" bIns="0" rtlCol="0" anchor="ctr"/>
          <a:lstStyle/>
          <a:p>
            <a:pPr indent="0" marL="0">
              <a:buNone/>
            </a:pPr>
            <a:r>
              <a:rPr lang="en-US" sz="1600" dirty="0">
                <a:solidFill>
                  <a:srgbClr val="DDE9E4"/>
                </a:solidFill>
              </a:rPr>
              <a:t>Tanzania | Human Development</a:t>
            </a:r>
            <a:endParaRPr lang="en-US" sz="1600" dirty="0"/>
          </a:p>
        </p:txBody>
      </p:sp>
      <p:sp>
        <p:nvSpPr>
          <p:cNvPr id="10" name="Text 7"/>
          <p:cNvSpPr/>
          <p:nvPr/>
        </p:nvSpPr>
        <p:spPr>
          <a:xfrm>
            <a:off x="594360" y="4526280"/>
            <a:ext cx="6035040" cy="640080"/>
          </a:xfrm>
          <a:prstGeom prst="rect">
            <a:avLst/>
          </a:prstGeom>
          <a:noFill/>
          <a:ln/>
        </p:spPr>
        <p:txBody>
          <a:bodyPr wrap="square" lIns="0" tIns="0" rIns="0" bIns="0" rtlCol="0" anchor="ctr"/>
          <a:lstStyle/>
          <a:p>
            <a:pPr indent="0" marL="0">
              <a:buNone/>
            </a:pPr>
            <a:r>
              <a:rPr lang="en-US" sz="1100" dirty="0">
                <a:solidFill>
                  <a:srgbClr val="FFFFFF"/>
                </a:solidFill>
              </a:rPr>
              <a:t>Prepared by VoiceInsights Africa</a:t>
            </a:r>
            <a:endParaRPr lang="en-US" sz="1100" dirty="0"/>
          </a:p>
          <a:p>
            <a:pPr indent="0" marL="0">
              <a:buNone/>
            </a:pPr>
            <a:r>
              <a:rPr lang="en-US" sz="1100" dirty="0">
                <a:solidFill>
                  <a:srgbClr val="FFFFFF"/>
                </a:solidFill>
              </a:rPr>
              <a:t>Every Voice. Every Language. Every Insight.</a:t>
            </a:r>
            <a:endParaRPr lang="en-US" sz="1100" dirty="0"/>
          </a:p>
        </p:txBody>
      </p:sp>
      <p:sp>
        <p:nvSpPr>
          <p:cNvPr id="11" name="Text 8"/>
          <p:cNvSpPr/>
          <p:nvPr/>
        </p:nvSpPr>
        <p:spPr>
          <a:xfrm>
            <a:off x="9555480" y="5394960"/>
            <a:ext cx="2194560" cy="640080"/>
          </a:xfrm>
          <a:prstGeom prst="rect">
            <a:avLst/>
          </a:prstGeom>
          <a:noFill/>
          <a:ln/>
        </p:spPr>
        <p:txBody>
          <a:bodyPr wrap="square" lIns="0" tIns="0" rIns="0" bIns="0" rtlCol="0" anchor="ctr"/>
          <a:lstStyle/>
          <a:p>
            <a:pPr algn="ctr" indent="0" marL="0">
              <a:buNone/>
            </a:pPr>
            <a:r>
              <a:rPr lang="en-US" sz="1100" b="1" dirty="0">
                <a:solidFill>
                  <a:srgbClr val="FFFFFF"/>
                </a:solidFill>
              </a:rPr>
              <a:t>SYNTHETIC DATA</a:t>
            </a:r>
            <a:endParaRPr lang="en-US" sz="1100" dirty="0"/>
          </a:p>
          <a:p>
            <a:pPr algn="ctr" indent="0" marL="0">
              <a:buNone/>
            </a:pPr>
            <a:r>
              <a:rPr lang="en-US" sz="1100" b="1" dirty="0">
                <a:solidFill>
                  <a:srgbClr val="FFFFFF"/>
                </a:solidFill>
              </a:rPr>
              <a:t>Not official statistics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EXECUTIVE BRIEF</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The decision in five minutes</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02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D4AF37"/>
          </a:solidFill>
          <a:ln w="12700">
            <a:solidFill>
              <a:srgbClr val="D4AF37"/>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This flagship synthetic demonstration publication examines human development performance in Tanzania. The governed evidence model identifies uneven progress, concentrated risks and actionable opportunities. Findings are linked to synthetic source records, recommendations carry named accountability fields, and all statistical claims are generated from one internally consistent dataset.</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02A43"/>
                </a:solidFill>
              </a:rPr>
              <a:t>Adopt a cabinet-owned human development delivery compact for human development.</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02A43"/>
                </a:solidFill>
              </a:rPr>
              <a:t>Improvement is achievable within 12–18 months if ownership, resourcing and evidence review are maintained.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PERFORMANCE AND CONFIDENCE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Executive dashboard</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03 | Synthetic Demonstration Publication</a:t>
            </a:r>
            <a:endParaRPr lang="en-US" sz="700" dirty="0"/>
          </a:p>
        </p:txBody>
      </p:sp>
      <p:sp>
        <p:nvSpPr>
          <p:cNvPr id="8" name="Shape 5"/>
          <p:cNvSpPr/>
          <p:nvPr/>
        </p:nvSpPr>
        <p:spPr>
          <a:xfrm>
            <a:off x="548640" y="1874520"/>
            <a:ext cx="2514600" cy="1280160"/>
          </a:xfrm>
          <a:prstGeom prst="roundRect">
            <a:avLst>
              <a:gd name="adj" fmla="val 5714"/>
            </a:avLst>
          </a:prstGeom>
          <a:solidFill>
            <a:srgbClr val="FFFFFF"/>
          </a:solidFill>
          <a:ln w="12700">
            <a:solidFill>
              <a:srgbClr val="D8E5DF"/>
            </a:solidFill>
            <a:prstDash val="solid"/>
          </a:ln>
        </p:spPr>
      </p:sp>
      <p:sp>
        <p:nvSpPr>
          <p:cNvPr id="9" name="Text 6"/>
          <p:cNvSpPr/>
          <p:nvPr/>
        </p:nvSpPr>
        <p:spPr>
          <a:xfrm>
            <a:off x="713232" y="2121408"/>
            <a:ext cx="2148840" cy="411480"/>
          </a:xfrm>
          <a:prstGeom prst="rect">
            <a:avLst/>
          </a:prstGeom>
          <a:noFill/>
          <a:ln/>
        </p:spPr>
        <p:txBody>
          <a:bodyPr wrap="square" lIns="0" tIns="0" rIns="0" bIns="0" rtlCol="0" anchor="ctr"/>
          <a:lstStyle/>
          <a:p>
            <a:pPr indent="0" marL="0">
              <a:buNone/>
            </a:pPr>
            <a:r>
              <a:rPr lang="en-US" sz="2500" b="1" dirty="0">
                <a:solidFill>
                  <a:srgbClr val="082B55"/>
                </a:solidFill>
              </a:rPr>
              <a:t>3342</a:t>
            </a:r>
            <a:endParaRPr lang="en-US" sz="2500" dirty="0"/>
          </a:p>
        </p:txBody>
      </p:sp>
      <p:sp>
        <p:nvSpPr>
          <p:cNvPr id="10" name="Text 7"/>
          <p:cNvSpPr/>
          <p:nvPr/>
        </p:nvSpPr>
        <p:spPr>
          <a:xfrm>
            <a:off x="713232" y="2743200"/>
            <a:ext cx="2148840" cy="182880"/>
          </a:xfrm>
          <a:prstGeom prst="rect">
            <a:avLst/>
          </a:prstGeom>
          <a:noFill/>
          <a:ln/>
        </p:spPr>
        <p:txBody>
          <a:bodyPr wrap="square" lIns="0" tIns="0" rIns="0" bIns="0" rtlCol="0" anchor="ctr"/>
          <a:lstStyle/>
          <a:p>
            <a:pPr indent="0" marL="0">
              <a:buNone/>
            </a:pPr>
            <a:r>
              <a:rPr lang="en-US" sz="1000" b="1" dirty="0">
                <a:solidFill>
                  <a:srgbClr val="60756B"/>
                </a:solidFill>
              </a:rPr>
              <a:t>Synthetic responses</a:t>
            </a:r>
            <a:endParaRPr lang="en-US" sz="1000" dirty="0"/>
          </a:p>
        </p:txBody>
      </p:sp>
      <p:sp>
        <p:nvSpPr>
          <p:cNvPr id="11" name="Shape 8"/>
          <p:cNvSpPr/>
          <p:nvPr/>
        </p:nvSpPr>
        <p:spPr>
          <a:xfrm>
            <a:off x="3337560" y="1874520"/>
            <a:ext cx="2514600" cy="1280160"/>
          </a:xfrm>
          <a:prstGeom prst="roundRect">
            <a:avLst>
              <a:gd name="adj" fmla="val 5714"/>
            </a:avLst>
          </a:prstGeom>
          <a:solidFill>
            <a:srgbClr val="FFFFFF"/>
          </a:solidFill>
          <a:ln w="12700">
            <a:solidFill>
              <a:srgbClr val="D8E5DF"/>
            </a:solidFill>
            <a:prstDash val="solid"/>
          </a:ln>
        </p:spPr>
      </p:sp>
      <p:sp>
        <p:nvSpPr>
          <p:cNvPr id="12" name="Text 9"/>
          <p:cNvSpPr/>
          <p:nvPr/>
        </p:nvSpPr>
        <p:spPr>
          <a:xfrm>
            <a:off x="3502152" y="2121408"/>
            <a:ext cx="2148840" cy="411480"/>
          </a:xfrm>
          <a:prstGeom prst="rect">
            <a:avLst/>
          </a:prstGeom>
          <a:noFill/>
          <a:ln/>
        </p:spPr>
        <p:txBody>
          <a:bodyPr wrap="square" lIns="0" tIns="0" rIns="0" bIns="0" rtlCol="0" anchor="ctr"/>
          <a:lstStyle/>
          <a:p>
            <a:pPr indent="0" marL="0">
              <a:buNone/>
            </a:pPr>
            <a:r>
              <a:rPr lang="en-US" sz="2500" b="1" dirty="0">
                <a:solidFill>
                  <a:srgbClr val="082B55"/>
                </a:solidFill>
              </a:rPr>
              <a:t>90%</a:t>
            </a:r>
            <a:endParaRPr lang="en-US" sz="2500" dirty="0"/>
          </a:p>
        </p:txBody>
      </p:sp>
      <p:sp>
        <p:nvSpPr>
          <p:cNvPr id="13" name="Text 10"/>
          <p:cNvSpPr/>
          <p:nvPr/>
        </p:nvSpPr>
        <p:spPr>
          <a:xfrm>
            <a:off x="3502152" y="2743200"/>
            <a:ext cx="2148840" cy="182880"/>
          </a:xfrm>
          <a:prstGeom prst="rect">
            <a:avLst/>
          </a:prstGeom>
          <a:noFill/>
          <a:ln/>
        </p:spPr>
        <p:txBody>
          <a:bodyPr wrap="square" lIns="0" tIns="0" rIns="0" bIns="0" rtlCol="0" anchor="ctr"/>
          <a:lstStyle/>
          <a:p>
            <a:pPr indent="0" marL="0">
              <a:buNone/>
            </a:pPr>
            <a:r>
              <a:rPr lang="en-US" sz="1000" b="1" dirty="0">
                <a:solidFill>
                  <a:srgbClr val="60756B"/>
                </a:solidFill>
              </a:rPr>
              <a:t>Response rate</a:t>
            </a:r>
            <a:endParaRPr lang="en-US" sz="1000" dirty="0"/>
          </a:p>
        </p:txBody>
      </p:sp>
      <p:sp>
        <p:nvSpPr>
          <p:cNvPr id="14" name="Shape 11"/>
          <p:cNvSpPr/>
          <p:nvPr/>
        </p:nvSpPr>
        <p:spPr>
          <a:xfrm>
            <a:off x="6126480" y="1874520"/>
            <a:ext cx="2514600" cy="1280160"/>
          </a:xfrm>
          <a:prstGeom prst="roundRect">
            <a:avLst>
              <a:gd name="adj" fmla="val 5714"/>
            </a:avLst>
          </a:prstGeom>
          <a:solidFill>
            <a:srgbClr val="FFFFFF"/>
          </a:solidFill>
          <a:ln w="12700">
            <a:solidFill>
              <a:srgbClr val="D8E5DF"/>
            </a:solidFill>
            <a:prstDash val="solid"/>
          </a:ln>
        </p:spPr>
      </p:sp>
      <p:sp>
        <p:nvSpPr>
          <p:cNvPr id="15" name="Text 12"/>
          <p:cNvSpPr/>
          <p:nvPr/>
        </p:nvSpPr>
        <p:spPr>
          <a:xfrm>
            <a:off x="6291072" y="2121408"/>
            <a:ext cx="2148840" cy="411480"/>
          </a:xfrm>
          <a:prstGeom prst="rect">
            <a:avLst/>
          </a:prstGeom>
          <a:noFill/>
          <a:ln/>
        </p:spPr>
        <p:txBody>
          <a:bodyPr wrap="square" lIns="0" tIns="0" rIns="0" bIns="0" rtlCol="0" anchor="ctr"/>
          <a:lstStyle/>
          <a:p>
            <a:pPr indent="0" marL="0">
              <a:buNone/>
            </a:pPr>
            <a:r>
              <a:rPr lang="en-US" sz="2500" b="1" dirty="0">
                <a:solidFill>
                  <a:srgbClr val="082B55"/>
                </a:solidFill>
              </a:rPr>
              <a:t>4</a:t>
            </a:r>
            <a:endParaRPr lang="en-US" sz="2500" dirty="0"/>
          </a:p>
        </p:txBody>
      </p:sp>
      <p:sp>
        <p:nvSpPr>
          <p:cNvPr id="16" name="Text 13"/>
          <p:cNvSpPr/>
          <p:nvPr/>
        </p:nvSpPr>
        <p:spPr>
          <a:xfrm>
            <a:off x="6291072" y="2743200"/>
            <a:ext cx="2148840" cy="182880"/>
          </a:xfrm>
          <a:prstGeom prst="rect">
            <a:avLst/>
          </a:prstGeom>
          <a:noFill/>
          <a:ln/>
        </p:spPr>
        <p:txBody>
          <a:bodyPr wrap="square" lIns="0" tIns="0" rIns="0" bIns="0" rtlCol="0" anchor="ctr"/>
          <a:lstStyle/>
          <a:p>
            <a:pPr indent="0" marL="0">
              <a:buNone/>
            </a:pPr>
            <a:r>
              <a:rPr lang="en-US" sz="1000" b="1" dirty="0">
                <a:solidFill>
                  <a:srgbClr val="60756B"/>
                </a:solidFill>
              </a:rPr>
              <a:t>Regions</a:t>
            </a:r>
            <a:endParaRPr lang="en-US" sz="1000" dirty="0"/>
          </a:p>
        </p:txBody>
      </p:sp>
      <p:sp>
        <p:nvSpPr>
          <p:cNvPr id="17" name="Shape 14"/>
          <p:cNvSpPr/>
          <p:nvPr/>
        </p:nvSpPr>
        <p:spPr>
          <a:xfrm>
            <a:off x="8915400" y="1874520"/>
            <a:ext cx="2514600" cy="1280160"/>
          </a:xfrm>
          <a:prstGeom prst="roundRect">
            <a:avLst>
              <a:gd name="adj" fmla="val 5714"/>
            </a:avLst>
          </a:prstGeom>
          <a:solidFill>
            <a:srgbClr val="FFFFFF"/>
          </a:solidFill>
          <a:ln w="12700">
            <a:solidFill>
              <a:srgbClr val="D8E5DF"/>
            </a:solidFill>
            <a:prstDash val="solid"/>
          </a:ln>
        </p:spPr>
      </p:sp>
      <p:sp>
        <p:nvSpPr>
          <p:cNvPr id="18" name="Text 15"/>
          <p:cNvSpPr/>
          <p:nvPr/>
        </p:nvSpPr>
        <p:spPr>
          <a:xfrm>
            <a:off x="9079992" y="2121408"/>
            <a:ext cx="2148840" cy="411480"/>
          </a:xfrm>
          <a:prstGeom prst="rect">
            <a:avLst/>
          </a:prstGeom>
          <a:noFill/>
          <a:ln/>
        </p:spPr>
        <p:txBody>
          <a:bodyPr wrap="square" lIns="0" tIns="0" rIns="0" bIns="0" rtlCol="0" anchor="ctr"/>
          <a:lstStyle/>
          <a:p>
            <a:pPr indent="0" marL="0">
              <a:buNone/>
            </a:pPr>
            <a:r>
              <a:rPr lang="en-US" sz="2500" b="1" dirty="0">
                <a:solidFill>
                  <a:srgbClr val="082B55"/>
                </a:solidFill>
              </a:rPr>
              <a:t>82/100</a:t>
            </a:r>
            <a:endParaRPr lang="en-US" sz="2500" dirty="0"/>
          </a:p>
        </p:txBody>
      </p:sp>
      <p:sp>
        <p:nvSpPr>
          <p:cNvPr id="19" name="Text 16"/>
          <p:cNvSpPr/>
          <p:nvPr/>
        </p:nvSpPr>
        <p:spPr>
          <a:xfrm>
            <a:off x="9079992" y="2743200"/>
            <a:ext cx="2148840" cy="182880"/>
          </a:xfrm>
          <a:prstGeom prst="rect">
            <a:avLst/>
          </a:prstGeom>
          <a:noFill/>
          <a:ln/>
        </p:spPr>
        <p:txBody>
          <a:bodyPr wrap="square" lIns="0" tIns="0" rIns="0" bIns="0" rtlCol="0" anchor="ctr"/>
          <a:lstStyle/>
          <a:p>
            <a:pPr indent="0" marL="0">
              <a:buNone/>
            </a:pPr>
            <a:r>
              <a:rPr lang="en-US" sz="1000" b="1" dirty="0">
                <a:solidFill>
                  <a:srgbClr val="60756B"/>
                </a:solidFill>
              </a:rPr>
              <a:t>Demonstration readiness</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CRITICAL FINDINGS</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Three findings require leadership attention</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04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D4AF37"/>
          </a:solidFill>
          <a:ln w="12700">
            <a:solidFill>
              <a:srgbClr val="D4AF37"/>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Across Tanzania's synthetic study areas, multidimensional poverty transitions is the clearest differentiator of human development performance. The evidence is strongest in Lake Zone, where rural women face the largest gap. If the pattern remains unaddressed for twelve months, it is likely to weaken equity, delivery confidence and the durability of outcomes.</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02A43"/>
                </a:solidFill>
              </a:rPr>
              <a:t>Across Tanzania's synthetic study areas, primary healthcare continuity is the clearest differentiator of human development performance. The evidence is strongest in Central Corridor, where young adults face the largest gap. If the pattern remains unaddressed for twelve months, it is likely to weaken equity, delivery confidence and the durability of outcomes.</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02A43"/>
                </a:solidFill>
              </a:rPr>
              <a:t>Across Tanzania's synthetic study areas, school-to-work mobility is the clearest differentiator of human development performance. The evidence is strongest in Northern Highlands, where persons with disabilities face the largest gap. If the pattern remains unaddressed for twelve months, it is likely to weaken equity, delivery confidence and the durability of outcomes.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REGIONAL INTELLIGENCE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Outcomes vary materially by region</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05 | Synthetic Demonstration Publication</a:t>
            </a:r>
            <a:endParaRPr lang="en-US" sz="700" dirty="0"/>
          </a:p>
        </p:txBody>
      </p:sp>
      <p:sp>
        <p:nvSpPr>
          <p:cNvPr id="8" name="Text 5"/>
          <p:cNvSpPr/>
          <p:nvPr/>
        </p:nvSpPr>
        <p:spPr>
          <a:xfrm>
            <a:off x="548640" y="1783080"/>
            <a:ext cx="2926080" cy="228600"/>
          </a:xfrm>
          <a:prstGeom prst="rect">
            <a:avLst/>
          </a:prstGeom>
          <a:noFill/>
          <a:ln/>
        </p:spPr>
        <p:txBody>
          <a:bodyPr wrap="square" lIns="0" tIns="0" rIns="0" bIns="0" rtlCol="0" anchor="ctr"/>
          <a:lstStyle/>
          <a:p>
            <a:pPr indent="0" marL="0">
              <a:buNone/>
            </a:pPr>
            <a:r>
              <a:rPr lang="en-US" sz="1100" b="1" dirty="0">
                <a:solidFill>
                  <a:srgbClr val="102A43"/>
                </a:solidFill>
              </a:rPr>
              <a:t>Lake Zone</a:t>
            </a:r>
            <a:endParaRPr lang="en-US" sz="1100" dirty="0"/>
          </a:p>
        </p:txBody>
      </p:sp>
      <p:sp>
        <p:nvSpPr>
          <p:cNvPr id="9" name="Shape 6"/>
          <p:cNvSpPr/>
          <p:nvPr/>
        </p:nvSpPr>
        <p:spPr>
          <a:xfrm>
            <a:off x="3383280" y="1801368"/>
            <a:ext cx="6035040" cy="201168"/>
          </a:xfrm>
          <a:prstGeom prst="roundRect">
            <a:avLst>
              <a:gd name="adj" fmla="val 13636"/>
            </a:avLst>
          </a:prstGeom>
          <a:solidFill>
            <a:srgbClr val="DDE8E3"/>
          </a:solidFill>
          <a:ln w="12700">
            <a:solidFill>
              <a:srgbClr val="DDE8E3"/>
            </a:solidFill>
            <a:prstDash val="solid"/>
          </a:ln>
        </p:spPr>
      </p:sp>
      <p:sp>
        <p:nvSpPr>
          <p:cNvPr id="10" name="Shape 7"/>
          <p:cNvSpPr/>
          <p:nvPr/>
        </p:nvSpPr>
        <p:spPr>
          <a:xfrm>
            <a:off x="3383280" y="1801368"/>
            <a:ext cx="4948733" cy="201168"/>
          </a:xfrm>
          <a:prstGeom prst="roundRect">
            <a:avLst>
              <a:gd name="adj" fmla="val 13636"/>
            </a:avLst>
          </a:prstGeom>
          <a:solidFill>
            <a:srgbClr val="07883F"/>
          </a:solidFill>
          <a:ln w="12700">
            <a:solidFill>
              <a:srgbClr val="07883F"/>
            </a:solidFill>
            <a:prstDash val="solid"/>
          </a:ln>
        </p:spPr>
      </p:sp>
      <p:sp>
        <p:nvSpPr>
          <p:cNvPr id="11" name="Text 8"/>
          <p:cNvSpPr/>
          <p:nvPr/>
        </p:nvSpPr>
        <p:spPr>
          <a:xfrm>
            <a:off x="9601200" y="1783080"/>
            <a:ext cx="1554480" cy="228600"/>
          </a:xfrm>
          <a:prstGeom prst="rect">
            <a:avLst/>
          </a:prstGeom>
          <a:noFill/>
          <a:ln/>
        </p:spPr>
        <p:txBody>
          <a:bodyPr wrap="square" lIns="0" tIns="0" rIns="0" bIns="0" rtlCol="0" anchor="ctr"/>
          <a:lstStyle/>
          <a:p>
            <a:pPr algn="r" indent="0" marL="0">
              <a:buNone/>
            </a:pPr>
            <a:r>
              <a:rPr lang="en-US" sz="1000" b="1" dirty="0">
                <a:solidFill>
                  <a:srgbClr val="102A43"/>
                </a:solidFill>
              </a:rPr>
              <a:t>82%</a:t>
            </a:r>
            <a:endParaRPr lang="en-US" sz="1000" dirty="0"/>
          </a:p>
        </p:txBody>
      </p:sp>
      <p:sp>
        <p:nvSpPr>
          <p:cNvPr id="12" name="Text 9"/>
          <p:cNvSpPr/>
          <p:nvPr/>
        </p:nvSpPr>
        <p:spPr>
          <a:xfrm>
            <a:off x="548640" y="2404872"/>
            <a:ext cx="2926080" cy="228600"/>
          </a:xfrm>
          <a:prstGeom prst="rect">
            <a:avLst/>
          </a:prstGeom>
          <a:noFill/>
          <a:ln/>
        </p:spPr>
        <p:txBody>
          <a:bodyPr wrap="square" lIns="0" tIns="0" rIns="0" bIns="0" rtlCol="0" anchor="ctr"/>
          <a:lstStyle/>
          <a:p>
            <a:pPr indent="0" marL="0">
              <a:buNone/>
            </a:pPr>
            <a:r>
              <a:rPr lang="en-US" sz="1100" b="1" dirty="0">
                <a:solidFill>
                  <a:srgbClr val="102A43"/>
                </a:solidFill>
              </a:rPr>
              <a:t>Central Corridor</a:t>
            </a:r>
            <a:endParaRPr lang="en-US" sz="1100" dirty="0"/>
          </a:p>
        </p:txBody>
      </p:sp>
      <p:sp>
        <p:nvSpPr>
          <p:cNvPr id="13" name="Shape 10"/>
          <p:cNvSpPr/>
          <p:nvPr/>
        </p:nvSpPr>
        <p:spPr>
          <a:xfrm>
            <a:off x="3383280" y="2423160"/>
            <a:ext cx="6035040" cy="201168"/>
          </a:xfrm>
          <a:prstGeom prst="roundRect">
            <a:avLst>
              <a:gd name="adj" fmla="val 13636"/>
            </a:avLst>
          </a:prstGeom>
          <a:solidFill>
            <a:srgbClr val="DDE8E3"/>
          </a:solidFill>
          <a:ln w="12700">
            <a:solidFill>
              <a:srgbClr val="DDE8E3"/>
            </a:solidFill>
            <a:prstDash val="solid"/>
          </a:ln>
        </p:spPr>
      </p:sp>
      <p:sp>
        <p:nvSpPr>
          <p:cNvPr id="14" name="Shape 11"/>
          <p:cNvSpPr/>
          <p:nvPr/>
        </p:nvSpPr>
        <p:spPr>
          <a:xfrm>
            <a:off x="3383280" y="2423160"/>
            <a:ext cx="5009083" cy="201168"/>
          </a:xfrm>
          <a:prstGeom prst="roundRect">
            <a:avLst>
              <a:gd name="adj" fmla="val 13636"/>
            </a:avLst>
          </a:prstGeom>
          <a:solidFill>
            <a:srgbClr val="D4AF37"/>
          </a:solidFill>
          <a:ln w="12700">
            <a:solidFill>
              <a:srgbClr val="D4AF37"/>
            </a:solidFill>
            <a:prstDash val="solid"/>
          </a:ln>
        </p:spPr>
      </p:sp>
      <p:sp>
        <p:nvSpPr>
          <p:cNvPr id="15" name="Text 12"/>
          <p:cNvSpPr/>
          <p:nvPr/>
        </p:nvSpPr>
        <p:spPr>
          <a:xfrm>
            <a:off x="9601200" y="2404872"/>
            <a:ext cx="1554480" cy="228600"/>
          </a:xfrm>
          <a:prstGeom prst="rect">
            <a:avLst/>
          </a:prstGeom>
          <a:noFill/>
          <a:ln/>
        </p:spPr>
        <p:txBody>
          <a:bodyPr wrap="square" lIns="0" tIns="0" rIns="0" bIns="0" rtlCol="0" anchor="ctr"/>
          <a:lstStyle/>
          <a:p>
            <a:pPr algn="r" indent="0" marL="0">
              <a:buNone/>
            </a:pPr>
            <a:r>
              <a:rPr lang="en-US" sz="1000" b="1" dirty="0">
                <a:solidFill>
                  <a:srgbClr val="102A43"/>
                </a:solidFill>
              </a:rPr>
              <a:t>83%</a:t>
            </a:r>
            <a:endParaRPr lang="en-US" sz="1000" dirty="0"/>
          </a:p>
        </p:txBody>
      </p:sp>
      <p:sp>
        <p:nvSpPr>
          <p:cNvPr id="16" name="Text 13"/>
          <p:cNvSpPr/>
          <p:nvPr/>
        </p:nvSpPr>
        <p:spPr>
          <a:xfrm>
            <a:off x="548640" y="3026664"/>
            <a:ext cx="2926080" cy="228600"/>
          </a:xfrm>
          <a:prstGeom prst="rect">
            <a:avLst/>
          </a:prstGeom>
          <a:noFill/>
          <a:ln/>
        </p:spPr>
        <p:txBody>
          <a:bodyPr wrap="square" lIns="0" tIns="0" rIns="0" bIns="0" rtlCol="0" anchor="ctr"/>
          <a:lstStyle/>
          <a:p>
            <a:pPr indent="0" marL="0">
              <a:buNone/>
            </a:pPr>
            <a:r>
              <a:rPr lang="en-US" sz="1100" b="1" dirty="0">
                <a:solidFill>
                  <a:srgbClr val="102A43"/>
                </a:solidFill>
              </a:rPr>
              <a:t>Northern Highlands</a:t>
            </a:r>
            <a:endParaRPr lang="en-US" sz="1100" dirty="0"/>
          </a:p>
        </p:txBody>
      </p:sp>
      <p:sp>
        <p:nvSpPr>
          <p:cNvPr id="17" name="Shape 14"/>
          <p:cNvSpPr/>
          <p:nvPr/>
        </p:nvSpPr>
        <p:spPr>
          <a:xfrm>
            <a:off x="3383280" y="3044952"/>
            <a:ext cx="6035040" cy="201168"/>
          </a:xfrm>
          <a:prstGeom prst="roundRect">
            <a:avLst>
              <a:gd name="adj" fmla="val 13636"/>
            </a:avLst>
          </a:prstGeom>
          <a:solidFill>
            <a:srgbClr val="DDE8E3"/>
          </a:solidFill>
          <a:ln w="12700">
            <a:solidFill>
              <a:srgbClr val="DDE8E3"/>
            </a:solidFill>
            <a:prstDash val="solid"/>
          </a:ln>
        </p:spPr>
      </p:sp>
      <p:sp>
        <p:nvSpPr>
          <p:cNvPr id="18" name="Shape 15"/>
          <p:cNvSpPr/>
          <p:nvPr/>
        </p:nvSpPr>
        <p:spPr>
          <a:xfrm>
            <a:off x="3383280" y="3044952"/>
            <a:ext cx="5069434" cy="201168"/>
          </a:xfrm>
          <a:prstGeom prst="roundRect">
            <a:avLst>
              <a:gd name="adj" fmla="val 13636"/>
            </a:avLst>
          </a:prstGeom>
          <a:solidFill>
            <a:srgbClr val="07883F"/>
          </a:solidFill>
          <a:ln w="12700">
            <a:solidFill>
              <a:srgbClr val="07883F"/>
            </a:solidFill>
            <a:prstDash val="solid"/>
          </a:ln>
        </p:spPr>
      </p:sp>
      <p:sp>
        <p:nvSpPr>
          <p:cNvPr id="19" name="Text 16"/>
          <p:cNvSpPr/>
          <p:nvPr/>
        </p:nvSpPr>
        <p:spPr>
          <a:xfrm>
            <a:off x="9601200" y="3026664"/>
            <a:ext cx="1554480" cy="228600"/>
          </a:xfrm>
          <a:prstGeom prst="rect">
            <a:avLst/>
          </a:prstGeom>
          <a:noFill/>
          <a:ln/>
        </p:spPr>
        <p:txBody>
          <a:bodyPr wrap="square" lIns="0" tIns="0" rIns="0" bIns="0" rtlCol="0" anchor="ctr"/>
          <a:lstStyle/>
          <a:p>
            <a:pPr algn="r" indent="0" marL="0">
              <a:buNone/>
            </a:pPr>
            <a:r>
              <a:rPr lang="en-US" sz="1000" b="1" dirty="0">
                <a:solidFill>
                  <a:srgbClr val="102A43"/>
                </a:solidFill>
              </a:rPr>
              <a:t>84%</a:t>
            </a:r>
            <a:endParaRPr lang="en-US" sz="1000" dirty="0"/>
          </a:p>
        </p:txBody>
      </p:sp>
      <p:sp>
        <p:nvSpPr>
          <p:cNvPr id="20" name="Text 17"/>
          <p:cNvSpPr/>
          <p:nvPr/>
        </p:nvSpPr>
        <p:spPr>
          <a:xfrm>
            <a:off x="548640" y="3648456"/>
            <a:ext cx="2926080" cy="228600"/>
          </a:xfrm>
          <a:prstGeom prst="rect">
            <a:avLst/>
          </a:prstGeom>
          <a:noFill/>
          <a:ln/>
        </p:spPr>
        <p:txBody>
          <a:bodyPr wrap="square" lIns="0" tIns="0" rIns="0" bIns="0" rtlCol="0" anchor="ctr"/>
          <a:lstStyle/>
          <a:p>
            <a:pPr indent="0" marL="0">
              <a:buNone/>
            </a:pPr>
            <a:r>
              <a:rPr lang="en-US" sz="1100" b="1" dirty="0">
                <a:solidFill>
                  <a:srgbClr val="102A43"/>
                </a:solidFill>
              </a:rPr>
              <a:t>Coastal Belt</a:t>
            </a:r>
            <a:endParaRPr lang="en-US" sz="1100" dirty="0"/>
          </a:p>
        </p:txBody>
      </p:sp>
      <p:sp>
        <p:nvSpPr>
          <p:cNvPr id="21" name="Shape 18"/>
          <p:cNvSpPr/>
          <p:nvPr/>
        </p:nvSpPr>
        <p:spPr>
          <a:xfrm>
            <a:off x="3383280" y="3666744"/>
            <a:ext cx="6035040" cy="201168"/>
          </a:xfrm>
          <a:prstGeom prst="roundRect">
            <a:avLst>
              <a:gd name="adj" fmla="val 13636"/>
            </a:avLst>
          </a:prstGeom>
          <a:solidFill>
            <a:srgbClr val="DDE8E3"/>
          </a:solidFill>
          <a:ln w="12700">
            <a:solidFill>
              <a:srgbClr val="DDE8E3"/>
            </a:solidFill>
            <a:prstDash val="solid"/>
          </a:ln>
        </p:spPr>
      </p:sp>
      <p:sp>
        <p:nvSpPr>
          <p:cNvPr id="22" name="Shape 19"/>
          <p:cNvSpPr/>
          <p:nvPr/>
        </p:nvSpPr>
        <p:spPr>
          <a:xfrm>
            <a:off x="3383280" y="3666744"/>
            <a:ext cx="3138221" cy="201168"/>
          </a:xfrm>
          <a:prstGeom prst="roundRect">
            <a:avLst>
              <a:gd name="adj" fmla="val 13636"/>
            </a:avLst>
          </a:prstGeom>
          <a:solidFill>
            <a:srgbClr val="D4AF37"/>
          </a:solidFill>
          <a:ln w="12700">
            <a:solidFill>
              <a:srgbClr val="D4AF37"/>
            </a:solidFill>
            <a:prstDash val="solid"/>
          </a:ln>
        </p:spPr>
      </p:sp>
      <p:sp>
        <p:nvSpPr>
          <p:cNvPr id="23" name="Text 20"/>
          <p:cNvSpPr/>
          <p:nvPr/>
        </p:nvSpPr>
        <p:spPr>
          <a:xfrm>
            <a:off x="9601200" y="3648456"/>
            <a:ext cx="1554480" cy="228600"/>
          </a:xfrm>
          <a:prstGeom prst="rect">
            <a:avLst/>
          </a:prstGeom>
          <a:noFill/>
          <a:ln/>
        </p:spPr>
        <p:txBody>
          <a:bodyPr wrap="square" lIns="0" tIns="0" rIns="0" bIns="0" rtlCol="0" anchor="ctr"/>
          <a:lstStyle/>
          <a:p>
            <a:pPr algn="r" indent="0" marL="0">
              <a:buNone/>
            </a:pPr>
            <a:r>
              <a:rPr lang="en-US" sz="1000" b="1" dirty="0">
                <a:solidFill>
                  <a:srgbClr val="102A43"/>
                </a:solidFill>
              </a:rPr>
              <a:t>52%</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INDICATOR INTELLIGENCE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Target gaps reveal where delivery is slipping</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06 | Synthetic Demonstration Publication</a:t>
            </a:r>
            <a:endParaRPr lang="en-US" sz="700" dirty="0"/>
          </a:p>
        </p:txBody>
      </p:sp>
      <p:sp>
        <p:nvSpPr>
          <p:cNvPr id="8" name="Text 5"/>
          <p:cNvSpPr/>
          <p:nvPr/>
        </p:nvSpPr>
        <p:spPr>
          <a:xfrm>
            <a:off x="548640" y="1783080"/>
            <a:ext cx="2926080" cy="228600"/>
          </a:xfrm>
          <a:prstGeom prst="rect">
            <a:avLst/>
          </a:prstGeom>
          <a:noFill/>
          <a:ln/>
        </p:spPr>
        <p:txBody>
          <a:bodyPr wrap="square" lIns="0" tIns="0" rIns="0" bIns="0" rtlCol="0" anchor="ctr"/>
          <a:lstStyle/>
          <a:p>
            <a:pPr indent="0" marL="0">
              <a:buNone/>
            </a:pPr>
            <a:r>
              <a:rPr lang="en-US" sz="1100" b="1" dirty="0">
                <a:solidFill>
                  <a:srgbClr val="102A43"/>
                </a:solidFill>
              </a:rPr>
              <a:t>Human development opportunity score</a:t>
            </a:r>
            <a:endParaRPr lang="en-US" sz="1100" dirty="0"/>
          </a:p>
        </p:txBody>
      </p:sp>
      <p:sp>
        <p:nvSpPr>
          <p:cNvPr id="9" name="Shape 6"/>
          <p:cNvSpPr/>
          <p:nvPr/>
        </p:nvSpPr>
        <p:spPr>
          <a:xfrm>
            <a:off x="3383280" y="1801368"/>
            <a:ext cx="6035040" cy="201168"/>
          </a:xfrm>
          <a:prstGeom prst="roundRect">
            <a:avLst>
              <a:gd name="adj" fmla="val 13636"/>
            </a:avLst>
          </a:prstGeom>
          <a:solidFill>
            <a:srgbClr val="DDE8E3"/>
          </a:solidFill>
          <a:ln w="12700">
            <a:solidFill>
              <a:srgbClr val="DDE8E3"/>
            </a:solidFill>
            <a:prstDash val="solid"/>
          </a:ln>
        </p:spPr>
      </p:sp>
      <p:sp>
        <p:nvSpPr>
          <p:cNvPr id="10" name="Shape 7"/>
          <p:cNvSpPr/>
          <p:nvPr/>
        </p:nvSpPr>
        <p:spPr>
          <a:xfrm>
            <a:off x="3383280" y="1801368"/>
            <a:ext cx="3319272" cy="201168"/>
          </a:xfrm>
          <a:prstGeom prst="roundRect">
            <a:avLst>
              <a:gd name="adj" fmla="val 13636"/>
            </a:avLst>
          </a:prstGeom>
          <a:solidFill>
            <a:srgbClr val="07883F"/>
          </a:solidFill>
          <a:ln w="12700">
            <a:solidFill>
              <a:srgbClr val="07883F"/>
            </a:solidFill>
            <a:prstDash val="solid"/>
          </a:ln>
        </p:spPr>
      </p:sp>
      <p:sp>
        <p:nvSpPr>
          <p:cNvPr id="11" name="Shape 8"/>
          <p:cNvSpPr/>
          <p:nvPr/>
        </p:nvSpPr>
        <p:spPr>
          <a:xfrm>
            <a:off x="8150962" y="1737360"/>
            <a:ext cx="0" cy="347472"/>
          </a:xfrm>
          <a:prstGeom prst="line">
            <a:avLst/>
          </a:prstGeom>
          <a:noFill/>
          <a:ln w="19050">
            <a:solidFill>
              <a:srgbClr val="082B55"/>
            </a:solidFill>
            <a:prstDash val="solid"/>
          </a:ln>
        </p:spPr>
      </p:sp>
      <p:sp>
        <p:nvSpPr>
          <p:cNvPr id="12" name="Text 9"/>
          <p:cNvSpPr/>
          <p:nvPr/>
        </p:nvSpPr>
        <p:spPr>
          <a:xfrm>
            <a:off x="9601200" y="1783080"/>
            <a:ext cx="1554480" cy="228600"/>
          </a:xfrm>
          <a:prstGeom prst="rect">
            <a:avLst/>
          </a:prstGeom>
          <a:noFill/>
          <a:ln/>
        </p:spPr>
        <p:txBody>
          <a:bodyPr wrap="square" lIns="0" tIns="0" rIns="0" bIns="0" rtlCol="0" anchor="ctr"/>
          <a:lstStyle/>
          <a:p>
            <a:pPr algn="r" indent="0" marL="0">
              <a:buNone/>
            </a:pPr>
            <a:r>
              <a:rPr lang="en-US" sz="1000" b="1" dirty="0">
                <a:solidFill>
                  <a:srgbClr val="102A43"/>
                </a:solidFill>
              </a:rPr>
              <a:t>55% / target 79%</a:t>
            </a:r>
            <a:endParaRPr lang="en-US" sz="1000" dirty="0"/>
          </a:p>
        </p:txBody>
      </p:sp>
      <p:sp>
        <p:nvSpPr>
          <p:cNvPr id="13" name="Text 10"/>
          <p:cNvSpPr/>
          <p:nvPr/>
        </p:nvSpPr>
        <p:spPr>
          <a:xfrm>
            <a:off x="548640" y="2404872"/>
            <a:ext cx="2926080" cy="228600"/>
          </a:xfrm>
          <a:prstGeom prst="rect">
            <a:avLst/>
          </a:prstGeom>
          <a:noFill/>
          <a:ln/>
        </p:spPr>
        <p:txBody>
          <a:bodyPr wrap="square" lIns="0" tIns="0" rIns="0" bIns="0" rtlCol="0" anchor="ctr"/>
          <a:lstStyle/>
          <a:p>
            <a:pPr indent="0" marL="0">
              <a:buNone/>
            </a:pPr>
            <a:r>
              <a:rPr lang="en-US" sz="1100" b="1" dirty="0">
                <a:solidFill>
                  <a:srgbClr val="102A43"/>
                </a:solidFill>
              </a:rPr>
              <a:t>Essential health continuity</a:t>
            </a:r>
            <a:endParaRPr lang="en-US" sz="1100" dirty="0"/>
          </a:p>
        </p:txBody>
      </p:sp>
      <p:sp>
        <p:nvSpPr>
          <p:cNvPr id="14" name="Shape 11"/>
          <p:cNvSpPr/>
          <p:nvPr/>
        </p:nvSpPr>
        <p:spPr>
          <a:xfrm>
            <a:off x="3383280" y="2423160"/>
            <a:ext cx="6035040" cy="201168"/>
          </a:xfrm>
          <a:prstGeom prst="roundRect">
            <a:avLst>
              <a:gd name="adj" fmla="val 13636"/>
            </a:avLst>
          </a:prstGeom>
          <a:solidFill>
            <a:srgbClr val="DDE8E3"/>
          </a:solidFill>
          <a:ln w="12700">
            <a:solidFill>
              <a:srgbClr val="DDE8E3"/>
            </a:solidFill>
            <a:prstDash val="solid"/>
          </a:ln>
        </p:spPr>
      </p:sp>
      <p:sp>
        <p:nvSpPr>
          <p:cNvPr id="15" name="Shape 12"/>
          <p:cNvSpPr/>
          <p:nvPr/>
        </p:nvSpPr>
        <p:spPr>
          <a:xfrm>
            <a:off x="3383280" y="2423160"/>
            <a:ext cx="3379622" cy="201168"/>
          </a:xfrm>
          <a:prstGeom prst="roundRect">
            <a:avLst>
              <a:gd name="adj" fmla="val 13636"/>
            </a:avLst>
          </a:prstGeom>
          <a:solidFill>
            <a:srgbClr val="D4AF37"/>
          </a:solidFill>
          <a:ln w="12700">
            <a:solidFill>
              <a:srgbClr val="D4AF37"/>
            </a:solidFill>
            <a:prstDash val="solid"/>
          </a:ln>
        </p:spPr>
      </p:sp>
      <p:sp>
        <p:nvSpPr>
          <p:cNvPr id="16" name="Shape 13"/>
          <p:cNvSpPr/>
          <p:nvPr/>
        </p:nvSpPr>
        <p:spPr>
          <a:xfrm>
            <a:off x="8211312" y="2359152"/>
            <a:ext cx="0" cy="347472"/>
          </a:xfrm>
          <a:prstGeom prst="line">
            <a:avLst/>
          </a:prstGeom>
          <a:noFill/>
          <a:ln w="19050">
            <a:solidFill>
              <a:srgbClr val="082B55"/>
            </a:solidFill>
            <a:prstDash val="solid"/>
          </a:ln>
        </p:spPr>
      </p:sp>
      <p:sp>
        <p:nvSpPr>
          <p:cNvPr id="17" name="Text 14"/>
          <p:cNvSpPr/>
          <p:nvPr/>
        </p:nvSpPr>
        <p:spPr>
          <a:xfrm>
            <a:off x="9601200" y="2404872"/>
            <a:ext cx="1554480" cy="228600"/>
          </a:xfrm>
          <a:prstGeom prst="rect">
            <a:avLst/>
          </a:prstGeom>
          <a:noFill/>
          <a:ln/>
        </p:spPr>
        <p:txBody>
          <a:bodyPr wrap="square" lIns="0" tIns="0" rIns="0" bIns="0" rtlCol="0" anchor="ctr"/>
          <a:lstStyle/>
          <a:p>
            <a:pPr algn="r" indent="0" marL="0">
              <a:buNone/>
            </a:pPr>
            <a:r>
              <a:rPr lang="en-US" sz="1000" b="1" dirty="0">
                <a:solidFill>
                  <a:srgbClr val="102A43"/>
                </a:solidFill>
              </a:rPr>
              <a:t>56% / target 80%</a:t>
            </a:r>
            <a:endParaRPr lang="en-US" sz="1000" dirty="0"/>
          </a:p>
        </p:txBody>
      </p:sp>
      <p:sp>
        <p:nvSpPr>
          <p:cNvPr id="18" name="Text 15"/>
          <p:cNvSpPr/>
          <p:nvPr/>
        </p:nvSpPr>
        <p:spPr>
          <a:xfrm>
            <a:off x="548640" y="3026664"/>
            <a:ext cx="2926080" cy="228600"/>
          </a:xfrm>
          <a:prstGeom prst="rect">
            <a:avLst/>
          </a:prstGeom>
          <a:noFill/>
          <a:ln/>
        </p:spPr>
        <p:txBody>
          <a:bodyPr wrap="square" lIns="0" tIns="0" rIns="0" bIns="0" rtlCol="0" anchor="ctr"/>
          <a:lstStyle/>
          <a:p>
            <a:pPr indent="0" marL="0">
              <a:buNone/>
            </a:pPr>
            <a:r>
              <a:rPr lang="en-US" sz="1100" b="1" dirty="0">
                <a:solidFill>
                  <a:srgbClr val="102A43"/>
                </a:solidFill>
              </a:rPr>
              <a:t>Learning-to-work transition</a:t>
            </a:r>
            <a:endParaRPr lang="en-US" sz="1100" dirty="0"/>
          </a:p>
        </p:txBody>
      </p:sp>
      <p:sp>
        <p:nvSpPr>
          <p:cNvPr id="19" name="Shape 16"/>
          <p:cNvSpPr/>
          <p:nvPr/>
        </p:nvSpPr>
        <p:spPr>
          <a:xfrm>
            <a:off x="3383280" y="3044952"/>
            <a:ext cx="6035040" cy="201168"/>
          </a:xfrm>
          <a:prstGeom prst="roundRect">
            <a:avLst>
              <a:gd name="adj" fmla="val 13636"/>
            </a:avLst>
          </a:prstGeom>
          <a:solidFill>
            <a:srgbClr val="DDE8E3"/>
          </a:solidFill>
          <a:ln w="12700">
            <a:solidFill>
              <a:srgbClr val="DDE8E3"/>
            </a:solidFill>
            <a:prstDash val="solid"/>
          </a:ln>
        </p:spPr>
      </p:sp>
      <p:sp>
        <p:nvSpPr>
          <p:cNvPr id="20" name="Shape 17"/>
          <p:cNvSpPr/>
          <p:nvPr/>
        </p:nvSpPr>
        <p:spPr>
          <a:xfrm>
            <a:off x="3383280" y="3044952"/>
            <a:ext cx="3439973" cy="201168"/>
          </a:xfrm>
          <a:prstGeom prst="roundRect">
            <a:avLst>
              <a:gd name="adj" fmla="val 13636"/>
            </a:avLst>
          </a:prstGeom>
          <a:solidFill>
            <a:srgbClr val="07883F"/>
          </a:solidFill>
          <a:ln w="12700">
            <a:solidFill>
              <a:srgbClr val="07883F"/>
            </a:solidFill>
            <a:prstDash val="solid"/>
          </a:ln>
        </p:spPr>
      </p:sp>
      <p:sp>
        <p:nvSpPr>
          <p:cNvPr id="21" name="Shape 18"/>
          <p:cNvSpPr/>
          <p:nvPr/>
        </p:nvSpPr>
        <p:spPr>
          <a:xfrm>
            <a:off x="8271662" y="2980944"/>
            <a:ext cx="0" cy="347472"/>
          </a:xfrm>
          <a:prstGeom prst="line">
            <a:avLst/>
          </a:prstGeom>
          <a:noFill/>
          <a:ln w="19050">
            <a:solidFill>
              <a:srgbClr val="082B55"/>
            </a:solidFill>
            <a:prstDash val="solid"/>
          </a:ln>
        </p:spPr>
      </p:sp>
      <p:sp>
        <p:nvSpPr>
          <p:cNvPr id="22" name="Text 19"/>
          <p:cNvSpPr/>
          <p:nvPr/>
        </p:nvSpPr>
        <p:spPr>
          <a:xfrm>
            <a:off x="9601200" y="3026664"/>
            <a:ext cx="1554480" cy="228600"/>
          </a:xfrm>
          <a:prstGeom prst="rect">
            <a:avLst/>
          </a:prstGeom>
          <a:noFill/>
          <a:ln/>
        </p:spPr>
        <p:txBody>
          <a:bodyPr wrap="square" lIns="0" tIns="0" rIns="0" bIns="0" rtlCol="0" anchor="ctr"/>
          <a:lstStyle/>
          <a:p>
            <a:pPr algn="r" indent="0" marL="0">
              <a:buNone/>
            </a:pPr>
            <a:r>
              <a:rPr lang="en-US" sz="1000" b="1" dirty="0">
                <a:solidFill>
                  <a:srgbClr val="102A43"/>
                </a:solidFill>
              </a:rPr>
              <a:t>57% / target 81%</a:t>
            </a:r>
            <a:endParaRPr lang="en-US" sz="1000" dirty="0"/>
          </a:p>
        </p:txBody>
      </p:sp>
      <p:sp>
        <p:nvSpPr>
          <p:cNvPr id="23" name="Text 20"/>
          <p:cNvSpPr/>
          <p:nvPr/>
        </p:nvSpPr>
        <p:spPr>
          <a:xfrm>
            <a:off x="548640" y="3648456"/>
            <a:ext cx="2926080" cy="228600"/>
          </a:xfrm>
          <a:prstGeom prst="rect">
            <a:avLst/>
          </a:prstGeom>
          <a:noFill/>
          <a:ln/>
        </p:spPr>
        <p:txBody>
          <a:bodyPr wrap="square" lIns="0" tIns="0" rIns="0" bIns="0" rtlCol="0" anchor="ctr"/>
          <a:lstStyle/>
          <a:p>
            <a:pPr indent="0" marL="0">
              <a:buNone/>
            </a:pPr>
            <a:r>
              <a:rPr lang="en-US" sz="1100" b="1" dirty="0">
                <a:solidFill>
                  <a:srgbClr val="102A43"/>
                </a:solidFill>
              </a:rPr>
              <a:t>Overlapping deprivation rate</a:t>
            </a:r>
            <a:endParaRPr lang="en-US" sz="1100" dirty="0"/>
          </a:p>
        </p:txBody>
      </p:sp>
      <p:sp>
        <p:nvSpPr>
          <p:cNvPr id="24" name="Shape 21"/>
          <p:cNvSpPr/>
          <p:nvPr/>
        </p:nvSpPr>
        <p:spPr>
          <a:xfrm>
            <a:off x="3383280" y="3666744"/>
            <a:ext cx="6035040" cy="201168"/>
          </a:xfrm>
          <a:prstGeom prst="roundRect">
            <a:avLst>
              <a:gd name="adj" fmla="val 13636"/>
            </a:avLst>
          </a:prstGeom>
          <a:solidFill>
            <a:srgbClr val="DDE8E3"/>
          </a:solidFill>
          <a:ln w="12700">
            <a:solidFill>
              <a:srgbClr val="DDE8E3"/>
            </a:solidFill>
            <a:prstDash val="solid"/>
          </a:ln>
        </p:spPr>
      </p:sp>
      <p:sp>
        <p:nvSpPr>
          <p:cNvPr id="25" name="Shape 22"/>
          <p:cNvSpPr/>
          <p:nvPr/>
        </p:nvSpPr>
        <p:spPr>
          <a:xfrm>
            <a:off x="3383280" y="3666744"/>
            <a:ext cx="3500323" cy="201168"/>
          </a:xfrm>
          <a:prstGeom prst="roundRect">
            <a:avLst>
              <a:gd name="adj" fmla="val 13636"/>
            </a:avLst>
          </a:prstGeom>
          <a:solidFill>
            <a:srgbClr val="D4AF37"/>
          </a:solidFill>
          <a:ln w="12700">
            <a:solidFill>
              <a:srgbClr val="D4AF37"/>
            </a:solidFill>
            <a:prstDash val="solid"/>
          </a:ln>
        </p:spPr>
      </p:sp>
      <p:sp>
        <p:nvSpPr>
          <p:cNvPr id="26" name="Shape 23"/>
          <p:cNvSpPr/>
          <p:nvPr/>
        </p:nvSpPr>
        <p:spPr>
          <a:xfrm>
            <a:off x="8332013" y="3602736"/>
            <a:ext cx="0" cy="347472"/>
          </a:xfrm>
          <a:prstGeom prst="line">
            <a:avLst/>
          </a:prstGeom>
          <a:noFill/>
          <a:ln w="19050">
            <a:solidFill>
              <a:srgbClr val="082B55"/>
            </a:solidFill>
            <a:prstDash val="solid"/>
          </a:ln>
        </p:spPr>
      </p:sp>
      <p:sp>
        <p:nvSpPr>
          <p:cNvPr id="27" name="Text 24"/>
          <p:cNvSpPr/>
          <p:nvPr/>
        </p:nvSpPr>
        <p:spPr>
          <a:xfrm>
            <a:off x="9601200" y="3648456"/>
            <a:ext cx="1554480" cy="228600"/>
          </a:xfrm>
          <a:prstGeom prst="rect">
            <a:avLst/>
          </a:prstGeom>
          <a:noFill/>
          <a:ln/>
        </p:spPr>
        <p:txBody>
          <a:bodyPr wrap="square" lIns="0" tIns="0" rIns="0" bIns="0" rtlCol="0" anchor="ctr"/>
          <a:lstStyle/>
          <a:p>
            <a:pPr algn="r" indent="0" marL="0">
              <a:buNone/>
            </a:pPr>
            <a:r>
              <a:rPr lang="en-US" sz="1000" b="1" dirty="0">
                <a:solidFill>
                  <a:srgbClr val="102A43"/>
                </a:solidFill>
              </a:rPr>
              <a:t>58% / target 82%</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RESPONDENT VOICE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What respondents are telling decision-makers</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07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D4AF37"/>
          </a:solidFill>
          <a:ln w="12700">
            <a:solidFill>
              <a:srgbClr val="D4AF37"/>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“In Lake Zone, multidimensional poverty transitions shapes whether rural women can turn services into lasting outcomes.”</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02A43"/>
                </a:solidFill>
              </a:rPr>
              <a:t>“In Central Corridor, primary healthcare continuity shapes whether young adults can turn services into lasting outcomes.”</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02A43"/>
                </a:solidFill>
              </a:rPr>
              <a:t>“In Northern Highlands, school-to-work mobility shapes whether persons with disabilities can turn services into lasting outcomes.”</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DECISION INTELLIGENCE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Priority decisions and accountable owners</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08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D4AF37"/>
          </a:solidFill>
          <a:ln w="12700">
            <a:solidFill>
              <a:srgbClr val="D4AF37"/>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Adopt a cabinet-owned human development delivery compact for human development.</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02A43"/>
                </a:solidFill>
              </a:rPr>
              <a:t>Protect primary-care and foundational-learning allocations for human development.</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02A43"/>
                </a:solidFill>
              </a:rPr>
              <a:t>Target social protection to overlapping deprivations for human development.</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02A43"/>
                </a:solidFill>
              </a:rPr>
              <a:t>Publish a gender-responsive district performance scorecard for human development.</a:t>
            </a:r>
            <a:endParaRPr lang="en-US" sz="1500" dirty="0"/>
          </a:p>
        </p:txBody>
      </p:sp>
      <p:sp>
        <p:nvSpPr>
          <p:cNvPr id="20" name="Shape 17"/>
          <p:cNvSpPr/>
          <p:nvPr/>
        </p:nvSpPr>
        <p:spPr>
          <a:xfrm>
            <a:off x="548640" y="5074920"/>
            <a:ext cx="384048" cy="384048"/>
          </a:xfrm>
          <a:prstGeom prst="roundRect">
            <a:avLst>
              <a:gd name="adj" fmla="val 11905"/>
            </a:avLst>
          </a:prstGeom>
          <a:solidFill>
            <a:srgbClr val="07883F"/>
          </a:solidFill>
          <a:ln w="12700">
            <a:solidFill>
              <a:srgbClr val="07883F"/>
            </a:solidFill>
            <a:prstDash val="solid"/>
          </a:ln>
        </p:spPr>
      </p:sp>
      <p:sp>
        <p:nvSpPr>
          <p:cNvPr id="21" name="Text 18"/>
          <p:cNvSpPr/>
          <p:nvPr/>
        </p:nvSpPr>
        <p:spPr>
          <a:xfrm>
            <a:off x="548640" y="515721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22" name="Text 19"/>
          <p:cNvSpPr/>
          <p:nvPr/>
        </p:nvSpPr>
        <p:spPr>
          <a:xfrm>
            <a:off x="1143000" y="5056632"/>
            <a:ext cx="9875520" cy="475488"/>
          </a:xfrm>
          <a:prstGeom prst="rect">
            <a:avLst/>
          </a:prstGeom>
          <a:noFill/>
          <a:ln/>
        </p:spPr>
        <p:txBody>
          <a:bodyPr wrap="square" lIns="0" tIns="0" rIns="0" bIns="0" rtlCol="0" anchor="ctr"/>
          <a:lstStyle/>
          <a:p>
            <a:pPr indent="0" marL="0">
              <a:buNone/>
            </a:pPr>
            <a:r>
              <a:rPr lang="en-US" sz="1500" dirty="0">
                <a:solidFill>
                  <a:srgbClr val="102A43"/>
                </a:solidFill>
              </a:rPr>
              <a:t>Run a twelve-month district capability accelerator for human development.</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STRATEGIC CONSEQUENCE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The cost of inaction compounds over time</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09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D4AF37"/>
          </a:solidFill>
          <a:ln w="12700">
            <a:solidFill>
              <a:srgbClr val="D4AF37"/>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Without corrective action, existing gaps are likely to persist and may increase the future cost of recovery.</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02A43"/>
                </a:solidFill>
              </a:rPr>
              <a:t>A medium-scale reprioritization is indicated; formal costing and fiduciary review are required.</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IMPLEMENTATION</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A phased implementation roadmap</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10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D4AF37"/>
          </a:solidFill>
          <a:ln w="12700">
            <a:solidFill>
              <a:srgbClr val="D4AF37"/>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Adopt a cabinet-owned human development delivery compact for human development.</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02A43"/>
                </a:solidFill>
              </a:rPr>
              <a:t>Protect primary-care and foundational-learning allocations for human development.</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02A43"/>
                </a:solidFill>
              </a:rPr>
              <a:t>Target social protection to overlapping deprivations for human development.</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02A43"/>
                </a:solidFill>
              </a:rPr>
              <a:t>Publish a gender-responsive district performance scorecard for human development.</a:t>
            </a:r>
            <a:endParaRPr lang="en-US" sz="1500" dirty="0"/>
          </a:p>
        </p:txBody>
      </p:sp>
      <p:sp>
        <p:nvSpPr>
          <p:cNvPr id="20" name="Shape 17"/>
          <p:cNvSpPr/>
          <p:nvPr/>
        </p:nvSpPr>
        <p:spPr>
          <a:xfrm>
            <a:off x="548640" y="5074920"/>
            <a:ext cx="384048" cy="384048"/>
          </a:xfrm>
          <a:prstGeom prst="roundRect">
            <a:avLst>
              <a:gd name="adj" fmla="val 11905"/>
            </a:avLst>
          </a:prstGeom>
          <a:solidFill>
            <a:srgbClr val="07883F"/>
          </a:solidFill>
          <a:ln w="12700">
            <a:solidFill>
              <a:srgbClr val="07883F"/>
            </a:solidFill>
            <a:prstDash val="solid"/>
          </a:ln>
        </p:spPr>
      </p:sp>
      <p:sp>
        <p:nvSpPr>
          <p:cNvPr id="21" name="Text 18"/>
          <p:cNvSpPr/>
          <p:nvPr/>
        </p:nvSpPr>
        <p:spPr>
          <a:xfrm>
            <a:off x="548640" y="515721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22" name="Text 19"/>
          <p:cNvSpPr/>
          <p:nvPr/>
        </p:nvSpPr>
        <p:spPr>
          <a:xfrm>
            <a:off x="1143000" y="5056632"/>
            <a:ext cx="9875520" cy="475488"/>
          </a:xfrm>
          <a:prstGeom prst="rect">
            <a:avLst/>
          </a:prstGeom>
          <a:noFill/>
          <a:ln/>
        </p:spPr>
        <p:txBody>
          <a:bodyPr wrap="square" lIns="0" tIns="0" rIns="0" bIns="0" rtlCol="0" anchor="ctr"/>
          <a:lstStyle/>
          <a:p>
            <a:pPr indent="0" marL="0">
              <a:buNone/>
            </a:pPr>
            <a:r>
              <a:rPr lang="en-US" sz="1500" dirty="0">
                <a:solidFill>
                  <a:srgbClr val="102A43"/>
                </a:solidFill>
              </a:rPr>
              <a:t>Run a twelve-month district capability accelerator for human development.</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EVIDENCE LINEAGE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Every material claim links back to evidence</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11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D4AF37"/>
          </a:solidFill>
          <a:ln w="12700">
            <a:solidFill>
              <a:srgbClr val="D4AF37"/>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“In Lake Zone, multidimensional poverty transitions shapes whether rural women can turn services into lasting outcomes.”</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02A43"/>
                </a:solidFill>
              </a:rPr>
              <a:t>“In Central Corridor, primary healthcare continuity shapes whether young adults can turn services into lasting outcomes.”</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02A43"/>
                </a:solidFill>
              </a:rPr>
              <a:t>“In Northern Highlands, school-to-work mobility shapes whether persons with disabilities can turn services into lasting outcomes.”</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02A43"/>
                </a:solidFill>
              </a:rPr>
              <a:t>“In Coastal Belt, gendered time poverty shapes whether frontline workers can turn services into lasting outcomes.”</a:t>
            </a:r>
            <a:endParaRPr lang="en-US" sz="1500" dirty="0"/>
          </a:p>
        </p:txBody>
      </p:sp>
      <p:sp>
        <p:nvSpPr>
          <p:cNvPr id="20" name="Shape 17"/>
          <p:cNvSpPr/>
          <p:nvPr/>
        </p:nvSpPr>
        <p:spPr>
          <a:xfrm>
            <a:off x="548640" y="5074920"/>
            <a:ext cx="384048" cy="384048"/>
          </a:xfrm>
          <a:prstGeom prst="roundRect">
            <a:avLst>
              <a:gd name="adj" fmla="val 11905"/>
            </a:avLst>
          </a:prstGeom>
          <a:solidFill>
            <a:srgbClr val="07883F"/>
          </a:solidFill>
          <a:ln w="12700">
            <a:solidFill>
              <a:srgbClr val="07883F"/>
            </a:solidFill>
            <a:prstDash val="solid"/>
          </a:ln>
        </p:spPr>
      </p:sp>
      <p:sp>
        <p:nvSpPr>
          <p:cNvPr id="21" name="Text 18"/>
          <p:cNvSpPr/>
          <p:nvPr/>
        </p:nvSpPr>
        <p:spPr>
          <a:xfrm>
            <a:off x="548640" y="515721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22" name="Text 19"/>
          <p:cNvSpPr/>
          <p:nvPr/>
        </p:nvSpPr>
        <p:spPr>
          <a:xfrm>
            <a:off x="1143000" y="5056632"/>
            <a:ext cx="9875520" cy="475488"/>
          </a:xfrm>
          <a:prstGeom prst="rect">
            <a:avLst/>
          </a:prstGeom>
          <a:noFill/>
          <a:ln/>
        </p:spPr>
        <p:txBody>
          <a:bodyPr wrap="square" lIns="0" tIns="0" rIns="0" bIns="0" rtlCol="0" anchor="ctr"/>
          <a:lstStyle/>
          <a:p>
            <a:pPr indent="0" marL="0">
              <a:buNone/>
            </a:pPr>
            <a:r>
              <a:rPr lang="en-US" sz="1500" dirty="0">
                <a:solidFill>
                  <a:srgbClr val="102A43"/>
                </a:solidFill>
              </a:rPr>
              <a:t>“In Lake Zone, district capability gaps shapes whether low-income households can turn services into lasting outcomes.”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STATISTICAL ASSURANCE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Methodology designed for reproducibility</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12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D4AF37"/>
          </a:solidFill>
          <a:ln w="12700">
            <a:solidFill>
              <a:srgbClr val="D4AF37"/>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sampling design: Stratified multi-stage synthetic demonstration design</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02A43"/>
                </a:solidFill>
              </a:rPr>
              <a:t>sampling frame: Synthetic frame covering programme-relevant population groups in Tanzania</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02A43"/>
                </a:solidFill>
              </a:rPr>
              <a:t>stratification: ["Region","Urban/rural","Sex","Age","Disability status"]</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02A43"/>
                </a:solidFill>
              </a:rPr>
              <a:t>sample size: 3342</a:t>
            </a:r>
            <a:endParaRPr lang="en-US" sz="1500" dirty="0"/>
          </a:p>
        </p:txBody>
      </p:sp>
      <p:sp>
        <p:nvSpPr>
          <p:cNvPr id="20" name="Shape 17"/>
          <p:cNvSpPr/>
          <p:nvPr/>
        </p:nvSpPr>
        <p:spPr>
          <a:xfrm>
            <a:off x="548640" y="5074920"/>
            <a:ext cx="384048" cy="384048"/>
          </a:xfrm>
          <a:prstGeom prst="roundRect">
            <a:avLst>
              <a:gd name="adj" fmla="val 11905"/>
            </a:avLst>
          </a:prstGeom>
          <a:solidFill>
            <a:srgbClr val="07883F"/>
          </a:solidFill>
          <a:ln w="12700">
            <a:solidFill>
              <a:srgbClr val="07883F"/>
            </a:solidFill>
            <a:prstDash val="solid"/>
          </a:ln>
        </p:spPr>
      </p:sp>
      <p:sp>
        <p:nvSpPr>
          <p:cNvPr id="21" name="Text 18"/>
          <p:cNvSpPr/>
          <p:nvPr/>
        </p:nvSpPr>
        <p:spPr>
          <a:xfrm>
            <a:off x="548640" y="515721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22" name="Text 19"/>
          <p:cNvSpPr/>
          <p:nvPr/>
        </p:nvSpPr>
        <p:spPr>
          <a:xfrm>
            <a:off x="1143000" y="5056632"/>
            <a:ext cx="9875520" cy="475488"/>
          </a:xfrm>
          <a:prstGeom prst="rect">
            <a:avLst/>
          </a:prstGeom>
          <a:noFill/>
          <a:ln/>
        </p:spPr>
        <p:txBody>
          <a:bodyPr wrap="square" lIns="0" tIns="0" rIns="0" bIns="0" rtlCol="0" anchor="ctr"/>
          <a:lstStyle/>
          <a:p>
            <a:pPr indent="0" marL="0">
              <a:buNone/>
            </a:pPr>
            <a:r>
              <a:rPr lang="en-US" sz="1500" dirty="0">
                <a:solidFill>
                  <a:srgbClr val="102A43"/>
                </a:solidFill>
              </a:rPr>
              <a:t>weighting: Post-stratification weights normalized to the synthetic population frame</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INTERNATIONAL ALIGNMENT</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Standards are applied where genuinely relevant</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13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D4AF37"/>
          </a:solidFill>
          <a:ln w="12700">
            <a:solidFill>
              <a:srgbClr val="D4AF37"/>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Data Protection and Privacy Controls: The publication uses governed response, evidence and export data.</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02A43"/>
                </a:solidFill>
              </a:rPr>
              <a:t>Results-Based Management: Findings and recommendations are connected to outputs, outcomes and indicators.</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02A43"/>
                </a:solidFill>
              </a:rPr>
              <a:t>Theory of Change: The report tests causal pathways, assumptions and risks without claiming unsupported attribution.</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SDG INTELLIGENCE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SDG contribution is transparent and bounded</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14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D4AF37"/>
          </a:solidFill>
          <a:ln w="12700">
            <a:solidFill>
              <a:srgbClr val="D4AF37"/>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SDG 1 — Primary. Contribution mapping only; no attribution or institutional endorsement is implied.</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02A43"/>
                </a:solidFill>
              </a:rPr>
              <a:t>SDG 3 — Supporting. Contribution mapping only; no attribution or institutional endorsement is implied.</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02A43"/>
                </a:solidFill>
              </a:rPr>
              <a:t>SDG 4 — Supporting. Contribution mapping only; no attribution or institutional endorsement is implied.</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02A43"/>
                </a:solidFill>
              </a:rPr>
              <a:t>SDG 5 — Supporting. Contribution mapping only; no attribution or institutional endorsement is implied.</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PUBLICATION INTEGRITY</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Limitations and responsible interpretation</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15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D4AF37"/>
          </a:solidFill>
          <a:ln w="12700">
            <a:solidFill>
              <a:srgbClr val="D4AF37"/>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All content is synthetic and must not be interpreted as official statistics</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02A43"/>
                </a:solidFill>
              </a:rPr>
              <a:t>Geographic references are illustrative</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02A43"/>
                </a:solidFill>
              </a:rPr>
              <a:t>Budget implications are directional and require formal costing</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02A43"/>
                </a:solidFill>
              </a:rPr>
              <a:t>Causal claims are not made without an appropriate design</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82B55"/>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94360" y="411480"/>
            <a:ext cx="777240" cy="548640"/>
          </a:xfrm>
          <a:prstGeom prst="rect">
            <a:avLst/>
          </a:prstGeom>
        </p:spPr>
      </p:pic>
      <p:sp>
        <p:nvSpPr>
          <p:cNvPr id="3" name="Text 0"/>
          <p:cNvSpPr/>
          <p:nvPr/>
        </p:nvSpPr>
        <p:spPr>
          <a:xfrm>
            <a:off x="1508760" y="521208"/>
            <a:ext cx="2926080" cy="201168"/>
          </a:xfrm>
          <a:prstGeom prst="rect">
            <a:avLst/>
          </a:prstGeom>
          <a:noFill/>
          <a:ln/>
        </p:spPr>
        <p:txBody>
          <a:bodyPr wrap="square" lIns="0" tIns="0" rIns="0" bIns="0" rtlCol="0" anchor="ctr"/>
          <a:lstStyle/>
          <a:p>
            <a:pPr indent="0" marL="0">
              <a:buNone/>
            </a:pPr>
            <a:r>
              <a:rPr lang="en-US" sz="1100" b="1" dirty="0">
                <a:solidFill>
                  <a:srgbClr val="FFFFFF"/>
                </a:solidFill>
              </a:rPr>
              <a:t>VOICEINSIGHTS AFRICA</a:t>
            </a:r>
            <a:endParaRPr lang="en-US" sz="1100" dirty="0"/>
          </a:p>
        </p:txBody>
      </p:sp>
      <p:sp>
        <p:nvSpPr>
          <p:cNvPr id="4" name="Text 1"/>
          <p:cNvSpPr/>
          <p:nvPr/>
        </p:nvSpPr>
        <p:spPr>
          <a:xfrm>
            <a:off x="594360" y="1965960"/>
            <a:ext cx="7589520" cy="1005840"/>
          </a:xfrm>
          <a:prstGeom prst="rect">
            <a:avLst/>
          </a:prstGeom>
          <a:noFill/>
          <a:ln/>
        </p:spPr>
        <p:txBody>
          <a:bodyPr wrap="square" lIns="0" tIns="0" rIns="0" bIns="0" rtlCol="0" anchor="ctr"/>
          <a:lstStyle/>
          <a:p>
            <a:pPr indent="0" marL="0">
              <a:buNone/>
            </a:pPr>
            <a:r>
              <a:rPr lang="en-US" sz="3000" b="1" dirty="0">
                <a:solidFill>
                  <a:srgbClr val="FFFFFF"/>
                </a:solidFill>
              </a:rPr>
              <a:t>From every voice to an accountable decision</a:t>
            </a:r>
            <a:endParaRPr lang="en-US" sz="3000" dirty="0"/>
          </a:p>
        </p:txBody>
      </p:sp>
      <p:sp>
        <p:nvSpPr>
          <p:cNvPr id="5" name="Text 2"/>
          <p:cNvSpPr/>
          <p:nvPr/>
        </p:nvSpPr>
        <p:spPr>
          <a:xfrm>
            <a:off x="594360" y="3337560"/>
            <a:ext cx="6400800" cy="320040"/>
          </a:xfrm>
          <a:prstGeom prst="rect">
            <a:avLst/>
          </a:prstGeom>
          <a:noFill/>
          <a:ln/>
        </p:spPr>
        <p:txBody>
          <a:bodyPr wrap="square" lIns="0" tIns="0" rIns="0" bIns="0" rtlCol="0" anchor="ctr"/>
          <a:lstStyle/>
          <a:p>
            <a:pPr indent="0" marL="0">
              <a:buNone/>
            </a:pPr>
            <a:r>
              <a:rPr lang="en-US" sz="1700" dirty="0">
                <a:solidFill>
                  <a:srgbClr val="D4AF37"/>
                </a:solidFill>
              </a:rPr>
              <a:t>Every Voice. Every Language. Every Insight.</a:t>
            </a:r>
            <a:endParaRPr lang="en-US" sz="1700" dirty="0"/>
          </a:p>
        </p:txBody>
      </p:sp>
      <p:sp>
        <p:nvSpPr>
          <p:cNvPr id="6" name="Shape 3"/>
          <p:cNvSpPr/>
          <p:nvPr/>
        </p:nvSpPr>
        <p:spPr>
          <a:xfrm>
            <a:off x="9235440" y="0"/>
            <a:ext cx="2956255" cy="6858000"/>
          </a:xfrm>
          <a:prstGeom prst="rect">
            <a:avLst/>
          </a:prstGeom>
          <a:solidFill>
            <a:srgbClr val="07883F"/>
          </a:solidFill>
          <a:ln w="12700">
            <a:solidFill>
              <a:srgbClr val="07883F"/>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VoiceInsights Africa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National Human Development Intelligence Report</dc:title>
  <dc:subject>Synthetic Demonstration Publication</dc:subject>
  <dc:creator>VoiceInsights Africa</dc:creator>
  <cp:lastModifiedBy>VoiceInsights Africa</cp:lastModifiedBy>
  <cp:revision>1</cp:revision>
  <dcterms:created xsi:type="dcterms:W3CDTF">2026-07-12T22:51:24Z</dcterms:created>
  <dcterms:modified xsi:type="dcterms:W3CDTF">2026-07-12T22:51:24Z</dcterms:modified>
</cp:coreProperties>
</file>