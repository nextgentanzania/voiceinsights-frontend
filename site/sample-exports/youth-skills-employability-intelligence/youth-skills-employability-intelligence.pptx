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251D"/>
          </a:solidFill>
          <a:ln>
            <a:noFill/>
          </a:ln>
        </p:spPr>
      </p:sp>
      <p:sp>
        <p:nvSpPr>
          <p:cNvPr id="3" name="Top rule"/>
          <p:cNvSpPr/>
          <p:nvPr/>
        </p:nvSpPr>
        <p:spPr>
          <a:xfrm>
            <a:off x="0" y="0"/>
            <a:ext cx="12192000" cy="70000"/>
          </a:xfrm>
          <a:prstGeom prst="rect">
            <a:avLst/>
          </a:prstGeom>
          <a:solidFill>
            <a:srgbClr val="D4AF37"/>
          </a:solidFill>
          <a:ln>
            <a:noFill/>
          </a:ln>
        </p:spPr>
      </p:sp>
      <p:sp>
        <p:nvSpPr>
          <p:cNvPr id="4" name="Accent panel"/>
          <p:cNvSpPr/>
          <p:nvPr/>
        </p:nvSpPr>
        <p:spPr>
          <a:xfrm>
            <a:off x="9300000" y="0"/>
            <a:ext cx="2892000" cy="6858000"/>
          </a:xfrm>
          <a:prstGeom prst="rect">
            <a:avLst/>
          </a:prstGeom>
          <a:solidFill>
            <a:srgbClr val="0B6E4F"/>
          </a:solidFill>
          <a:ln>
            <a:noFill/>
          </a:ln>
        </p:spPr>
      </p:sp>
      <p:sp>
        <p:nvSpPr>
          <p:cNvPr id="5" name="Gold rule"/>
          <p:cNvSpPr/>
          <p:nvPr/>
        </p:nvSpPr>
        <p:spPr>
          <a:xfrm>
            <a:off x="8880000" y="0"/>
            <a:ext cx="120000" cy="6858000"/>
          </a:xfrm>
          <a:prstGeom prst="rect">
            <a:avLst/>
          </a:prstGeom>
          <a:solidFill>
            <a:srgbClr val="D4AF37"/>
          </a:solidFill>
          <a:ln>
            <a:noFill/>
          </a:ln>
        </p:spPr>
      </p:sp>
      <p:sp>
        <p:nvSpPr>
          <p:cNvPr id="6" name="VoiceInsights logo bar 1"/>
          <p:cNvSpPr/>
          <p:nvPr/>
        </p:nvSpPr>
        <p:spPr>
          <a:xfrm>
            <a:off x="640000" y="400000"/>
            <a:ext cx="90000" cy="180000"/>
          </a:xfrm>
          <a:prstGeom prst="roundRect">
            <a:avLst/>
          </a:prstGeom>
          <a:solidFill>
            <a:srgbClr val="0B6E4F"/>
          </a:solidFill>
          <a:ln>
            <a:noFill/>
          </a:ln>
        </p:spPr>
      </p:sp>
      <p:sp>
        <p:nvSpPr>
          <p:cNvPr id="7" name="VoiceInsights logo bar 2"/>
          <p:cNvSpPr/>
          <p:nvPr/>
        </p:nvSpPr>
        <p:spPr>
          <a:xfrm>
            <a:off x="800000" y="315000"/>
            <a:ext cx="110000" cy="350000"/>
          </a:xfrm>
          <a:prstGeom prst="roundRect">
            <a:avLst/>
          </a:prstGeom>
          <a:solidFill>
            <a:srgbClr val="0B6E4F"/>
          </a:solidFill>
          <a:ln>
            <a:noFill/>
          </a:ln>
        </p:spPr>
      </p:sp>
      <p:sp>
        <p:nvSpPr>
          <p:cNvPr id="8" name="VoiceInsights logo bar 3"/>
          <p:cNvSpPr/>
          <p:nvPr/>
        </p:nvSpPr>
        <p:spPr>
          <a:xfrm>
            <a:off x="980000" y="210000"/>
            <a:ext cx="125000" cy="560000"/>
          </a:xfrm>
          <a:prstGeom prst="roundRect">
            <a:avLst/>
          </a:prstGeom>
          <a:solidFill>
            <a:srgbClr val="0B6E4F"/>
          </a:solidFill>
          <a:ln>
            <a:noFill/>
          </a:ln>
        </p:spPr>
      </p:sp>
      <p:sp>
        <p:nvSpPr>
          <p:cNvPr id="9" name="VoiceInsights logo bar 4"/>
          <p:cNvSpPr/>
          <p:nvPr/>
        </p:nvSpPr>
        <p:spPr>
          <a:xfrm>
            <a:off x="1175000" y="315000"/>
            <a:ext cx="110000" cy="350000"/>
          </a:xfrm>
          <a:prstGeom prst="roundRect">
            <a:avLst/>
          </a:prstGeom>
          <a:solidFill>
            <a:srgbClr val="0B6E4F"/>
          </a:solidFill>
          <a:ln>
            <a:noFill/>
          </a:ln>
        </p:spPr>
      </p:sp>
      <p:sp>
        <p:nvSpPr>
          <p:cNvPr id="10" name="VoiceInsights logo bar 5"/>
          <p:cNvSpPr/>
          <p:nvPr/>
        </p:nvSpPr>
        <p:spPr>
          <a:xfrm>
            <a:off x="1355000" y="400000"/>
            <a:ext cx="90000" cy="180000"/>
          </a:xfrm>
          <a:prstGeom prst="roundRect">
            <a:avLst/>
          </a:prstGeom>
          <a:solidFill>
            <a:srgbClr val="0B6E4F"/>
          </a:solidFill>
          <a:ln>
            <a:noFill/>
          </a:ln>
        </p:spPr>
      </p:sp>
      <p:sp>
        <p:nvSpPr>
          <p:cNvPr id="11"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FFFFFF"/>
                </a:solidFill>
                <a:latin typeface="Aptos"/>
              </a:rPr>
              <a:t>VOICEINSIGHTS AFRICA</a:t>
            </a:r>
          </a:p>
        </p:txBody>
      </p:sp>
      <p:sp>
        <p:nvSpPr>
          <p:cNvPr id="12" name="Classification"/>
          <p:cNvSpPr txBox="1"/>
          <p:nvPr/>
        </p:nvSpPr>
        <p:spPr>
          <a:xfrm>
            <a:off x="640000" y="1160000"/>
            <a:ext cx="7100000" cy="420000"/>
          </a:xfrm>
          <a:prstGeom prst="rect">
            <a:avLst/>
          </a:prstGeom>
          <a:noFill/>
          <a:ln>
            <a:noFill/>
          </a:ln>
        </p:spPr>
        <p:txBody>
          <a:bodyPr wrap="square" anchor="t" lIns="0" rIns="0" tIns="0" bIns="0"/>
          <a:lstStyle/>
          <a:p>
            <a:pPr algn="l"/>
            <a:r>
              <a:rPr lang="en-US" sz="1250" b="1">
                <a:solidFill>
                  <a:srgbClr val="D4AF37"/>
                </a:solidFill>
                <a:latin typeface="Aptos"/>
              </a:rPr>
              <a:t>FLAGSHIP SYNTHETIC DEMONSTRATION PUBLICATION</a:t>
            </a:r>
          </a:p>
        </p:txBody>
      </p:sp>
      <p:sp>
        <p:nvSpPr>
          <p:cNvPr id="13" name="Title"/>
          <p:cNvSpPr txBox="1"/>
          <p:nvPr/>
        </p:nvSpPr>
        <p:spPr>
          <a:xfrm>
            <a:off x="640000" y="1760000"/>
            <a:ext cx="7600000" cy="1900000"/>
          </a:xfrm>
          <a:prstGeom prst="rect">
            <a:avLst/>
          </a:prstGeom>
          <a:noFill/>
          <a:ln>
            <a:noFill/>
          </a:ln>
        </p:spPr>
        <p:txBody>
          <a:bodyPr wrap="square" anchor="t" lIns="0" rIns="0" tIns="0" bIns="0"/>
          <a:lstStyle/>
          <a:p>
            <a:pPr algn="l"/>
            <a:r>
              <a:rPr lang="en-US" sz="3600" b="1">
                <a:solidFill>
                  <a:srgbClr val="FFFFFF"/>
                </a:solidFill>
                <a:latin typeface="Aptos"/>
              </a:rPr>
              <a:t>Youth Skills and Employability Intelligence Report</a:t>
            </a:r>
          </a:p>
        </p:txBody>
      </p:sp>
      <p:sp>
        <p:nvSpPr>
          <p:cNvPr id="14" name="Subtitle"/>
          <p:cNvSpPr txBox="1"/>
          <p:nvPr/>
        </p:nvSpPr>
        <p:spPr>
          <a:xfrm>
            <a:off x="640000" y="3900000"/>
            <a:ext cx="6900000" cy="450000"/>
          </a:xfrm>
          <a:prstGeom prst="rect">
            <a:avLst/>
          </a:prstGeom>
          <a:noFill/>
          <a:ln>
            <a:noFill/>
          </a:ln>
        </p:spPr>
        <p:txBody>
          <a:bodyPr wrap="square" anchor="t" lIns="0" rIns="0" tIns="0" bIns="0"/>
          <a:lstStyle/>
          <a:p>
            <a:pPr algn="l"/>
            <a:r>
              <a:rPr lang="en-US" sz="1800">
                <a:solidFill>
                  <a:srgbClr val="D8E5DF"/>
                </a:solidFill>
                <a:latin typeface="Aptos"/>
              </a:rPr>
              <a:t>Rwanda | Youth Skills and Employability</a:t>
            </a:r>
          </a:p>
        </p:txBody>
      </p:sp>
      <p:sp>
        <p:nvSpPr>
          <p:cNvPr id="15" name="Prepared"/>
          <p:cNvSpPr txBox="1"/>
          <p:nvPr/>
        </p:nvSpPr>
        <p:spPr>
          <a:xfrm>
            <a:off x="640000" y="5000000"/>
            <a:ext cx="6500000" cy="760000"/>
          </a:xfrm>
          <a:prstGeom prst="rect">
            <a:avLst/>
          </a:prstGeom>
          <a:noFill/>
          <a:ln>
            <a:noFill/>
          </a:ln>
        </p:spPr>
        <p:txBody>
          <a:bodyPr wrap="square" anchor="t" lIns="0" rIns="0" tIns="0" bIns="0"/>
          <a:lstStyle/>
          <a:p>
            <a:pPr algn="l"/>
            <a:r>
              <a:rPr lang="en-US" sz="1450">
                <a:solidFill>
                  <a:srgbClr val="FFFFFF"/>
                </a:solidFill>
                <a:latin typeface="Aptos"/>
              </a:rPr>
              <a:t>Prepared by VoiceInsights Africa Every Voice. Every Language. Every Insight.</a:t>
            </a:r>
          </a:p>
        </p:txBody>
      </p:sp>
      <p:sp>
        <p:nvSpPr>
          <p:cNvPr id="16" name="Notice"/>
          <p:cNvSpPr txBox="1"/>
          <p:nvPr/>
        </p:nvSpPr>
        <p:spPr>
          <a:xfrm>
            <a:off x="9550000" y="5260000"/>
            <a:ext cx="2050000" cy="650000"/>
          </a:xfrm>
          <a:prstGeom prst="rect">
            <a:avLst/>
          </a:prstGeom>
          <a:noFill/>
          <a:ln>
            <a:noFill/>
          </a:ln>
        </p:spPr>
        <p:txBody>
          <a:bodyPr wrap="square" anchor="ctr" lIns="0" rIns="0" tIns="0" bIns="0"/>
          <a:lstStyle/>
          <a:p>
            <a:pPr algn="c"/>
            <a:r>
              <a:rPr lang="en-US" sz="1250" b="1">
                <a:solidFill>
                  <a:srgbClr val="FFFFFF"/>
                </a:solidFill>
                <a:latin typeface="Aptos"/>
              </a:rPr>
              <a:t>SYNTHETIC DATA Not official statistics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Five-minute leadership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executive brief: Programme leadership's attention should shift from monitoring youth skills and employability performance to acting on the specific groups and locations the evidence flags as most exposed.</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Target investment at the sharpest skills-to-employment conversion gap.</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Revise curricula against current market-relevance data.</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Strengthen post-training placement support.</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critical findings: Skills-to-employment conversion gaps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What matters, why it matters and what must be decided</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Brief</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summary: Progress on youth skills and employability performance in Rwanda is real, but it is not evenly shared. This publication traces where the gains are holding, where the risk is concentrated, and what remains within reach. Findings are linked to synthetic source records, recommendations carry named accountability fields, and all statistical claims are generated from one internally consistent dataset.</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Target investment at the sharpest skills-to-employment conversion gap.</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Accountable choices for leadership</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Priority Decisions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investment at the sharpest skills-to-employment conversion gap.</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Revise curricula against current market-relevance data.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Strengthen post-training placement support.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Close sector-specific skills mismatches through employer partnerships.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transition-support services for recent training graduates.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Evidence-backed signals requiring attention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Critical Findings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Skills-to-employment conversion gaps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Training-curriculum market relevance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Post-training placement-support completion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Youth transition-support gaps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Sector-specific skills mismatches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Claim-to-source lineage and confidence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“Rural women in Kigali City put it plainly: skills-to-employment conversion gaps are what decides whether progress holds or slips back.”</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“Why does Eastern Province lag behind? Ask young adults, and the answer comes back to training-curriculum market relevance.”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“Elsewhere, post-training placement-support completion might be a footnote. For persons with disabilities in Western Province, it is the whole story.”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“Frontline workers in Northern Province frame it simply: when youth transition-support gaps breaks down, everything else does too.”</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“In Kigali City, sector-specific skills mismatches shapes whether low-income households can turn services into lasting outcomes.”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 “Rural women in Kigali City put it plainly: skills-to-employment conversion gaps are what decides whether progress holds or slips back.”</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“Why does Eastern Province lag behind? Ask young adults, and the answer comes back to training-curriculum market relevance.”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“Elsewhere, post-training placement-support completion might be a footnote. For persons with disabilities in Western Province, it is the whole story.”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“Frontline workers in Northern Province frame it simply: when youth transition-support gaps breaks down, everything else does too.”</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“In Kigali City, sector-specific skills mismatches shapes whether low-income households can turn services into lasting outcomes.”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Sampling, weighting, uncertainty and reproducibility</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Statistical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Rwanda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Prioritisation for management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and Opportunity Matrix</a:t>
            </a:r>
          </a:p>
        </p:txBody>
      </p:sp>
      <p:sp>
        <p:nvSpPr>
          <p:cNvPr id="12" name="Risk panel"/>
          <p:cNvSpPr/>
          <p:nvPr/>
        </p:nvSpPr>
        <p:spPr>
          <a:xfrm>
            <a:off x="640000" y="2050000"/>
            <a:ext cx="5200000" cy="3400000"/>
          </a:xfrm>
          <a:prstGeom prst="roundRect">
            <a:avLst/>
          </a:prstGeom>
          <a:solidFill>
            <a:srgbClr val="FFF2F0"/>
          </a:solidFill>
          <a:ln w="12700">
            <a:solidFill>
              <a:srgbClr val="E7C5BF"/>
            </a:solidFill>
          </a:ln>
        </p:spPr>
      </p:sp>
      <p:sp>
        <p:nvSpPr>
          <p:cNvPr id="13" name="Opportunity panel"/>
          <p:cNvSpPr/>
          <p:nvPr/>
        </p:nvSpPr>
        <p:spPr>
          <a:xfrm>
            <a:off x="5980000" y="2050000"/>
            <a:ext cx="5200000" cy="3400000"/>
          </a:xfrm>
          <a:prstGeom prst="roundRect">
            <a:avLst/>
          </a:prstGeom>
          <a:solidFill>
            <a:srgbClr val="ECF7F1"/>
          </a:solidFill>
          <a:ln w="12700">
            <a:solidFill>
              <a:srgbClr val="B8DCCB"/>
            </a:solidFill>
          </a:ln>
        </p:spPr>
      </p:sp>
      <p:sp>
        <p:nvSpPr>
          <p:cNvPr id="14" name="Risk title"/>
          <p:cNvSpPr txBox="1"/>
          <p:nvPr/>
        </p:nvSpPr>
        <p:spPr>
          <a:xfrm>
            <a:off x="940000" y="2320000"/>
            <a:ext cx="4400000" cy="330000"/>
          </a:xfrm>
          <a:prstGeom prst="rect">
            <a:avLst/>
          </a:prstGeom>
          <a:noFill/>
          <a:ln>
            <a:noFill/>
          </a:ln>
        </p:spPr>
        <p:txBody>
          <a:bodyPr wrap="square" anchor="t" lIns="0" rIns="0" tIns="0" bIns="0"/>
          <a:lstStyle/>
          <a:p>
            <a:pPr algn="l"/>
            <a:r>
              <a:rPr lang="en-US" sz="1350" b="1">
                <a:solidFill>
                  <a:srgbClr val="A33A2B"/>
                </a:solidFill>
                <a:latin typeface="Aptos"/>
              </a:rPr>
              <a:t>CRITICAL RISKS</a:t>
            </a:r>
          </a:p>
        </p:txBody>
      </p:sp>
      <p:sp>
        <p:nvSpPr>
          <p:cNvPr id="15" name="Opportunity title"/>
          <p:cNvSpPr txBox="1"/>
          <p:nvPr/>
        </p:nvSpPr>
        <p:spPr>
          <a:xfrm>
            <a:off x="6280000" y="2320000"/>
            <a:ext cx="4400000" cy="330000"/>
          </a:xfrm>
          <a:prstGeom prst="rect">
            <a:avLst/>
          </a:prstGeom>
          <a:noFill/>
          <a:ln>
            <a:noFill/>
          </a:ln>
        </p:spPr>
        <p:txBody>
          <a:bodyPr wrap="square" anchor="t" lIns="0" rIns="0" tIns="0" bIns="0"/>
          <a:lstStyle/>
          <a:p>
            <a:pPr algn="l"/>
            <a:r>
              <a:rPr lang="en-US" sz="1350" b="1">
                <a:solidFill>
                  <a:srgbClr val="0B6E4F"/>
                </a:solidFill>
                <a:latin typeface="Aptos"/>
              </a:rPr>
              <a:t>TOP OPPORTUNITIES</a:t>
            </a:r>
          </a:p>
        </p:txBody>
      </p:sp>
      <p:sp>
        <p:nvSpPr>
          <p:cNvPr id="16" name="Risks"/>
          <p:cNvSpPr txBox="1"/>
          <p:nvPr/>
        </p:nvSpPr>
        <p:spPr>
          <a:xfrm>
            <a:off x="940000" y="2850000"/>
            <a:ext cx="4400000" cy="2200000"/>
          </a:xfrm>
          <a:prstGeom prst="rect">
            <a:avLst/>
          </a:prstGeom>
          <a:noFill/>
          <a:ln>
            <a:noFill/>
          </a:ln>
        </p:spPr>
        <p:txBody>
          <a:bodyPr wrap="square" anchor="t" lIns="0" rIns="0" tIns="0" bIns="0"/>
          <a:lstStyle/>
          <a:p>
            <a:pPr algn="l"/>
            <a:r>
              <a:rPr lang="en-US" sz="1450">
                <a:solidFill>
                  <a:srgbClr val="532B25"/>
                </a:solidFill>
                <a:latin typeface="Aptos"/>
              </a:rPr>
              <a:t>1. Coordination gaps between the teams responsible for youth skills and employability slow the pace of change 2. Leadership turnover during implementation stalls momentum on youth skills and employability</a:t>
            </a:r>
          </a:p>
        </p:txBody>
      </p:sp>
      <p:sp>
        <p:nvSpPr>
          <p:cNvPr id="17" name="Opportunities"/>
          <p:cNvSpPr txBox="1"/>
          <p:nvPr/>
        </p:nvSpPr>
        <p:spPr>
          <a:xfrm>
            <a:off x="6280000" y="2850000"/>
            <a:ext cx="4400000" cy="2200000"/>
          </a:xfrm>
          <a:prstGeom prst="rect">
            <a:avLst/>
          </a:prstGeom>
          <a:noFill/>
          <a:ln>
            <a:noFill/>
          </a:ln>
        </p:spPr>
        <p:txBody>
          <a:bodyPr wrap="square" anchor="t" lIns="0" rIns="0" tIns="0" bIns="0"/>
          <a:lstStyle/>
          <a:p>
            <a:pPr algn="l"/>
            <a:r>
              <a:rPr lang="en-US" sz="1450">
                <a:solidFill>
                  <a:srgbClr val="164C3A"/>
                </a:solidFill>
                <a:latin typeface="Aptos"/>
              </a:rPr>
              <a:t>1. Stronger feedback accountability between frontline delivery and leadership 2. Closing the equity gap the evidence has already located 3. Using the confidence intervals already published here to focus investment</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International Standards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framework: SDG 8</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relevance: Applied where relevant to Youth Skills and Employability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EVI-YOU-001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EVI-YOU-002</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limitations: Synthetic demonstration mapping; institutional validation not implied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OECD-DAC</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Synthetic evidence indicates a strong relevance signal, subject to the stated design limitations.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coherence signal, subject to the stated design limitations.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effectiveness signal, subject to the stated design limitations.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efficiency signal, subject to the stated design limitations.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impact signal, subject to the stated design limitations.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Results-Based Management</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inputs: Governed synthetic data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Delivery capacity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Approved financing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Evidence collection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Segmented analysis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Core Humanitarian Standard</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commitment number: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commitment: CHS Commitment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EVI-YOU-001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status: APPLIED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action: Validate relevance and assign an accountable owner before live use.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Immediate, medium-term and strategic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investment at the sharpest skills-to-employment conversion gap.</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Revise curricula against current market-relevance data.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Strengthen post-training placement support.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Close sector-specific skills mismatches through employer partnerships.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transition-support services for recent training graduates.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 statistical, visual and decision assurance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Quality Gate</a:t>
            </a:r>
          </a:p>
        </p:txBody>
      </p:sp>
      <p:sp>
        <p:nvSpPr>
          <p:cNvPr id="12" name="Metric card 1"/>
          <p:cNvSpPr/>
          <p:nvPr/>
        </p:nvSpPr>
        <p:spPr>
          <a:xfrm>
            <a:off x="640000" y="2050000"/>
            <a:ext cx="2580000" cy="1500000"/>
          </a:xfrm>
          <a:prstGeom prst="roundRect">
            <a:avLst/>
          </a:prstGeom>
          <a:solidFill>
            <a:srgbClr val="FFFFFF"/>
          </a:solidFill>
          <a:ln w="12700">
            <a:solidFill>
              <a:srgbClr val="DCE7E2"/>
            </a:solidFill>
          </a:ln>
        </p:spPr>
      </p:sp>
      <p:sp>
        <p:nvSpPr>
          <p:cNvPr id="13" name="Metric value 1"/>
          <p:cNvSpPr txBox="1"/>
          <p:nvPr/>
        </p:nvSpPr>
        <p:spPr>
          <a:xfrm>
            <a:off x="82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4" name="Metric label 1"/>
          <p:cNvSpPr txBox="1"/>
          <p:nvPr/>
        </p:nvSpPr>
        <p:spPr>
          <a:xfrm>
            <a:off x="82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Editorial Review Passed</a:t>
            </a:r>
          </a:p>
        </p:txBody>
      </p:sp>
      <p:sp>
        <p:nvSpPr>
          <p:cNvPr id="15" name="Metric card 2"/>
          <p:cNvSpPr/>
          <p:nvPr/>
        </p:nvSpPr>
        <p:spPr>
          <a:xfrm>
            <a:off x="3470000" y="2050000"/>
            <a:ext cx="2580000" cy="1500000"/>
          </a:xfrm>
          <a:prstGeom prst="roundRect">
            <a:avLst/>
          </a:prstGeom>
          <a:solidFill>
            <a:srgbClr val="FFFFFF"/>
          </a:solidFill>
          <a:ln w="12700">
            <a:solidFill>
              <a:srgbClr val="DCE7E2"/>
            </a:solidFill>
          </a:ln>
        </p:spPr>
      </p:sp>
      <p:sp>
        <p:nvSpPr>
          <p:cNvPr id="16" name="Metric value 2"/>
          <p:cNvSpPr txBox="1"/>
          <p:nvPr/>
        </p:nvSpPr>
        <p:spPr>
          <a:xfrm>
            <a:off x="365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7" name="Metric label 2"/>
          <p:cNvSpPr txBox="1"/>
          <p:nvPr/>
        </p:nvSpPr>
        <p:spPr>
          <a:xfrm>
            <a:off x="365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Evidence Review Passed</a:t>
            </a:r>
          </a:p>
        </p:txBody>
      </p:sp>
      <p:sp>
        <p:nvSpPr>
          <p:cNvPr id="18" name="Metric card 3"/>
          <p:cNvSpPr/>
          <p:nvPr/>
        </p:nvSpPr>
        <p:spPr>
          <a:xfrm>
            <a:off x="6300000" y="2050000"/>
            <a:ext cx="2580000" cy="1500000"/>
          </a:xfrm>
          <a:prstGeom prst="roundRect">
            <a:avLst/>
          </a:prstGeom>
          <a:solidFill>
            <a:srgbClr val="FFFFFF"/>
          </a:solidFill>
          <a:ln w="12700">
            <a:solidFill>
              <a:srgbClr val="DCE7E2"/>
            </a:solidFill>
          </a:ln>
        </p:spPr>
      </p:sp>
      <p:sp>
        <p:nvSpPr>
          <p:cNvPr id="19" name="Metric value 3"/>
          <p:cNvSpPr txBox="1"/>
          <p:nvPr/>
        </p:nvSpPr>
        <p:spPr>
          <a:xfrm>
            <a:off x="648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0" name="Metric label 3"/>
          <p:cNvSpPr txBox="1"/>
          <p:nvPr/>
        </p:nvSpPr>
        <p:spPr>
          <a:xfrm>
            <a:off x="648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Publication Integrity Verified</a:t>
            </a:r>
          </a:p>
        </p:txBody>
      </p:sp>
      <p:sp>
        <p:nvSpPr>
          <p:cNvPr id="21" name="Metric card 4"/>
          <p:cNvSpPr/>
          <p:nvPr/>
        </p:nvSpPr>
        <p:spPr>
          <a:xfrm>
            <a:off x="9130000" y="2050000"/>
            <a:ext cx="2580000" cy="1500000"/>
          </a:xfrm>
          <a:prstGeom prst="roundRect">
            <a:avLst/>
          </a:prstGeom>
          <a:solidFill>
            <a:srgbClr val="FFFFFF"/>
          </a:solidFill>
          <a:ln w="12700">
            <a:solidFill>
              <a:srgbClr val="DCE7E2"/>
            </a:solidFill>
          </a:ln>
        </p:spPr>
      </p:sp>
      <p:sp>
        <p:nvSpPr>
          <p:cNvPr id="22" name="Metric value 4"/>
          <p:cNvSpPr txBox="1"/>
          <p:nvPr/>
        </p:nvSpPr>
        <p:spPr>
          <a:xfrm>
            <a:off x="931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3" name="Metric label 4"/>
          <p:cNvSpPr txBox="1"/>
          <p:nvPr/>
        </p:nvSpPr>
        <p:spPr>
          <a:xfrm>
            <a:off x="931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Accessibility Verified</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Visual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visualizations: Executive Kpi Cards: Skills-to-employment conversion rate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Regional Heat Map: Training-curriculum market-relevance score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Choropleth Map: Post-training placement-support completion rate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Risk Matrix: Sector skills-mismatch rate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Decision Matrix: Skills-to-employment conversion rate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Accessibility Assurance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wcag target: WCAG 2.2 AA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tagged pdf required: true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alt text required: true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table fallback required: true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keyboard navigation required: true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Products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exports: Premium PDF</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Editable Word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Native PowerPoint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Statistical Excel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Board Deck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Methodology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research objectives: Assess youth skills and employability performance and equity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research objectives: Identify operational drivers and decision priorities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What outcomes are changing?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Who is being left behind?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Which actions are most likely to improve performance?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Sampling Design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Rwanda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Weighting and Uncertainty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Rwanda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Reliability and Validity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Rwanda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Missing Data and Outliers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Rwanda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Regional Intelligence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Choropleth Map: Post-training placement-support completion rate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Performance Heat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Regional Heat Map: Training-curriculum market-relevance score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risk: Coordination gaps between the teams responsible for youth skills and employability slow the pace of change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Medium</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impact: Medium</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risk: Leadership turnover during implementation stalls momentum on youth skills and employability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Low</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Decision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investment at the sharpest skills-to-employment conversion gap.</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Revise curricula against current market-relevance data.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Strengthen post-training placement support.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Close sector-specific skills mismatches through employer partnerships.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transition-support services for recent training graduates.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Opportunity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Stronger feedback accountability between frontline delivery and leadership</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Closing the equity gap the evidence has already located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Using the confidence intervals already published here to focus investment</a:t>
            </a:r>
          </a:p>
        </p:txBody>
      </p:sp>
      <p:sp>
        <p:nvSpPr>
          <p:cNvPr id="21"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Cost of Inaction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narrative: Delaying action on youth skills and employability performance is unlikely to be neutral: the evidence suggests the current gap compounds rather than holds steady.</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Ownership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DEC-YOU-01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DEC-YOU-02</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DEC-YOU-03</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DEC-YOU-04</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DEC-YOU-05</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investment at the sharpest skills-to-employment conversion gap.</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Revise curricula against current market-relevance data.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Strengthen post-training placement support.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Close sector-specific skills mismatches through employer partnerships.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transition-support services for recent training graduates.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Data Dictionary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variable: indicator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label: Synthetic Youth Skills and Employability indicator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type: numeric</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allowed values: 0–100</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missing code: NA</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Appendices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Technical methodology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and weighting</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registry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Statistical tables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Data dictionary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Responsible interpretation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Limitations and Integrity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All content is synthetic and must not be interpreted as official statistics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Geographic references are illustrative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Budget implications are directional and require formal costing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Causal claims are not made without an appropriate design</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34</a:t>
            </a:r>
          </a:p>
        </p:txBody>
      </p:sp>
    </p:spTree>
  </p:cSld>
  <p:clrMapOvr>
    <a:masterClrMapping/>
  </p:clrMapOvr>
</p:sld>
</file>

<file path=docProps/app.xml><?xml version="1.0" encoding="utf-8"?>
<Properties xmlns="http://schemas.openxmlformats.org/officeDocument/2006/extended-properties">
  <Application>VoiceInsights Africa</Application>
  <Slides>34</Slides>
</Properties>
</file>

<file path=docProps/core.xml><?xml version="1.0" encoding="utf-8"?>
<cp:coreProperties xmlns:cp="http://schemas.openxmlformats.org/package/2006/metadata/core-properties" xmlns:dc="http://purl.org/dc/elements/1.1/">
  <dc:title>Youth Skills and Employability Intelligence Report</dc:title>
  <dc:creator>VoiceInsights Africa</dc:creator>
</cp:coreProperties>
</file>