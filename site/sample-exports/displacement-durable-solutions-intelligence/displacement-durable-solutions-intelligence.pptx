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251D"/>
          </a:solidFill>
          <a:ln>
            <a:noFill/>
          </a:ln>
        </p:spPr>
      </p:sp>
      <p:sp>
        <p:nvSpPr>
          <p:cNvPr id="3" name="Top rule"/>
          <p:cNvSpPr/>
          <p:nvPr/>
        </p:nvSpPr>
        <p:spPr>
          <a:xfrm>
            <a:off x="0" y="0"/>
            <a:ext cx="12192000" cy="70000"/>
          </a:xfrm>
          <a:prstGeom prst="rect">
            <a:avLst/>
          </a:prstGeom>
          <a:solidFill>
            <a:srgbClr val="D4AF37"/>
          </a:solidFill>
          <a:ln>
            <a:noFill/>
          </a:ln>
        </p:spPr>
      </p:sp>
      <p:sp>
        <p:nvSpPr>
          <p:cNvPr id="4" name="Accent panel"/>
          <p:cNvSpPr/>
          <p:nvPr/>
        </p:nvSpPr>
        <p:spPr>
          <a:xfrm>
            <a:off x="9300000" y="0"/>
            <a:ext cx="2892000" cy="6858000"/>
          </a:xfrm>
          <a:prstGeom prst="rect">
            <a:avLst/>
          </a:prstGeom>
          <a:solidFill>
            <a:srgbClr val="0B6E4F"/>
          </a:solidFill>
          <a:ln>
            <a:noFill/>
          </a:ln>
        </p:spPr>
      </p:sp>
      <p:sp>
        <p:nvSpPr>
          <p:cNvPr id="5" name="Gold rule"/>
          <p:cNvSpPr/>
          <p:nvPr/>
        </p:nvSpPr>
        <p:spPr>
          <a:xfrm>
            <a:off x="8880000" y="0"/>
            <a:ext cx="120000" cy="6858000"/>
          </a:xfrm>
          <a:prstGeom prst="rect">
            <a:avLst/>
          </a:prstGeom>
          <a:solidFill>
            <a:srgbClr val="D4AF37"/>
          </a:solidFill>
          <a:ln>
            <a:noFill/>
          </a:ln>
        </p:spPr>
      </p:sp>
      <p:sp>
        <p:nvSpPr>
          <p:cNvPr id="6" name="VoiceInsights logo bar 1"/>
          <p:cNvSpPr/>
          <p:nvPr/>
        </p:nvSpPr>
        <p:spPr>
          <a:xfrm>
            <a:off x="640000" y="400000"/>
            <a:ext cx="90000" cy="180000"/>
          </a:xfrm>
          <a:prstGeom prst="roundRect">
            <a:avLst/>
          </a:prstGeom>
          <a:solidFill>
            <a:srgbClr val="0B6E4F"/>
          </a:solidFill>
          <a:ln>
            <a:noFill/>
          </a:ln>
        </p:spPr>
      </p:sp>
      <p:sp>
        <p:nvSpPr>
          <p:cNvPr id="7" name="VoiceInsights logo bar 2"/>
          <p:cNvSpPr/>
          <p:nvPr/>
        </p:nvSpPr>
        <p:spPr>
          <a:xfrm>
            <a:off x="800000" y="315000"/>
            <a:ext cx="110000" cy="350000"/>
          </a:xfrm>
          <a:prstGeom prst="roundRect">
            <a:avLst/>
          </a:prstGeom>
          <a:solidFill>
            <a:srgbClr val="0B6E4F"/>
          </a:solidFill>
          <a:ln>
            <a:noFill/>
          </a:ln>
        </p:spPr>
      </p:sp>
      <p:sp>
        <p:nvSpPr>
          <p:cNvPr id="8" name="VoiceInsights logo bar 3"/>
          <p:cNvSpPr/>
          <p:nvPr/>
        </p:nvSpPr>
        <p:spPr>
          <a:xfrm>
            <a:off x="980000" y="210000"/>
            <a:ext cx="125000" cy="560000"/>
          </a:xfrm>
          <a:prstGeom prst="roundRect">
            <a:avLst/>
          </a:prstGeom>
          <a:solidFill>
            <a:srgbClr val="0B6E4F"/>
          </a:solidFill>
          <a:ln>
            <a:noFill/>
          </a:ln>
        </p:spPr>
      </p:sp>
      <p:sp>
        <p:nvSpPr>
          <p:cNvPr id="9" name="VoiceInsights logo bar 4"/>
          <p:cNvSpPr/>
          <p:nvPr/>
        </p:nvSpPr>
        <p:spPr>
          <a:xfrm>
            <a:off x="1175000" y="315000"/>
            <a:ext cx="110000" cy="350000"/>
          </a:xfrm>
          <a:prstGeom prst="roundRect">
            <a:avLst/>
          </a:prstGeom>
          <a:solidFill>
            <a:srgbClr val="0B6E4F"/>
          </a:solidFill>
          <a:ln>
            <a:noFill/>
          </a:ln>
        </p:spPr>
      </p:sp>
      <p:sp>
        <p:nvSpPr>
          <p:cNvPr id="10" name="VoiceInsights logo bar 5"/>
          <p:cNvSpPr/>
          <p:nvPr/>
        </p:nvSpPr>
        <p:spPr>
          <a:xfrm>
            <a:off x="1355000" y="400000"/>
            <a:ext cx="90000" cy="180000"/>
          </a:xfrm>
          <a:prstGeom prst="roundRect">
            <a:avLst/>
          </a:prstGeom>
          <a:solidFill>
            <a:srgbClr val="0B6E4F"/>
          </a:solidFill>
          <a:ln>
            <a:noFill/>
          </a:ln>
        </p:spPr>
      </p:sp>
      <p:sp>
        <p:nvSpPr>
          <p:cNvPr id="11"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FFFFFF"/>
                </a:solidFill>
                <a:latin typeface="Aptos"/>
              </a:rPr>
              <a:t>VOICEINSIGHTS AFRICA</a:t>
            </a:r>
          </a:p>
        </p:txBody>
      </p:sp>
      <p:sp>
        <p:nvSpPr>
          <p:cNvPr id="12" name="Classification"/>
          <p:cNvSpPr txBox="1"/>
          <p:nvPr/>
        </p:nvSpPr>
        <p:spPr>
          <a:xfrm>
            <a:off x="640000" y="1160000"/>
            <a:ext cx="7100000" cy="420000"/>
          </a:xfrm>
          <a:prstGeom prst="rect">
            <a:avLst/>
          </a:prstGeom>
          <a:noFill/>
          <a:ln>
            <a:noFill/>
          </a:ln>
        </p:spPr>
        <p:txBody>
          <a:bodyPr wrap="square" anchor="t" lIns="0" rIns="0" tIns="0" bIns="0"/>
          <a:lstStyle/>
          <a:p>
            <a:pPr algn="l"/>
            <a:r>
              <a:rPr lang="en-US" sz="1250" b="1">
                <a:solidFill>
                  <a:srgbClr val="D4AF37"/>
                </a:solidFill>
                <a:latin typeface="Aptos"/>
              </a:rPr>
              <a:t>FLAGSHIP SYNTHETIC DEMONSTRATION PUBLICATION</a:t>
            </a:r>
          </a:p>
        </p:txBody>
      </p:sp>
      <p:sp>
        <p:nvSpPr>
          <p:cNvPr id="13" name="Title"/>
          <p:cNvSpPr txBox="1"/>
          <p:nvPr/>
        </p:nvSpPr>
        <p:spPr>
          <a:xfrm>
            <a:off x="640000" y="1760000"/>
            <a:ext cx="7600000" cy="1900000"/>
          </a:xfrm>
          <a:prstGeom prst="rect">
            <a:avLst/>
          </a:prstGeom>
          <a:noFill/>
          <a:ln>
            <a:noFill/>
          </a:ln>
        </p:spPr>
        <p:txBody>
          <a:bodyPr wrap="square" anchor="t" lIns="0" rIns="0" tIns="0" bIns="0"/>
          <a:lstStyle/>
          <a:p>
            <a:pPr algn="l"/>
            <a:r>
              <a:rPr lang="en-US" sz="3600" b="1">
                <a:solidFill>
                  <a:srgbClr val="FFFFFF"/>
                </a:solidFill>
                <a:latin typeface="Aptos"/>
              </a:rPr>
              <a:t>Displacement and Durable Solutions Intelligence Report</a:t>
            </a:r>
          </a:p>
        </p:txBody>
      </p:sp>
      <p:sp>
        <p:nvSpPr>
          <p:cNvPr id="14" name="Subtitle"/>
          <p:cNvSpPr txBox="1"/>
          <p:nvPr/>
        </p:nvSpPr>
        <p:spPr>
          <a:xfrm>
            <a:off x="640000" y="3900000"/>
            <a:ext cx="6900000" cy="450000"/>
          </a:xfrm>
          <a:prstGeom prst="rect">
            <a:avLst/>
          </a:prstGeom>
          <a:noFill/>
          <a:ln>
            <a:noFill/>
          </a:ln>
        </p:spPr>
        <p:txBody>
          <a:bodyPr wrap="square" anchor="t" lIns="0" rIns="0" tIns="0" bIns="0"/>
          <a:lstStyle/>
          <a:p>
            <a:pPr algn="l"/>
            <a:r>
              <a:rPr lang="en-US" sz="1800">
                <a:solidFill>
                  <a:srgbClr val="D8E5DF"/>
                </a:solidFill>
                <a:latin typeface="Aptos"/>
              </a:rPr>
              <a:t>Uganda | Displacement and Durable Solutions</a:t>
            </a:r>
          </a:p>
        </p:txBody>
      </p:sp>
      <p:sp>
        <p:nvSpPr>
          <p:cNvPr id="15" name="Prepared"/>
          <p:cNvSpPr txBox="1"/>
          <p:nvPr/>
        </p:nvSpPr>
        <p:spPr>
          <a:xfrm>
            <a:off x="640000" y="5000000"/>
            <a:ext cx="6500000" cy="760000"/>
          </a:xfrm>
          <a:prstGeom prst="rect">
            <a:avLst/>
          </a:prstGeom>
          <a:noFill/>
          <a:ln>
            <a:noFill/>
          </a:ln>
        </p:spPr>
        <p:txBody>
          <a:bodyPr wrap="square" anchor="t" lIns="0" rIns="0" tIns="0" bIns="0"/>
          <a:lstStyle/>
          <a:p>
            <a:pPr algn="l"/>
            <a:r>
              <a:rPr lang="en-US" sz="1450">
                <a:solidFill>
                  <a:srgbClr val="FFFFFF"/>
                </a:solidFill>
                <a:latin typeface="Aptos"/>
              </a:rPr>
              <a:t>Prepared by VoiceInsights Africa Every Voice. Every Language. Every Insight.</a:t>
            </a:r>
          </a:p>
        </p:txBody>
      </p:sp>
      <p:sp>
        <p:nvSpPr>
          <p:cNvPr id="16" name="Notice"/>
          <p:cNvSpPr txBox="1"/>
          <p:nvPr/>
        </p:nvSpPr>
        <p:spPr>
          <a:xfrm>
            <a:off x="9550000" y="5260000"/>
            <a:ext cx="2050000" cy="650000"/>
          </a:xfrm>
          <a:prstGeom prst="rect">
            <a:avLst/>
          </a:prstGeom>
          <a:noFill/>
          <a:ln>
            <a:noFill/>
          </a:ln>
        </p:spPr>
        <p:txBody>
          <a:bodyPr wrap="square" anchor="ctr" lIns="0" rIns="0" tIns="0" bIns="0"/>
          <a:lstStyle/>
          <a:p>
            <a:pPr algn="c"/>
            <a:r>
              <a:rPr lang="en-US" sz="1250" b="1">
                <a:solidFill>
                  <a:srgbClr val="FFFFFF"/>
                </a:solidFill>
                <a:latin typeface="Aptos"/>
              </a:rPr>
              <a:t>SYNTHETIC DATA Not official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Five-minute leadership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executive brief: The humanitarian coordination team's attention should shift from monitoring displacement and durable solutions performance to acting on the specific groups and locations the evidence flags as most exposed.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Prioritise the durable-solutions pathway with the strongest real prospects.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Invest in host-community services to sustain local integration.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Close data gaps in pathway-completion tracking.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critical findings: Protracted displacement duration</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What matters, why it matters and what must be decided</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Brief</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summary: Every number in this publication answers one question: what is actually happening with displacement and durable solutions performance in Uganda, and for whom. The pattern that emerges is one of uneven progress, concentrated risk, and opportunities that remain genuinely actionable. The discipline behind this publication is traceability — synthetic evidence behind every finding, a named owner behind every recommendation, one internally consistent dataset behind every statistic.</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Prioritise the durable-solutions pathway with the strongest real prospects.</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Accountable choices for leadership</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Priority Decisions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Prioritise the durable-solutions pathway with the strongest real prospects.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Invest in host-community services to sustain local integration.</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data gaps in pathway-completion tracking.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Assess return-versus-integration viability by settlement.</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livelihoods support tied to durable-solutions pathways.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Evidence-backed signals requiring attention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Critical Findings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Protracted displacement duration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Host-community service strain</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Durable-solutions pathway completion gaps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gaps in pathway-completion tracking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Return-versus-integration viability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Claim-to-source lineage and confidence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“Rural women in West Nile Settlements frame it simply: when protracted displacement duration breaks down, everything else does too.”</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 Northern Uganda Settlements, host-community service strain shapes whether young adults can turn services into lasting outcomes.”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“Persons with disabilities in Southwest Settlements put it plainly: durable-solutions pathway completion gaps are what decides whether progress holds or slips back.”</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“Why does Kampala Urban Refugees lag behind? Ask frontline workers, and the answer comes back to data gaps in pathway-completion tracking.”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“Elsewhere, return-versus-integration viability might be a footnote. For low-income households in West Nile Settlements, it is the whole story.”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 “Rural women in West Nile Settlements frame it simply: when protracted displacement duration breaks down, everything else does too.”</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“In Northern Uganda Settlements, host-community service strain shapes whether young adults can turn services into lasting outcomes.”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“Persons with disabilities in Southwest Settlements put it plainly: durable-solutions pathway completion gaps are what decides whether progress holds or slips back.”</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“Why does Kampala Urban Refugees lag behind? Ask frontline workers, and the answer comes back to data gaps in pathway-completion tracking.”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“Elsewhere, return-versus-integration viability might be a footnote. For low-income households in West Nile Settlements, it is the whole story.”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Sampling, weighting, uncertainty and reproducibility</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Statistical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Uganda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Prioritisation for management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and Opportunity Matrix</a:t>
            </a:r>
          </a:p>
        </p:txBody>
      </p:sp>
      <p:sp>
        <p:nvSpPr>
          <p:cNvPr id="12" name="Risk panel"/>
          <p:cNvSpPr/>
          <p:nvPr/>
        </p:nvSpPr>
        <p:spPr>
          <a:xfrm>
            <a:off x="640000" y="2050000"/>
            <a:ext cx="5200000" cy="3400000"/>
          </a:xfrm>
          <a:prstGeom prst="roundRect">
            <a:avLst/>
          </a:prstGeom>
          <a:solidFill>
            <a:srgbClr val="FFF2F0"/>
          </a:solidFill>
          <a:ln w="12700">
            <a:solidFill>
              <a:srgbClr val="E7C5BF"/>
            </a:solidFill>
          </a:ln>
        </p:spPr>
      </p:sp>
      <p:sp>
        <p:nvSpPr>
          <p:cNvPr id="13" name="Opportunity panel"/>
          <p:cNvSpPr/>
          <p:nvPr/>
        </p:nvSpPr>
        <p:spPr>
          <a:xfrm>
            <a:off x="5980000" y="2050000"/>
            <a:ext cx="5200000" cy="3400000"/>
          </a:xfrm>
          <a:prstGeom prst="roundRect">
            <a:avLst/>
          </a:prstGeom>
          <a:solidFill>
            <a:srgbClr val="ECF7F1"/>
          </a:solidFill>
          <a:ln w="12700">
            <a:solidFill>
              <a:srgbClr val="B8DCCB"/>
            </a:solidFill>
          </a:ln>
        </p:spPr>
      </p:sp>
      <p:sp>
        <p:nvSpPr>
          <p:cNvPr id="14" name="Risk title"/>
          <p:cNvSpPr txBox="1"/>
          <p:nvPr/>
        </p:nvSpPr>
        <p:spPr>
          <a:xfrm>
            <a:off x="940000" y="2320000"/>
            <a:ext cx="4400000" cy="330000"/>
          </a:xfrm>
          <a:prstGeom prst="rect">
            <a:avLst/>
          </a:prstGeom>
          <a:noFill/>
          <a:ln>
            <a:noFill/>
          </a:ln>
        </p:spPr>
        <p:txBody>
          <a:bodyPr wrap="square" anchor="t" lIns="0" rIns="0" tIns="0" bIns="0"/>
          <a:lstStyle/>
          <a:p>
            <a:pPr algn="l"/>
            <a:r>
              <a:rPr lang="en-US" sz="1350" b="1">
                <a:solidFill>
                  <a:srgbClr val="A33A2B"/>
                </a:solidFill>
                <a:latin typeface="Aptos"/>
              </a:rPr>
              <a:t>CRITICAL RISKS</a:t>
            </a:r>
          </a:p>
        </p:txBody>
      </p:sp>
      <p:sp>
        <p:nvSpPr>
          <p:cNvPr id="15" name="Opportunity title"/>
          <p:cNvSpPr txBox="1"/>
          <p:nvPr/>
        </p:nvSpPr>
        <p:spPr>
          <a:xfrm>
            <a:off x="6280000" y="2320000"/>
            <a:ext cx="4400000" cy="330000"/>
          </a:xfrm>
          <a:prstGeom prst="rect">
            <a:avLst/>
          </a:prstGeom>
          <a:noFill/>
          <a:ln>
            <a:noFill/>
          </a:ln>
        </p:spPr>
        <p:txBody>
          <a:bodyPr wrap="square" anchor="t" lIns="0" rIns="0" tIns="0" bIns="0"/>
          <a:lstStyle/>
          <a:p>
            <a:pPr algn="l"/>
            <a:r>
              <a:rPr lang="en-US" sz="1350" b="1">
                <a:solidFill>
                  <a:srgbClr val="0B6E4F"/>
                </a:solidFill>
                <a:latin typeface="Aptos"/>
              </a:rPr>
              <a:t>TOP OPPORTUNITIES</a:t>
            </a:r>
          </a:p>
        </p:txBody>
      </p:sp>
      <p:sp>
        <p:nvSpPr>
          <p:cNvPr id="16" name="Risks"/>
          <p:cNvSpPr txBox="1"/>
          <p:nvPr/>
        </p:nvSpPr>
        <p:spPr>
          <a:xfrm>
            <a:off x="940000" y="2850000"/>
            <a:ext cx="4400000" cy="2200000"/>
          </a:xfrm>
          <a:prstGeom prst="rect">
            <a:avLst/>
          </a:prstGeom>
          <a:noFill/>
          <a:ln>
            <a:noFill/>
          </a:ln>
        </p:spPr>
        <p:txBody>
          <a:bodyPr wrap="square" anchor="t" lIns="0" rIns="0" tIns="0" bIns="0"/>
          <a:lstStyle/>
          <a:p>
            <a:pPr algn="l"/>
            <a:r>
              <a:rPr lang="en-US" sz="1450">
                <a:solidFill>
                  <a:srgbClr val="532B25"/>
                </a:solidFill>
                <a:latin typeface="Aptos"/>
              </a:rPr>
              <a:t>1. External factors outside this publication's scope could offset gains in displacement and durable solutions 2. Uneven implementation widens existing disparities in displacement and durable solutions</a:t>
            </a:r>
          </a:p>
        </p:txBody>
      </p:sp>
      <p:sp>
        <p:nvSpPr>
          <p:cNvPr id="17" name="Opportunities"/>
          <p:cNvSpPr txBox="1"/>
          <p:nvPr/>
        </p:nvSpPr>
        <p:spPr>
          <a:xfrm>
            <a:off x="6280000" y="2850000"/>
            <a:ext cx="4400000" cy="2200000"/>
          </a:xfrm>
          <a:prstGeom prst="rect">
            <a:avLst/>
          </a:prstGeom>
          <a:noFill/>
          <a:ln>
            <a:noFill/>
          </a:ln>
        </p:spPr>
        <p:txBody>
          <a:bodyPr wrap="square" anchor="t" lIns="0" rIns="0" tIns="0" bIns="0"/>
          <a:lstStyle/>
          <a:p>
            <a:pPr algn="l"/>
            <a:r>
              <a:rPr lang="en-US" sz="1450">
                <a:solidFill>
                  <a:srgbClr val="164C3A"/>
                </a:solidFill>
                <a:latin typeface="Aptos"/>
              </a:rPr>
              <a:t>1. Targeted acceleration in the lowest-performing part of displacement and durable solutions 2. Evidence-led reallocation of resources already committed to displacement and durable solutions 3. Stronger feedback accountability between frontline delivery and leadership</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International Standards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framework: CHS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relevance: Applied where relevant to Displacement and Durable Solutions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EVI-DIS-001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EVI-DIS-002</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limitations: Synthetic demonstration mapping; institutional validation not implied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OECD-DAC</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Synthetic evidence indicates a strong relevance signal, subject to the stated design limitations.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coherence signal, subject to the stated design limitations.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effectiveness signal, subject to the stated design limitations.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efficiency signal, subject to the stated design limitations.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impact signal, subject to the stated design limitations.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Results-Based Management</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inputs: Governed synthetic data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Delivery capacity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Approved financing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Evidence collection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Segmented analysis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Core Humanitarian Standard</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commitment number: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commitment: CHS Commitment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EVI-DIS-001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status: APPLIED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action: Validate relevance and assign an accountable owner before live use.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Immediate, medium-term and strategic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Prioritise the durable-solutions pathway with the strongest real prospects.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Invest in host-community services to sustain local integration.</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data gaps in pathway-completion tracking.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Assess return-versus-integration viability by settlement.</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livelihoods support tied to durable-solutions pathways.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 statistical, visual and decision assurance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Quality Gate</a:t>
            </a:r>
          </a:p>
        </p:txBody>
      </p:sp>
      <p:sp>
        <p:nvSpPr>
          <p:cNvPr id="12" name="Metric card 1"/>
          <p:cNvSpPr/>
          <p:nvPr/>
        </p:nvSpPr>
        <p:spPr>
          <a:xfrm>
            <a:off x="640000" y="2050000"/>
            <a:ext cx="2580000" cy="1500000"/>
          </a:xfrm>
          <a:prstGeom prst="roundRect">
            <a:avLst/>
          </a:prstGeom>
          <a:solidFill>
            <a:srgbClr val="FFFFFF"/>
          </a:solidFill>
          <a:ln w="12700">
            <a:solidFill>
              <a:srgbClr val="DCE7E2"/>
            </a:solidFill>
          </a:ln>
        </p:spPr>
      </p:sp>
      <p:sp>
        <p:nvSpPr>
          <p:cNvPr id="13" name="Metric value 1"/>
          <p:cNvSpPr txBox="1"/>
          <p:nvPr/>
        </p:nvSpPr>
        <p:spPr>
          <a:xfrm>
            <a:off x="82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4" name="Metric label 1"/>
          <p:cNvSpPr txBox="1"/>
          <p:nvPr/>
        </p:nvSpPr>
        <p:spPr>
          <a:xfrm>
            <a:off x="82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Editorial Review Passed</a:t>
            </a:r>
          </a:p>
        </p:txBody>
      </p:sp>
      <p:sp>
        <p:nvSpPr>
          <p:cNvPr id="15" name="Metric card 2"/>
          <p:cNvSpPr/>
          <p:nvPr/>
        </p:nvSpPr>
        <p:spPr>
          <a:xfrm>
            <a:off x="3470000" y="2050000"/>
            <a:ext cx="2580000" cy="1500000"/>
          </a:xfrm>
          <a:prstGeom prst="roundRect">
            <a:avLst/>
          </a:prstGeom>
          <a:solidFill>
            <a:srgbClr val="FFFFFF"/>
          </a:solidFill>
          <a:ln w="12700">
            <a:solidFill>
              <a:srgbClr val="DCE7E2"/>
            </a:solidFill>
          </a:ln>
        </p:spPr>
      </p:sp>
      <p:sp>
        <p:nvSpPr>
          <p:cNvPr id="16" name="Metric value 2"/>
          <p:cNvSpPr txBox="1"/>
          <p:nvPr/>
        </p:nvSpPr>
        <p:spPr>
          <a:xfrm>
            <a:off x="365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7" name="Metric label 2"/>
          <p:cNvSpPr txBox="1"/>
          <p:nvPr/>
        </p:nvSpPr>
        <p:spPr>
          <a:xfrm>
            <a:off x="365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Evidence Review Passed</a:t>
            </a:r>
          </a:p>
        </p:txBody>
      </p:sp>
      <p:sp>
        <p:nvSpPr>
          <p:cNvPr id="18" name="Metric card 3"/>
          <p:cNvSpPr/>
          <p:nvPr/>
        </p:nvSpPr>
        <p:spPr>
          <a:xfrm>
            <a:off x="6300000" y="2050000"/>
            <a:ext cx="2580000" cy="1500000"/>
          </a:xfrm>
          <a:prstGeom prst="roundRect">
            <a:avLst/>
          </a:prstGeom>
          <a:solidFill>
            <a:srgbClr val="FFFFFF"/>
          </a:solidFill>
          <a:ln w="12700">
            <a:solidFill>
              <a:srgbClr val="DCE7E2"/>
            </a:solidFill>
          </a:ln>
        </p:spPr>
      </p:sp>
      <p:sp>
        <p:nvSpPr>
          <p:cNvPr id="19" name="Metric value 3"/>
          <p:cNvSpPr txBox="1"/>
          <p:nvPr/>
        </p:nvSpPr>
        <p:spPr>
          <a:xfrm>
            <a:off x="648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0" name="Metric label 3"/>
          <p:cNvSpPr txBox="1"/>
          <p:nvPr/>
        </p:nvSpPr>
        <p:spPr>
          <a:xfrm>
            <a:off x="648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Publication Integrity Verified</a:t>
            </a:r>
          </a:p>
        </p:txBody>
      </p:sp>
      <p:sp>
        <p:nvSpPr>
          <p:cNvPr id="21" name="Metric card 4"/>
          <p:cNvSpPr/>
          <p:nvPr/>
        </p:nvSpPr>
        <p:spPr>
          <a:xfrm>
            <a:off x="9130000" y="2050000"/>
            <a:ext cx="2580000" cy="1500000"/>
          </a:xfrm>
          <a:prstGeom prst="roundRect">
            <a:avLst/>
          </a:prstGeom>
          <a:solidFill>
            <a:srgbClr val="FFFFFF"/>
          </a:solidFill>
          <a:ln w="12700">
            <a:solidFill>
              <a:srgbClr val="DCE7E2"/>
            </a:solidFill>
          </a:ln>
        </p:spPr>
      </p:sp>
      <p:sp>
        <p:nvSpPr>
          <p:cNvPr id="22" name="Metric value 4"/>
          <p:cNvSpPr txBox="1"/>
          <p:nvPr/>
        </p:nvSpPr>
        <p:spPr>
          <a:xfrm>
            <a:off x="931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3" name="Metric label 4"/>
          <p:cNvSpPr txBox="1"/>
          <p:nvPr/>
        </p:nvSpPr>
        <p:spPr>
          <a:xfrm>
            <a:off x="931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Accessibility Verified</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Visual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visualizations: Executive Kpi Cards: Protracted-displacement duration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Regional Heat Map: Durable-solutions pathway completion rate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Choropleth Map: Host-community service-strain index</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Risk Matrix: Pathway-tracking data completeness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Decision Matrix: Protracted-displacement duration</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Accessibility Assurance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wcag target: WCAG 2.2 AA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tagged pdf required: true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alt text required: true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table fallback required: true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keyboard navigation required: true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Products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exports: Premium PDF</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Editable Word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Native PowerPoint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Statistical Excel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Board Deck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Methodology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research objectives: Assess displacement and durable solutions performance and equity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research objectives: Identify operational drivers and decision priorities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What outcomes are changing?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Who is being left behind?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Which actions are most likely to improve performance?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Sampling Design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Uganda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Weighting and Uncertainty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Uganda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Reliability and Validity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Uganda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Missing Data and Outliers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Uganda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Regional Intelligence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Choropleth Map: Host-community service-strain index</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Performance Heat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Regional Heat Map: Durable-solutions pathway completion rate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risk: External factors outside this publication's scope could offset gains in displacement and durable solutions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Low</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impact: Medium</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risk: Uneven implementation widens existing disparities in displacement and durable solutions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High</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Decision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Prioritise the durable-solutions pathway with the strongest real prospects.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Invest in host-community services to sustain local integration.</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data gaps in pathway-completion tracking.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Assess return-versus-integration viability by settlement.</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livelihoods support tied to durable-solutions pathways.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Opportunity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Targeted acceleration in the lowest-performing part of displacement and durable solutions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Evidence-led reallocation of resources already committed to displacement and durable solutions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Stronger feedback accountability between frontline delivery and leadership</a:t>
            </a:r>
          </a:p>
        </p:txBody>
      </p:sp>
      <p:sp>
        <p:nvSpPr>
          <p:cNvPr id="21"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Cost of Inaction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narrative: Delaying action on displacement and durable solutions performance is unlikely to be neutral: the evidence suggests the current gap compounds rather than holds steady.</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Ownership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DEC-DIS-01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DEC-DIS-02</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DEC-DIS-03</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DEC-DIS-04</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DEC-DIS-05</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Prioritise the durable-solutions pathway with the strongest real prospects.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Invest in host-community services to sustain local integration.</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data gaps in pathway-completion tracking.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Assess return-versus-integration viability by settlement.</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livelihoods support tied to durable-solutions pathways.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Data Dictionary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variable: indicator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label: Synthetic Displacement and Durable Solutions indicator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type: numeric</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allowed values: 0–100</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missing code: NA</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Appendices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Technical methodology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and weighting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registry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Statistical tables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dictionary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Responsible interpretation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Limitations and Integrity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All content is synthetic and must not be interpreted as official statistics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Geographic references are illustrative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Budget implications are directional and require formal costing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Causal claims are not made without an appropriate design</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34</a:t>
            </a:r>
          </a:p>
        </p:txBody>
      </p:sp>
    </p:spTree>
  </p:cSld>
  <p:clrMapOvr>
    <a:masterClrMapping/>
  </p:clrMapOvr>
</p:sld>
</file>

<file path=docProps/app.xml><?xml version="1.0" encoding="utf-8"?>
<Properties xmlns="http://schemas.openxmlformats.org/officeDocument/2006/extended-properties">
  <Application>VoiceInsights Africa</Application>
  <Slides>34</Slides>
</Properties>
</file>

<file path=docProps/core.xml><?xml version="1.0" encoding="utf-8"?>
<cp:coreProperties xmlns:cp="http://schemas.openxmlformats.org/package/2006/metadata/core-properties" xmlns:dc="http://purl.org/dc/elements/1.1/">
  <dc:title>Displacement and Durable Solutions Intelligence Report</dc:title>
  <dc:creator>VoiceInsights Africa</dc:creator>
</cp:coreProperties>
</file>