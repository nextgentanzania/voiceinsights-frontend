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3B53"/>
        </a:solidFill>
      </p:bgPr>
    </p:bg>
    <p:spTree>
      <p:nvGrpSpPr>
        <p:cNvPr id="1" name=""/>
        <p:cNvGrpSpPr/>
        <p:nvPr/>
      </p:nvGrpSpPr>
      <p:grpSpPr>
        <a:xfrm>
          <a:off x="0" y="0"/>
          <a:ext cx="0" cy="0"/>
          <a:chOff x="0" y="0"/>
          <a:chExt cx="0" cy="0"/>
        </a:xfrm>
      </p:grpSpPr>
      <p:sp>
        <p:nvSpPr>
          <p:cNvPr id="2" name="Shape 0"/>
          <p:cNvSpPr/>
          <p:nvPr/>
        </p:nvSpPr>
        <p:spPr>
          <a:xfrm>
            <a:off x="0" y="5349240"/>
            <a:ext cx="12191695" cy="1508760"/>
          </a:xfrm>
          <a:prstGeom prst="rect">
            <a:avLst/>
          </a:prstGeom>
          <a:solidFill>
            <a:srgbClr val="486581"/>
          </a:solidFill>
          <a:ln w="12700">
            <a:solidFill>
              <a:srgbClr val="486581"/>
            </a:solidFill>
            <a:prstDash val="solid"/>
          </a:ln>
        </p:spPr>
      </p:sp>
      <p:sp>
        <p:nvSpPr>
          <p:cNvPr id="3" name="Shape 1"/>
          <p:cNvSpPr/>
          <p:nvPr/>
        </p:nvSpPr>
        <p:spPr>
          <a:xfrm>
            <a:off x="0" y="5120640"/>
            <a:ext cx="12191695" cy="91440"/>
          </a:xfrm>
          <a:prstGeom prst="rect">
            <a:avLst/>
          </a:prstGeom>
          <a:solidFill>
            <a:srgbClr val="2BB0A6"/>
          </a:solidFill>
          <a:ln w="12700">
            <a:solidFill>
              <a:srgbClr val="2BB0A6"/>
            </a:solidFill>
            <a:prstDash val="solid"/>
          </a:ln>
        </p:spPr>
      </p:sp>
      <p:sp>
        <p:nvSpPr>
          <p:cNvPr id="4" name="Shape 2"/>
          <p:cNvSpPr/>
          <p:nvPr/>
        </p:nvSpPr>
        <p:spPr>
          <a:xfrm>
            <a:off x="1234440" y="1554480"/>
            <a:ext cx="1097280" cy="64008"/>
          </a:xfrm>
          <a:prstGeom prst="rect">
            <a:avLst/>
          </a:prstGeom>
          <a:solidFill>
            <a:srgbClr val="2BB0A6"/>
          </a:solidFill>
          <a:ln w="12700">
            <a:solidFill>
              <a:srgbClr val="2BB0A6"/>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2BB0A6"/>
                </a:solidFill>
              </a:rPr>
              <a:t>FLAGSHIP SYNTHETIC DEMONSTRATION PUBLICATION | COVER 12</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Technical Research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Ethiopia | Agricultural Resilience</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This flagship synthetic demonstration publication examines agricultural resilience performance in Ethiopia.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Pre-register a confirmatory resilience study for agricultural resilience.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243B53"/>
                </a:solidFill>
              </a:rPr>
              <a:t>3936</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243B53"/>
                </a:solidFill>
              </a:rPr>
              <a:t>89%</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243B53"/>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243B53"/>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Across Ethiopia's synthetic study areas, climate exposure is the clearest differentiator of agricultural resilience performance. The evidence is strongest in Highland Systems,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Ethiopia's synthetic study areas, technology adoption is the clearest differentiator of agricultural resilience performance. The evidence is strongest in Rift Systems,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Ethiopia's synthetic study areas, yield stability is the clearest differentiator of agricultural resilience performance. The evidence is strongest in Dryland Systems,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Highland Systems</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948733"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82%</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Rift Systems</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5009083" cy="201168"/>
          </a:xfrm>
          <a:prstGeom prst="roundRect">
            <a:avLst>
              <a:gd name="adj" fmla="val 13636"/>
            </a:avLst>
          </a:prstGeom>
          <a:solidFill>
            <a:srgbClr val="2BB0A6"/>
          </a:solidFill>
          <a:ln w="12700">
            <a:solidFill>
              <a:srgbClr val="2BB0A6"/>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83%</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Dryland Systems</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5069434"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84%</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Mixed Farming Systems</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3138221" cy="201168"/>
          </a:xfrm>
          <a:prstGeom prst="roundRect">
            <a:avLst>
              <a:gd name="adj" fmla="val 13636"/>
            </a:avLst>
          </a:prstGeom>
          <a:solidFill>
            <a:srgbClr val="2BB0A6"/>
          </a:solidFill>
          <a:ln w="12700">
            <a:solidFill>
              <a:srgbClr val="2BB0A6"/>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Climate resilience index</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258922"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090611" y="1737360"/>
            <a:ext cx="0" cy="347472"/>
          </a:xfrm>
          <a:prstGeom prst="line">
            <a:avLst/>
          </a:prstGeom>
          <a:noFill/>
          <a:ln w="19050">
            <a:solidFill>
              <a:srgbClr val="243B53"/>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54% / target 78%</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Technology adoption persistence</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319272" cy="201168"/>
          </a:xfrm>
          <a:prstGeom prst="roundRect">
            <a:avLst>
              <a:gd name="adj" fmla="val 13636"/>
            </a:avLst>
          </a:prstGeom>
          <a:solidFill>
            <a:srgbClr val="2BB0A6"/>
          </a:solidFill>
          <a:ln w="12700">
            <a:solidFill>
              <a:srgbClr val="2BB0A6"/>
            </a:solidFill>
            <a:prstDash val="solid"/>
          </a:ln>
        </p:spPr>
      </p:sp>
      <p:sp>
        <p:nvSpPr>
          <p:cNvPr id="16" name="Shape 13"/>
          <p:cNvSpPr/>
          <p:nvPr/>
        </p:nvSpPr>
        <p:spPr>
          <a:xfrm>
            <a:off x="8150962" y="2359152"/>
            <a:ext cx="0" cy="347472"/>
          </a:xfrm>
          <a:prstGeom prst="line">
            <a:avLst/>
          </a:prstGeom>
          <a:noFill/>
          <a:ln w="19050">
            <a:solidFill>
              <a:srgbClr val="243B53"/>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55% / target 79%</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Yield variability</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379622"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211312" y="2980944"/>
            <a:ext cx="0" cy="347472"/>
          </a:xfrm>
          <a:prstGeom prst="line">
            <a:avLst/>
          </a:prstGeom>
          <a:noFill/>
          <a:ln w="19050">
            <a:solidFill>
              <a:srgbClr val="243B53"/>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56% / target 80%</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Extension contact quality</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3439973" cy="201168"/>
          </a:xfrm>
          <a:prstGeom prst="roundRect">
            <a:avLst>
              <a:gd name="adj" fmla="val 13636"/>
            </a:avLst>
          </a:prstGeom>
          <a:solidFill>
            <a:srgbClr val="2BB0A6"/>
          </a:solidFill>
          <a:ln w="12700">
            <a:solidFill>
              <a:srgbClr val="2BB0A6"/>
            </a:solidFill>
            <a:prstDash val="solid"/>
          </a:ln>
        </p:spPr>
      </p:sp>
      <p:sp>
        <p:nvSpPr>
          <p:cNvPr id="26" name="Shape 23"/>
          <p:cNvSpPr/>
          <p:nvPr/>
        </p:nvSpPr>
        <p:spPr>
          <a:xfrm>
            <a:off x="8271662" y="3602736"/>
            <a:ext cx="0" cy="347472"/>
          </a:xfrm>
          <a:prstGeom prst="line">
            <a:avLst/>
          </a:prstGeom>
          <a:noFill/>
          <a:ln w="19050">
            <a:solidFill>
              <a:srgbClr val="243B53"/>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57% / target 81%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Highland Systems, climate exposure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Rift Systems, technology adoption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Dryland Systems, yield stability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Pre-register a confirmatory resilience study for agricultural resilience.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Target technologies by agro-ecological risk for agricultural resilience.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Pair adoption support with seasonal finance for agricultural resilience.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Correct gender gaps in productive-asset access for agricultural resilience.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Test extension delivery through a stepped-wedge design for agricultural resilience.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Pre-register a confirmatory resilience study for agricultural resilience.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Target technologies by agro-ecological risk for agricultural resilience.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Pair adoption support with seasonal finance for agricultural resilience.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Correct gender gaps in productive-asset access for agricultural resilience.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Test extension delivery through a stepped-wedge design for agricultural resilience.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Highland Systems, climate exposure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Rift Systems, technology adoption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Dryland Systems, yield stability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Mixed Farming Systems, gendered asset access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Highland Systems, extension-system effectiveness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sampling frame: Synthetic frame covering programme-relevant population groups in Ethiopia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sample size: 3936</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Reproducibility and Microdata Governance: The publication includes versioned data, methods, disclosure controls and lineage.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Research Ethics: Evidence collection and publication require consent, minimisation and protection of participants.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SDG Context-specific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2BB0A6"/>
          </a:solidFill>
          <a:ln w="12700">
            <a:solidFill>
              <a:srgbClr val="2BB0A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43B5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2BB0A6"/>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Technical Research Report</dc:title>
  <dc:subject>Synthetic Demonstration Publication</dc:subject>
  <dc:creator>VoiceInsights Africa</dc:creator>
  <cp:lastModifiedBy>VoiceInsights Africa</cp:lastModifiedBy>
  <cp:revision>1</cp:revision>
  <dcterms:created xsi:type="dcterms:W3CDTF">2026-07-12T22:51:25Z</dcterms:created>
  <dcterms:modified xsi:type="dcterms:W3CDTF">2026-07-12T22:51:25Z</dcterms:modified>
</cp:coreProperties>
</file>