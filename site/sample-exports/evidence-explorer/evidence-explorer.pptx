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D42"/>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5C677D"/>
          </a:solidFill>
          <a:ln w="12700">
            <a:solidFill>
              <a:srgbClr val="5C677D"/>
            </a:solidFill>
            <a:prstDash val="solid"/>
          </a:ln>
        </p:spPr>
      </p:sp>
      <p:sp>
        <p:nvSpPr>
          <p:cNvPr id="3" name="Shape 1"/>
          <p:cNvSpPr/>
          <p:nvPr/>
        </p:nvSpPr>
        <p:spPr>
          <a:xfrm>
            <a:off x="0" y="1536192"/>
            <a:ext cx="12191695" cy="91440"/>
          </a:xfrm>
          <a:prstGeom prst="rect">
            <a:avLst/>
          </a:prstGeom>
          <a:solidFill>
            <a:srgbClr val="00A896"/>
          </a:solidFill>
          <a:ln w="12700">
            <a:solidFill>
              <a:srgbClr val="00A896"/>
            </a:solidFill>
            <a:prstDash val="solid"/>
          </a:ln>
        </p:spPr>
      </p:sp>
      <p:sp>
        <p:nvSpPr>
          <p:cNvPr id="4" name="Shape 2"/>
          <p:cNvSpPr/>
          <p:nvPr/>
        </p:nvSpPr>
        <p:spPr>
          <a:xfrm>
            <a:off x="594360" y="1554480"/>
            <a:ext cx="2057400" cy="64008"/>
          </a:xfrm>
          <a:prstGeom prst="rect">
            <a:avLst/>
          </a:prstGeom>
          <a:solidFill>
            <a:srgbClr val="00A896"/>
          </a:solidFill>
          <a:ln w="12700">
            <a:solidFill>
              <a:srgbClr val="00A896"/>
            </a:solidFill>
            <a:prstDash val="solid"/>
          </a:ln>
        </p:spPr>
      </p:sp>
      <p:pic>
        <p:nvPicPr>
          <p:cNvPr id="5" name="Image 0" descr="preencoded.png">    </p:cNvPr>
          <p:cNvPicPr>
            <a:picLocks noChangeAspect="1"/>
          </p:cNvPicPr>
          <p:nvPr/>
        </p:nvPicPr>
        <p:blipFill>
          <a:blip r:embed="rId1"/>
          <a:stretch>
            <a:fillRect/>
          </a:stretch>
        </p:blipFill>
        <p:spPr>
          <a:xfrm>
            <a:off x="594360" y="320040"/>
            <a:ext cx="777240" cy="548640"/>
          </a:xfrm>
          <a:prstGeom prst="rect">
            <a:avLst/>
          </a:prstGeom>
        </p:spPr>
      </p:pic>
      <p:sp>
        <p:nvSpPr>
          <p:cNvPr id="6" name="Text 3"/>
          <p:cNvSpPr/>
          <p:nvPr/>
        </p:nvSpPr>
        <p:spPr>
          <a:xfrm>
            <a:off x="1508760" y="429768"/>
            <a:ext cx="2926080" cy="201168"/>
          </a:xfrm>
          <a:prstGeom prst="rect">
            <a:avLst/>
          </a:prstGeom>
          <a:noFill/>
          <a:ln/>
        </p:spPr>
        <p:txBody>
          <a:bodyPr wrap="square" lIns="0" tIns="0" rIns="0" bIns="0" rtlCol="0" anchor="ctr"/>
          <a:lstStyle/>
          <a:p>
            <a:pPr indent="0" marL="0">
              <a:buNone/>
            </a:pPr>
            <a:r>
              <a:rPr lang="en-US" sz="1100" b="1" dirty="0">
                <a:solidFill>
                  <a:srgbClr val="FFFFFF"/>
                </a:solidFill>
              </a:rPr>
              <a:t>VOICEINSIGHTS AFRICA</a:t>
            </a:r>
            <a:endParaRPr lang="en-US" sz="1100" dirty="0"/>
          </a:p>
        </p:txBody>
      </p:sp>
      <p:sp>
        <p:nvSpPr>
          <p:cNvPr id="7" name="Text 4"/>
          <p:cNvSpPr/>
          <p:nvPr/>
        </p:nvSpPr>
        <p:spPr>
          <a:xfrm>
            <a:off x="594360" y="1234440"/>
            <a:ext cx="7132320" cy="228600"/>
          </a:xfrm>
          <a:prstGeom prst="rect">
            <a:avLst/>
          </a:prstGeom>
          <a:noFill/>
          <a:ln/>
        </p:spPr>
        <p:txBody>
          <a:bodyPr wrap="square" lIns="0" tIns="0" rIns="0" bIns="0" rtlCol="0" anchor="ctr"/>
          <a:lstStyle/>
          <a:p>
            <a:pPr indent="0" marL="0">
              <a:buNone/>
            </a:pPr>
            <a:r>
              <a:rPr lang="en-US" sz="900" b="1" spc="100" kern="0" dirty="0">
                <a:solidFill>
                  <a:srgbClr val="00A896"/>
                </a:solidFill>
              </a:rPr>
              <a:t>FLAGSHIP SYNTHETIC DEMONSTRATION PUBLICATION | COVER 15</a:t>
            </a:r>
            <a:endParaRPr lang="en-US" sz="900" dirty="0"/>
          </a:p>
        </p:txBody>
      </p:sp>
      <p:sp>
        <p:nvSpPr>
          <p:cNvPr id="8" name="Text 5"/>
          <p:cNvSpPr/>
          <p:nvPr/>
        </p:nvSpPr>
        <p:spPr>
          <a:xfrm>
            <a:off x="594360" y="1828800"/>
            <a:ext cx="7589520" cy="1371600"/>
          </a:xfrm>
          <a:prstGeom prst="rect">
            <a:avLst/>
          </a:prstGeom>
          <a:noFill/>
          <a:ln/>
        </p:spPr>
        <p:txBody>
          <a:bodyPr wrap="square" lIns="0" tIns="0" rIns="0" bIns="0" rtlCol="0" anchor="ctr"/>
          <a:lstStyle/>
          <a:p>
            <a:pPr indent="0" marL="0">
              <a:buNone/>
            </a:pPr>
            <a:r>
              <a:rPr lang="en-US" sz="3000" b="1" dirty="0">
                <a:solidFill>
                  <a:srgbClr val="FFFFFF"/>
                </a:solidFill>
              </a:rPr>
              <a:t>Evidence Explorer Report</a:t>
            </a:r>
            <a:endParaRPr lang="en-US" sz="3000" dirty="0"/>
          </a:p>
        </p:txBody>
      </p:sp>
      <p:sp>
        <p:nvSpPr>
          <p:cNvPr id="9" name="Text 6"/>
          <p:cNvSpPr/>
          <p:nvPr/>
        </p:nvSpPr>
        <p:spPr>
          <a:xfrm>
            <a:off x="594360" y="3566160"/>
            <a:ext cx="5943600" cy="320040"/>
          </a:xfrm>
          <a:prstGeom prst="rect">
            <a:avLst/>
          </a:prstGeom>
          <a:noFill/>
          <a:ln/>
        </p:spPr>
        <p:txBody>
          <a:bodyPr wrap="square" lIns="0" tIns="0" rIns="0" bIns="0" rtlCol="0" anchor="ctr"/>
          <a:lstStyle/>
          <a:p>
            <a:pPr indent="0" marL="0">
              <a:buNone/>
            </a:pPr>
            <a:r>
              <a:rPr lang="en-US" sz="1600" dirty="0">
                <a:solidFill>
                  <a:srgbClr val="DDE9E4"/>
                </a:solidFill>
              </a:rPr>
              <a:t>Tanzania | Citizen Feedback</a:t>
            </a:r>
            <a:endParaRPr lang="en-US" sz="1600" dirty="0"/>
          </a:p>
        </p:txBody>
      </p:sp>
      <p:sp>
        <p:nvSpPr>
          <p:cNvPr id="10" name="Text 7"/>
          <p:cNvSpPr/>
          <p:nvPr/>
        </p:nvSpPr>
        <p:spPr>
          <a:xfrm>
            <a:off x="594360" y="4526280"/>
            <a:ext cx="6035040" cy="640080"/>
          </a:xfrm>
          <a:prstGeom prst="rect">
            <a:avLst/>
          </a:prstGeom>
          <a:noFill/>
          <a:ln/>
        </p:spPr>
        <p:txBody>
          <a:bodyPr wrap="square" lIns="0" tIns="0" rIns="0" bIns="0" rtlCol="0" anchor="ctr"/>
          <a:lstStyle/>
          <a:p>
            <a:pPr indent="0" marL="0">
              <a:buNone/>
            </a:pPr>
            <a:r>
              <a:rPr lang="en-US" sz="1100" dirty="0">
                <a:solidFill>
                  <a:srgbClr val="FFFFFF"/>
                </a:solidFill>
              </a:rPr>
              <a:t>Prepared by VoiceInsights Africa</a:t>
            </a:r>
            <a:endParaRPr lang="en-US" sz="1100" dirty="0"/>
          </a:p>
          <a:p>
            <a:pPr indent="0" marL="0">
              <a:buNone/>
            </a:pPr>
            <a:r>
              <a:rPr lang="en-US" sz="1100" dirty="0">
                <a:solidFill>
                  <a:srgbClr val="FFFFFF"/>
                </a:solidFill>
              </a:rPr>
              <a:t>Every Voice. Every Language. Every Insight.</a:t>
            </a:r>
            <a:endParaRPr lang="en-US" sz="1100" dirty="0"/>
          </a:p>
        </p:txBody>
      </p:sp>
      <p:sp>
        <p:nvSpPr>
          <p:cNvPr id="11" name="Text 8"/>
          <p:cNvSpPr/>
          <p:nvPr/>
        </p:nvSpPr>
        <p:spPr>
          <a:xfrm>
            <a:off x="9555480" y="5394960"/>
            <a:ext cx="2194560" cy="640080"/>
          </a:xfrm>
          <a:prstGeom prst="rect">
            <a:avLst/>
          </a:prstGeom>
          <a:noFill/>
          <a:ln/>
        </p:spPr>
        <p:txBody>
          <a:bodyPr wrap="square" lIns="0" tIns="0" rIns="0" bIns="0" rtlCol="0" anchor="ctr"/>
          <a:lstStyle/>
          <a:p>
            <a:pPr algn="ctr" indent="0" marL="0">
              <a:buNone/>
            </a:pPr>
            <a:r>
              <a:rPr lang="en-US" sz="1100" b="1" dirty="0">
                <a:solidFill>
                  <a:srgbClr val="FFFFFF"/>
                </a:solidFill>
              </a:rPr>
              <a:t>SYNTHETIC DATA</a:t>
            </a:r>
            <a:endParaRPr lang="en-US" sz="1100" dirty="0"/>
          </a:p>
          <a:p>
            <a:pPr algn="ctr" indent="0" marL="0">
              <a:buNone/>
            </a:pPr>
            <a:r>
              <a:rPr lang="en-US" sz="1100" b="1" dirty="0">
                <a:solidFill>
                  <a:srgbClr val="FFFFFF"/>
                </a:solidFill>
              </a:rPr>
              <a:t>Not official statistics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EXECUTIVE BRIEF</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D2433"/>
                </a:solidFill>
              </a:rPr>
              <a:t>The decision in five minutes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02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00A896"/>
          </a:solidFill>
          <a:ln w="12700">
            <a:solidFill>
              <a:srgbClr val="00A896"/>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D243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D2433"/>
                </a:solidFill>
              </a:rPr>
              <a:t>This flagship synthetic demonstration publication examines citizen feedback performance in Tanzania. The governed evidence model identifies uneven progress, concentrated risks and actionable opportunities. Findings are linked to synthetic source records, recommendations carry named accountability fields, and all statistical claims are generated from one internally consistent dataset.</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D2433"/>
                </a:solidFill>
              </a:rPr>
              <a:t>Require source lineage for every publishable claim for citizen feedback.</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D2433"/>
                </a:solidFill>
              </a:rPr>
              <a:t>Improvement is achievable within 12–18 months if ownership, resourcing and evidence review are maintained.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PERFORMANCE AND CONFIDENCE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D2433"/>
                </a:solidFill>
              </a:rPr>
              <a:t>Executive dashboard</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03 | Synthetic Demonstration Publication</a:t>
            </a:r>
            <a:endParaRPr lang="en-US" sz="700" dirty="0"/>
          </a:p>
        </p:txBody>
      </p:sp>
      <p:sp>
        <p:nvSpPr>
          <p:cNvPr id="8" name="Shape 5"/>
          <p:cNvSpPr/>
          <p:nvPr/>
        </p:nvSpPr>
        <p:spPr>
          <a:xfrm>
            <a:off x="548640" y="1874520"/>
            <a:ext cx="2514600" cy="1280160"/>
          </a:xfrm>
          <a:prstGeom prst="roundRect">
            <a:avLst>
              <a:gd name="adj" fmla="val 5714"/>
            </a:avLst>
          </a:prstGeom>
          <a:solidFill>
            <a:srgbClr val="FFFFFF"/>
          </a:solidFill>
          <a:ln w="12700">
            <a:solidFill>
              <a:srgbClr val="D8E5DF"/>
            </a:solidFill>
            <a:prstDash val="solid"/>
          </a:ln>
        </p:spPr>
      </p:sp>
      <p:sp>
        <p:nvSpPr>
          <p:cNvPr id="9" name="Text 6"/>
          <p:cNvSpPr/>
          <p:nvPr/>
        </p:nvSpPr>
        <p:spPr>
          <a:xfrm>
            <a:off x="713232" y="2121408"/>
            <a:ext cx="2148840" cy="411480"/>
          </a:xfrm>
          <a:prstGeom prst="rect">
            <a:avLst/>
          </a:prstGeom>
          <a:noFill/>
          <a:ln/>
        </p:spPr>
        <p:txBody>
          <a:bodyPr wrap="square" lIns="0" tIns="0" rIns="0" bIns="0" rtlCol="0" anchor="ctr"/>
          <a:lstStyle/>
          <a:p>
            <a:pPr indent="0" marL="0">
              <a:buNone/>
            </a:pPr>
            <a:r>
              <a:rPr lang="en-US" sz="2500" b="1" dirty="0">
                <a:solidFill>
                  <a:srgbClr val="2B2D42"/>
                </a:solidFill>
              </a:rPr>
              <a:t>2353</a:t>
            </a:r>
            <a:endParaRPr lang="en-US" sz="2500" dirty="0"/>
          </a:p>
        </p:txBody>
      </p:sp>
      <p:sp>
        <p:nvSpPr>
          <p:cNvPr id="10" name="Text 7"/>
          <p:cNvSpPr/>
          <p:nvPr/>
        </p:nvSpPr>
        <p:spPr>
          <a:xfrm>
            <a:off x="71323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Synthetic responses</a:t>
            </a:r>
            <a:endParaRPr lang="en-US" sz="1000" dirty="0"/>
          </a:p>
        </p:txBody>
      </p:sp>
      <p:sp>
        <p:nvSpPr>
          <p:cNvPr id="11" name="Shape 8"/>
          <p:cNvSpPr/>
          <p:nvPr/>
        </p:nvSpPr>
        <p:spPr>
          <a:xfrm>
            <a:off x="3337560" y="1874520"/>
            <a:ext cx="2514600" cy="1280160"/>
          </a:xfrm>
          <a:prstGeom prst="roundRect">
            <a:avLst>
              <a:gd name="adj" fmla="val 5714"/>
            </a:avLst>
          </a:prstGeom>
          <a:solidFill>
            <a:srgbClr val="FFFFFF"/>
          </a:solidFill>
          <a:ln w="12700">
            <a:solidFill>
              <a:srgbClr val="D8E5DF"/>
            </a:solidFill>
            <a:prstDash val="solid"/>
          </a:ln>
        </p:spPr>
      </p:sp>
      <p:sp>
        <p:nvSpPr>
          <p:cNvPr id="12" name="Text 9"/>
          <p:cNvSpPr/>
          <p:nvPr/>
        </p:nvSpPr>
        <p:spPr>
          <a:xfrm>
            <a:off x="3502152" y="2121408"/>
            <a:ext cx="2148840" cy="411480"/>
          </a:xfrm>
          <a:prstGeom prst="rect">
            <a:avLst/>
          </a:prstGeom>
          <a:noFill/>
          <a:ln/>
        </p:spPr>
        <p:txBody>
          <a:bodyPr wrap="square" lIns="0" tIns="0" rIns="0" bIns="0" rtlCol="0" anchor="ctr"/>
          <a:lstStyle/>
          <a:p>
            <a:pPr indent="0" marL="0">
              <a:buNone/>
            </a:pPr>
            <a:r>
              <a:rPr lang="en-US" sz="2500" b="1" dirty="0">
                <a:solidFill>
                  <a:srgbClr val="2B2D42"/>
                </a:solidFill>
              </a:rPr>
              <a:t>87%</a:t>
            </a:r>
            <a:endParaRPr lang="en-US" sz="2500" dirty="0"/>
          </a:p>
        </p:txBody>
      </p:sp>
      <p:sp>
        <p:nvSpPr>
          <p:cNvPr id="13" name="Text 10"/>
          <p:cNvSpPr/>
          <p:nvPr/>
        </p:nvSpPr>
        <p:spPr>
          <a:xfrm>
            <a:off x="350215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Response rate</a:t>
            </a:r>
            <a:endParaRPr lang="en-US" sz="1000" dirty="0"/>
          </a:p>
        </p:txBody>
      </p:sp>
      <p:sp>
        <p:nvSpPr>
          <p:cNvPr id="14" name="Shape 11"/>
          <p:cNvSpPr/>
          <p:nvPr/>
        </p:nvSpPr>
        <p:spPr>
          <a:xfrm>
            <a:off x="6126480" y="1874520"/>
            <a:ext cx="2514600" cy="1280160"/>
          </a:xfrm>
          <a:prstGeom prst="roundRect">
            <a:avLst>
              <a:gd name="adj" fmla="val 5714"/>
            </a:avLst>
          </a:prstGeom>
          <a:solidFill>
            <a:srgbClr val="FFFFFF"/>
          </a:solidFill>
          <a:ln w="12700">
            <a:solidFill>
              <a:srgbClr val="D8E5DF"/>
            </a:solidFill>
            <a:prstDash val="solid"/>
          </a:ln>
        </p:spPr>
      </p:sp>
      <p:sp>
        <p:nvSpPr>
          <p:cNvPr id="15" name="Text 12"/>
          <p:cNvSpPr/>
          <p:nvPr/>
        </p:nvSpPr>
        <p:spPr>
          <a:xfrm>
            <a:off x="6291072" y="2121408"/>
            <a:ext cx="2148840" cy="411480"/>
          </a:xfrm>
          <a:prstGeom prst="rect">
            <a:avLst/>
          </a:prstGeom>
          <a:noFill/>
          <a:ln/>
        </p:spPr>
        <p:txBody>
          <a:bodyPr wrap="square" lIns="0" tIns="0" rIns="0" bIns="0" rtlCol="0" anchor="ctr"/>
          <a:lstStyle/>
          <a:p>
            <a:pPr indent="0" marL="0">
              <a:buNone/>
            </a:pPr>
            <a:r>
              <a:rPr lang="en-US" sz="2500" b="1" dirty="0">
                <a:solidFill>
                  <a:srgbClr val="2B2D42"/>
                </a:solidFill>
              </a:rPr>
              <a:t>4</a:t>
            </a:r>
            <a:endParaRPr lang="en-US" sz="2500" dirty="0"/>
          </a:p>
        </p:txBody>
      </p:sp>
      <p:sp>
        <p:nvSpPr>
          <p:cNvPr id="16" name="Text 13"/>
          <p:cNvSpPr/>
          <p:nvPr/>
        </p:nvSpPr>
        <p:spPr>
          <a:xfrm>
            <a:off x="629107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Regions</a:t>
            </a:r>
            <a:endParaRPr lang="en-US" sz="1000" dirty="0"/>
          </a:p>
        </p:txBody>
      </p:sp>
      <p:sp>
        <p:nvSpPr>
          <p:cNvPr id="17" name="Shape 14"/>
          <p:cNvSpPr/>
          <p:nvPr/>
        </p:nvSpPr>
        <p:spPr>
          <a:xfrm>
            <a:off x="8915400" y="1874520"/>
            <a:ext cx="2514600" cy="1280160"/>
          </a:xfrm>
          <a:prstGeom prst="roundRect">
            <a:avLst>
              <a:gd name="adj" fmla="val 5714"/>
            </a:avLst>
          </a:prstGeom>
          <a:solidFill>
            <a:srgbClr val="FFFFFF"/>
          </a:solidFill>
          <a:ln w="12700">
            <a:solidFill>
              <a:srgbClr val="D8E5DF"/>
            </a:solidFill>
            <a:prstDash val="solid"/>
          </a:ln>
        </p:spPr>
      </p:sp>
      <p:sp>
        <p:nvSpPr>
          <p:cNvPr id="18" name="Text 15"/>
          <p:cNvSpPr/>
          <p:nvPr/>
        </p:nvSpPr>
        <p:spPr>
          <a:xfrm>
            <a:off x="9079992" y="2121408"/>
            <a:ext cx="2148840" cy="411480"/>
          </a:xfrm>
          <a:prstGeom prst="rect">
            <a:avLst/>
          </a:prstGeom>
          <a:noFill/>
          <a:ln/>
        </p:spPr>
        <p:txBody>
          <a:bodyPr wrap="square" lIns="0" tIns="0" rIns="0" bIns="0" rtlCol="0" anchor="ctr"/>
          <a:lstStyle/>
          <a:p>
            <a:pPr indent="0" marL="0">
              <a:buNone/>
            </a:pPr>
            <a:r>
              <a:rPr lang="en-US" sz="2500" b="1" dirty="0">
                <a:solidFill>
                  <a:srgbClr val="2B2D42"/>
                </a:solidFill>
              </a:rPr>
              <a:t>82/100</a:t>
            </a:r>
            <a:endParaRPr lang="en-US" sz="2500" dirty="0"/>
          </a:p>
        </p:txBody>
      </p:sp>
      <p:sp>
        <p:nvSpPr>
          <p:cNvPr id="19" name="Text 16"/>
          <p:cNvSpPr/>
          <p:nvPr/>
        </p:nvSpPr>
        <p:spPr>
          <a:xfrm>
            <a:off x="907999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Demonstration readiness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CRITICAL FINDINGS</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D2433"/>
                </a:solidFill>
              </a:rPr>
              <a:t>Three findings require leadership attention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04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00A896"/>
          </a:solidFill>
          <a:ln w="12700">
            <a:solidFill>
              <a:srgbClr val="00A896"/>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D243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D2433"/>
                </a:solidFill>
              </a:rPr>
              <a:t>Across Tanzania's synthetic study areas, claim traceability is the clearest differentiator of citizen feedback performance. The evidence is strongest in Coastal Sample, where rural women face the largest gap. If the pattern remains unaddressed for twelve months, it is likely to weaken equity, delivery confidence and the durability of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D2433"/>
                </a:solidFill>
              </a:rPr>
              <a:t>Across Tanzania's synthetic study areas, source triangulation is the clearest differentiator of citizen feedback performance. The evidence is strongest in Lake Sample, where young adults face the largest gap. If the pattern remains unaddressed for twelve months, it is likely to weaken equity, delivery confidence and the durability of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D2433"/>
                </a:solidFill>
              </a:rPr>
              <a:t>Across Tanzania's synthetic study areas, review consistency is the clearest differentiator of citizen feedback performance. The evidence is strongest in Northern Sample, where persons with disabilities face the largest gap. If the pattern remains unaddressed for twelve months, it is likely to weaken equity, delivery confidence and the durability of outcomes.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REGIONAL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D2433"/>
                </a:solidFill>
              </a:rPr>
              <a:t>Outcomes vary materially by region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05 | Synthetic Demonstration Publication</a:t>
            </a:r>
            <a:endParaRPr lang="en-US" sz="700" dirty="0"/>
          </a:p>
        </p:txBody>
      </p:sp>
      <p:sp>
        <p:nvSpPr>
          <p:cNvPr id="8" name="Text 5"/>
          <p:cNvSpPr/>
          <p:nvPr/>
        </p:nvSpPr>
        <p:spPr>
          <a:xfrm>
            <a:off x="548640" y="1783080"/>
            <a:ext cx="2926080" cy="228600"/>
          </a:xfrm>
          <a:prstGeom prst="rect">
            <a:avLst/>
          </a:prstGeom>
          <a:noFill/>
          <a:ln/>
        </p:spPr>
        <p:txBody>
          <a:bodyPr wrap="square" lIns="0" tIns="0" rIns="0" bIns="0" rtlCol="0" anchor="ctr"/>
          <a:lstStyle/>
          <a:p>
            <a:pPr indent="0" marL="0">
              <a:buNone/>
            </a:pPr>
            <a:r>
              <a:rPr lang="en-US" sz="1100" b="1" dirty="0">
                <a:solidFill>
                  <a:srgbClr val="1D2433"/>
                </a:solidFill>
              </a:rPr>
              <a:t>Coastal Sample</a:t>
            </a:r>
            <a:endParaRPr lang="en-US" sz="1100" dirty="0"/>
          </a:p>
        </p:txBody>
      </p:sp>
      <p:sp>
        <p:nvSpPr>
          <p:cNvPr id="9" name="Shape 6"/>
          <p:cNvSpPr/>
          <p:nvPr/>
        </p:nvSpPr>
        <p:spPr>
          <a:xfrm>
            <a:off x="3383280" y="1801368"/>
            <a:ext cx="6035040" cy="201168"/>
          </a:xfrm>
          <a:prstGeom prst="roundRect">
            <a:avLst>
              <a:gd name="adj" fmla="val 13636"/>
            </a:avLst>
          </a:prstGeom>
          <a:solidFill>
            <a:srgbClr val="DDE8E3"/>
          </a:solidFill>
          <a:ln w="12700">
            <a:solidFill>
              <a:srgbClr val="DDE8E3"/>
            </a:solidFill>
            <a:prstDash val="solid"/>
          </a:ln>
        </p:spPr>
      </p:sp>
      <p:sp>
        <p:nvSpPr>
          <p:cNvPr id="10" name="Shape 7"/>
          <p:cNvSpPr/>
          <p:nvPr/>
        </p:nvSpPr>
        <p:spPr>
          <a:xfrm>
            <a:off x="3383280" y="1801368"/>
            <a:ext cx="4103827" cy="201168"/>
          </a:xfrm>
          <a:prstGeom prst="roundRect">
            <a:avLst>
              <a:gd name="adj" fmla="val 13636"/>
            </a:avLst>
          </a:prstGeom>
          <a:solidFill>
            <a:srgbClr val="07883F"/>
          </a:solidFill>
          <a:ln w="12700">
            <a:solidFill>
              <a:srgbClr val="07883F"/>
            </a:solidFill>
            <a:prstDash val="solid"/>
          </a:ln>
        </p:spPr>
      </p:sp>
      <p:sp>
        <p:nvSpPr>
          <p:cNvPr id="11" name="Text 8"/>
          <p:cNvSpPr/>
          <p:nvPr/>
        </p:nvSpPr>
        <p:spPr>
          <a:xfrm>
            <a:off x="9601200" y="1783080"/>
            <a:ext cx="1554480" cy="228600"/>
          </a:xfrm>
          <a:prstGeom prst="rect">
            <a:avLst/>
          </a:prstGeom>
          <a:noFill/>
          <a:ln/>
        </p:spPr>
        <p:txBody>
          <a:bodyPr wrap="square" lIns="0" tIns="0" rIns="0" bIns="0" rtlCol="0" anchor="ctr"/>
          <a:lstStyle/>
          <a:p>
            <a:pPr algn="r" indent="0" marL="0">
              <a:buNone/>
            </a:pPr>
            <a:r>
              <a:rPr lang="en-US" sz="1000" b="1" dirty="0">
                <a:solidFill>
                  <a:srgbClr val="1D2433"/>
                </a:solidFill>
              </a:rPr>
              <a:t>68%</a:t>
            </a:r>
            <a:endParaRPr lang="en-US" sz="1000" dirty="0"/>
          </a:p>
        </p:txBody>
      </p:sp>
      <p:sp>
        <p:nvSpPr>
          <p:cNvPr id="12" name="Text 9"/>
          <p:cNvSpPr/>
          <p:nvPr/>
        </p:nvSpPr>
        <p:spPr>
          <a:xfrm>
            <a:off x="548640" y="2404872"/>
            <a:ext cx="2926080" cy="228600"/>
          </a:xfrm>
          <a:prstGeom prst="rect">
            <a:avLst/>
          </a:prstGeom>
          <a:noFill/>
          <a:ln/>
        </p:spPr>
        <p:txBody>
          <a:bodyPr wrap="square" lIns="0" tIns="0" rIns="0" bIns="0" rtlCol="0" anchor="ctr"/>
          <a:lstStyle/>
          <a:p>
            <a:pPr indent="0" marL="0">
              <a:buNone/>
            </a:pPr>
            <a:r>
              <a:rPr lang="en-US" sz="1100" b="1" dirty="0">
                <a:solidFill>
                  <a:srgbClr val="1D2433"/>
                </a:solidFill>
              </a:rPr>
              <a:t>Lake Sample</a:t>
            </a:r>
            <a:endParaRPr lang="en-US" sz="1100" dirty="0"/>
          </a:p>
        </p:txBody>
      </p:sp>
      <p:sp>
        <p:nvSpPr>
          <p:cNvPr id="13" name="Shape 10"/>
          <p:cNvSpPr/>
          <p:nvPr/>
        </p:nvSpPr>
        <p:spPr>
          <a:xfrm>
            <a:off x="3383280" y="2423160"/>
            <a:ext cx="6035040" cy="201168"/>
          </a:xfrm>
          <a:prstGeom prst="roundRect">
            <a:avLst>
              <a:gd name="adj" fmla="val 13636"/>
            </a:avLst>
          </a:prstGeom>
          <a:solidFill>
            <a:srgbClr val="DDE8E3"/>
          </a:solidFill>
          <a:ln w="12700">
            <a:solidFill>
              <a:srgbClr val="DDE8E3"/>
            </a:solidFill>
            <a:prstDash val="solid"/>
          </a:ln>
        </p:spPr>
      </p:sp>
      <p:sp>
        <p:nvSpPr>
          <p:cNvPr id="14" name="Shape 11"/>
          <p:cNvSpPr/>
          <p:nvPr/>
        </p:nvSpPr>
        <p:spPr>
          <a:xfrm>
            <a:off x="3383280" y="2423160"/>
            <a:ext cx="4164178" cy="201168"/>
          </a:xfrm>
          <a:prstGeom prst="roundRect">
            <a:avLst>
              <a:gd name="adj" fmla="val 13636"/>
            </a:avLst>
          </a:prstGeom>
          <a:solidFill>
            <a:srgbClr val="00A896"/>
          </a:solidFill>
          <a:ln w="12700">
            <a:solidFill>
              <a:srgbClr val="00A896"/>
            </a:solidFill>
            <a:prstDash val="solid"/>
          </a:ln>
        </p:spPr>
      </p:sp>
      <p:sp>
        <p:nvSpPr>
          <p:cNvPr id="15" name="Text 12"/>
          <p:cNvSpPr/>
          <p:nvPr/>
        </p:nvSpPr>
        <p:spPr>
          <a:xfrm>
            <a:off x="9601200" y="2404872"/>
            <a:ext cx="1554480" cy="228600"/>
          </a:xfrm>
          <a:prstGeom prst="rect">
            <a:avLst/>
          </a:prstGeom>
          <a:noFill/>
          <a:ln/>
        </p:spPr>
        <p:txBody>
          <a:bodyPr wrap="square" lIns="0" tIns="0" rIns="0" bIns="0" rtlCol="0" anchor="ctr"/>
          <a:lstStyle/>
          <a:p>
            <a:pPr algn="r" indent="0" marL="0">
              <a:buNone/>
            </a:pPr>
            <a:r>
              <a:rPr lang="en-US" sz="1000" b="1" dirty="0">
                <a:solidFill>
                  <a:srgbClr val="1D2433"/>
                </a:solidFill>
              </a:rPr>
              <a:t>69%</a:t>
            </a:r>
            <a:endParaRPr lang="en-US" sz="1000" dirty="0"/>
          </a:p>
        </p:txBody>
      </p:sp>
      <p:sp>
        <p:nvSpPr>
          <p:cNvPr id="16" name="Text 13"/>
          <p:cNvSpPr/>
          <p:nvPr/>
        </p:nvSpPr>
        <p:spPr>
          <a:xfrm>
            <a:off x="548640" y="3026664"/>
            <a:ext cx="2926080" cy="228600"/>
          </a:xfrm>
          <a:prstGeom prst="rect">
            <a:avLst/>
          </a:prstGeom>
          <a:noFill/>
          <a:ln/>
        </p:spPr>
        <p:txBody>
          <a:bodyPr wrap="square" lIns="0" tIns="0" rIns="0" bIns="0" rtlCol="0" anchor="ctr"/>
          <a:lstStyle/>
          <a:p>
            <a:pPr indent="0" marL="0">
              <a:buNone/>
            </a:pPr>
            <a:r>
              <a:rPr lang="en-US" sz="1100" b="1" dirty="0">
                <a:solidFill>
                  <a:srgbClr val="1D2433"/>
                </a:solidFill>
              </a:rPr>
              <a:t>Northern Sample</a:t>
            </a:r>
            <a:endParaRPr lang="en-US" sz="1100" dirty="0"/>
          </a:p>
        </p:txBody>
      </p:sp>
      <p:sp>
        <p:nvSpPr>
          <p:cNvPr id="17" name="Shape 14"/>
          <p:cNvSpPr/>
          <p:nvPr/>
        </p:nvSpPr>
        <p:spPr>
          <a:xfrm>
            <a:off x="3383280" y="3044952"/>
            <a:ext cx="6035040" cy="201168"/>
          </a:xfrm>
          <a:prstGeom prst="roundRect">
            <a:avLst>
              <a:gd name="adj" fmla="val 13636"/>
            </a:avLst>
          </a:prstGeom>
          <a:solidFill>
            <a:srgbClr val="DDE8E3"/>
          </a:solidFill>
          <a:ln w="12700">
            <a:solidFill>
              <a:srgbClr val="DDE8E3"/>
            </a:solidFill>
            <a:prstDash val="solid"/>
          </a:ln>
        </p:spPr>
      </p:sp>
      <p:sp>
        <p:nvSpPr>
          <p:cNvPr id="18" name="Shape 15"/>
          <p:cNvSpPr/>
          <p:nvPr/>
        </p:nvSpPr>
        <p:spPr>
          <a:xfrm>
            <a:off x="3383280" y="3044952"/>
            <a:ext cx="4224528" cy="201168"/>
          </a:xfrm>
          <a:prstGeom prst="roundRect">
            <a:avLst>
              <a:gd name="adj" fmla="val 13636"/>
            </a:avLst>
          </a:prstGeom>
          <a:solidFill>
            <a:srgbClr val="07883F"/>
          </a:solidFill>
          <a:ln w="12700">
            <a:solidFill>
              <a:srgbClr val="07883F"/>
            </a:solidFill>
            <a:prstDash val="solid"/>
          </a:ln>
        </p:spPr>
      </p:sp>
      <p:sp>
        <p:nvSpPr>
          <p:cNvPr id="19" name="Text 16"/>
          <p:cNvSpPr/>
          <p:nvPr/>
        </p:nvSpPr>
        <p:spPr>
          <a:xfrm>
            <a:off x="9601200" y="3026664"/>
            <a:ext cx="1554480" cy="228600"/>
          </a:xfrm>
          <a:prstGeom prst="rect">
            <a:avLst/>
          </a:prstGeom>
          <a:noFill/>
          <a:ln/>
        </p:spPr>
        <p:txBody>
          <a:bodyPr wrap="square" lIns="0" tIns="0" rIns="0" bIns="0" rtlCol="0" anchor="ctr"/>
          <a:lstStyle/>
          <a:p>
            <a:pPr algn="r" indent="0" marL="0">
              <a:buNone/>
            </a:pPr>
            <a:r>
              <a:rPr lang="en-US" sz="1000" b="1" dirty="0">
                <a:solidFill>
                  <a:srgbClr val="1D2433"/>
                </a:solidFill>
              </a:rPr>
              <a:t>70%</a:t>
            </a:r>
            <a:endParaRPr lang="en-US" sz="1000" dirty="0"/>
          </a:p>
        </p:txBody>
      </p:sp>
      <p:sp>
        <p:nvSpPr>
          <p:cNvPr id="20" name="Text 17"/>
          <p:cNvSpPr/>
          <p:nvPr/>
        </p:nvSpPr>
        <p:spPr>
          <a:xfrm>
            <a:off x="548640" y="3648456"/>
            <a:ext cx="2926080" cy="228600"/>
          </a:xfrm>
          <a:prstGeom prst="rect">
            <a:avLst/>
          </a:prstGeom>
          <a:noFill/>
          <a:ln/>
        </p:spPr>
        <p:txBody>
          <a:bodyPr wrap="square" lIns="0" tIns="0" rIns="0" bIns="0" rtlCol="0" anchor="ctr"/>
          <a:lstStyle/>
          <a:p>
            <a:pPr indent="0" marL="0">
              <a:buNone/>
            </a:pPr>
            <a:r>
              <a:rPr lang="en-US" sz="1100" b="1" dirty="0">
                <a:solidFill>
                  <a:srgbClr val="1D2433"/>
                </a:solidFill>
              </a:rPr>
              <a:t>Urban Sample</a:t>
            </a:r>
            <a:endParaRPr lang="en-US" sz="1100" dirty="0"/>
          </a:p>
        </p:txBody>
      </p:sp>
      <p:sp>
        <p:nvSpPr>
          <p:cNvPr id="21" name="Shape 18"/>
          <p:cNvSpPr/>
          <p:nvPr/>
        </p:nvSpPr>
        <p:spPr>
          <a:xfrm>
            <a:off x="3383280" y="3666744"/>
            <a:ext cx="6035040" cy="201168"/>
          </a:xfrm>
          <a:prstGeom prst="roundRect">
            <a:avLst>
              <a:gd name="adj" fmla="val 13636"/>
            </a:avLst>
          </a:prstGeom>
          <a:solidFill>
            <a:srgbClr val="DDE8E3"/>
          </a:solidFill>
          <a:ln w="12700">
            <a:solidFill>
              <a:srgbClr val="DDE8E3"/>
            </a:solidFill>
            <a:prstDash val="solid"/>
          </a:ln>
        </p:spPr>
      </p:sp>
      <p:sp>
        <p:nvSpPr>
          <p:cNvPr id="22" name="Shape 19"/>
          <p:cNvSpPr/>
          <p:nvPr/>
        </p:nvSpPr>
        <p:spPr>
          <a:xfrm>
            <a:off x="3383280" y="3666744"/>
            <a:ext cx="4284878" cy="201168"/>
          </a:xfrm>
          <a:prstGeom prst="roundRect">
            <a:avLst>
              <a:gd name="adj" fmla="val 13636"/>
            </a:avLst>
          </a:prstGeom>
          <a:solidFill>
            <a:srgbClr val="00A896"/>
          </a:solidFill>
          <a:ln w="12700">
            <a:solidFill>
              <a:srgbClr val="00A896"/>
            </a:solidFill>
            <a:prstDash val="solid"/>
          </a:ln>
        </p:spPr>
      </p:sp>
      <p:sp>
        <p:nvSpPr>
          <p:cNvPr id="23" name="Text 20"/>
          <p:cNvSpPr/>
          <p:nvPr/>
        </p:nvSpPr>
        <p:spPr>
          <a:xfrm>
            <a:off x="9601200" y="3648456"/>
            <a:ext cx="1554480" cy="228600"/>
          </a:xfrm>
          <a:prstGeom prst="rect">
            <a:avLst/>
          </a:prstGeom>
          <a:noFill/>
          <a:ln/>
        </p:spPr>
        <p:txBody>
          <a:bodyPr wrap="square" lIns="0" tIns="0" rIns="0" bIns="0" rtlCol="0" anchor="ctr"/>
          <a:lstStyle/>
          <a:p>
            <a:pPr algn="r" indent="0" marL="0">
              <a:buNone/>
            </a:pPr>
            <a:r>
              <a:rPr lang="en-US" sz="1000" b="1" dirty="0">
                <a:solidFill>
                  <a:srgbClr val="1D2433"/>
                </a:solidFill>
              </a:rPr>
              <a:t>71%</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INDICATOR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D2433"/>
                </a:solidFill>
              </a:rPr>
              <a:t>Target gaps reveal where delivery is slipping</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06 | Synthetic Demonstration Publication</a:t>
            </a:r>
            <a:endParaRPr lang="en-US" sz="700" dirty="0"/>
          </a:p>
        </p:txBody>
      </p:sp>
      <p:sp>
        <p:nvSpPr>
          <p:cNvPr id="8" name="Text 5"/>
          <p:cNvSpPr/>
          <p:nvPr/>
        </p:nvSpPr>
        <p:spPr>
          <a:xfrm>
            <a:off x="548640" y="1783080"/>
            <a:ext cx="2926080" cy="228600"/>
          </a:xfrm>
          <a:prstGeom prst="rect">
            <a:avLst/>
          </a:prstGeom>
          <a:noFill/>
          <a:ln/>
        </p:spPr>
        <p:txBody>
          <a:bodyPr wrap="square" lIns="0" tIns="0" rIns="0" bIns="0" rtlCol="0" anchor="ctr"/>
          <a:lstStyle/>
          <a:p>
            <a:pPr indent="0" marL="0">
              <a:buNone/>
            </a:pPr>
            <a:r>
              <a:rPr lang="en-US" sz="1100" b="1" dirty="0">
                <a:solidFill>
                  <a:srgbClr val="1D2433"/>
                </a:solidFill>
              </a:rPr>
              <a:t>Claim traceability rate</a:t>
            </a:r>
            <a:endParaRPr lang="en-US" sz="1100" dirty="0"/>
          </a:p>
        </p:txBody>
      </p:sp>
      <p:sp>
        <p:nvSpPr>
          <p:cNvPr id="9" name="Shape 6"/>
          <p:cNvSpPr/>
          <p:nvPr/>
        </p:nvSpPr>
        <p:spPr>
          <a:xfrm>
            <a:off x="3383280" y="1801368"/>
            <a:ext cx="6035040" cy="201168"/>
          </a:xfrm>
          <a:prstGeom prst="roundRect">
            <a:avLst>
              <a:gd name="adj" fmla="val 13636"/>
            </a:avLst>
          </a:prstGeom>
          <a:solidFill>
            <a:srgbClr val="DDE8E3"/>
          </a:solidFill>
          <a:ln w="12700">
            <a:solidFill>
              <a:srgbClr val="DDE8E3"/>
            </a:solidFill>
            <a:prstDash val="solid"/>
          </a:ln>
        </p:spPr>
      </p:sp>
      <p:sp>
        <p:nvSpPr>
          <p:cNvPr id="10" name="Shape 7"/>
          <p:cNvSpPr/>
          <p:nvPr/>
        </p:nvSpPr>
        <p:spPr>
          <a:xfrm>
            <a:off x="3383280" y="1801368"/>
            <a:ext cx="3138221" cy="201168"/>
          </a:xfrm>
          <a:prstGeom prst="roundRect">
            <a:avLst>
              <a:gd name="adj" fmla="val 13636"/>
            </a:avLst>
          </a:prstGeom>
          <a:solidFill>
            <a:srgbClr val="07883F"/>
          </a:solidFill>
          <a:ln w="12700">
            <a:solidFill>
              <a:srgbClr val="07883F"/>
            </a:solidFill>
            <a:prstDash val="solid"/>
          </a:ln>
        </p:spPr>
      </p:sp>
      <p:sp>
        <p:nvSpPr>
          <p:cNvPr id="11" name="Shape 8"/>
          <p:cNvSpPr/>
          <p:nvPr/>
        </p:nvSpPr>
        <p:spPr>
          <a:xfrm>
            <a:off x="7969910" y="1737360"/>
            <a:ext cx="0" cy="347472"/>
          </a:xfrm>
          <a:prstGeom prst="line">
            <a:avLst/>
          </a:prstGeom>
          <a:noFill/>
          <a:ln w="19050">
            <a:solidFill>
              <a:srgbClr val="2B2D42"/>
            </a:solidFill>
            <a:prstDash val="solid"/>
          </a:ln>
        </p:spPr>
      </p:sp>
      <p:sp>
        <p:nvSpPr>
          <p:cNvPr id="12" name="Text 9"/>
          <p:cNvSpPr/>
          <p:nvPr/>
        </p:nvSpPr>
        <p:spPr>
          <a:xfrm>
            <a:off x="9601200" y="1783080"/>
            <a:ext cx="1554480" cy="228600"/>
          </a:xfrm>
          <a:prstGeom prst="rect">
            <a:avLst/>
          </a:prstGeom>
          <a:noFill/>
          <a:ln/>
        </p:spPr>
        <p:txBody>
          <a:bodyPr wrap="square" lIns="0" tIns="0" rIns="0" bIns="0" rtlCol="0" anchor="ctr"/>
          <a:lstStyle/>
          <a:p>
            <a:pPr algn="r" indent="0" marL="0">
              <a:buNone/>
            </a:pPr>
            <a:r>
              <a:rPr lang="en-US" sz="1000" b="1" dirty="0">
                <a:solidFill>
                  <a:srgbClr val="1D2433"/>
                </a:solidFill>
              </a:rPr>
              <a:t>52% / target 76%</a:t>
            </a:r>
            <a:endParaRPr lang="en-US" sz="1000" dirty="0"/>
          </a:p>
        </p:txBody>
      </p:sp>
      <p:sp>
        <p:nvSpPr>
          <p:cNvPr id="13" name="Text 10"/>
          <p:cNvSpPr/>
          <p:nvPr/>
        </p:nvSpPr>
        <p:spPr>
          <a:xfrm>
            <a:off x="548640" y="2404872"/>
            <a:ext cx="2926080" cy="228600"/>
          </a:xfrm>
          <a:prstGeom prst="rect">
            <a:avLst/>
          </a:prstGeom>
          <a:noFill/>
          <a:ln/>
        </p:spPr>
        <p:txBody>
          <a:bodyPr wrap="square" lIns="0" tIns="0" rIns="0" bIns="0" rtlCol="0" anchor="ctr"/>
          <a:lstStyle/>
          <a:p>
            <a:pPr indent="0" marL="0">
              <a:buNone/>
            </a:pPr>
            <a:r>
              <a:rPr lang="en-US" sz="1100" b="1" dirty="0">
                <a:solidFill>
                  <a:srgbClr val="1D2433"/>
                </a:solidFill>
              </a:rPr>
              <a:t>Triangulation strength</a:t>
            </a:r>
            <a:endParaRPr lang="en-US" sz="1100" dirty="0"/>
          </a:p>
        </p:txBody>
      </p:sp>
      <p:sp>
        <p:nvSpPr>
          <p:cNvPr id="14" name="Shape 11"/>
          <p:cNvSpPr/>
          <p:nvPr/>
        </p:nvSpPr>
        <p:spPr>
          <a:xfrm>
            <a:off x="3383280" y="2423160"/>
            <a:ext cx="6035040" cy="201168"/>
          </a:xfrm>
          <a:prstGeom prst="roundRect">
            <a:avLst>
              <a:gd name="adj" fmla="val 13636"/>
            </a:avLst>
          </a:prstGeom>
          <a:solidFill>
            <a:srgbClr val="DDE8E3"/>
          </a:solidFill>
          <a:ln w="12700">
            <a:solidFill>
              <a:srgbClr val="DDE8E3"/>
            </a:solidFill>
            <a:prstDash val="solid"/>
          </a:ln>
        </p:spPr>
      </p:sp>
      <p:sp>
        <p:nvSpPr>
          <p:cNvPr id="15" name="Shape 12"/>
          <p:cNvSpPr/>
          <p:nvPr/>
        </p:nvSpPr>
        <p:spPr>
          <a:xfrm>
            <a:off x="3383280" y="2423160"/>
            <a:ext cx="3198571" cy="201168"/>
          </a:xfrm>
          <a:prstGeom prst="roundRect">
            <a:avLst>
              <a:gd name="adj" fmla="val 13636"/>
            </a:avLst>
          </a:prstGeom>
          <a:solidFill>
            <a:srgbClr val="00A896"/>
          </a:solidFill>
          <a:ln w="12700">
            <a:solidFill>
              <a:srgbClr val="00A896"/>
            </a:solidFill>
            <a:prstDash val="solid"/>
          </a:ln>
        </p:spPr>
      </p:sp>
      <p:sp>
        <p:nvSpPr>
          <p:cNvPr id="16" name="Shape 13"/>
          <p:cNvSpPr/>
          <p:nvPr/>
        </p:nvSpPr>
        <p:spPr>
          <a:xfrm>
            <a:off x="8030261" y="2359152"/>
            <a:ext cx="0" cy="347472"/>
          </a:xfrm>
          <a:prstGeom prst="line">
            <a:avLst/>
          </a:prstGeom>
          <a:noFill/>
          <a:ln w="19050">
            <a:solidFill>
              <a:srgbClr val="2B2D42"/>
            </a:solidFill>
            <a:prstDash val="solid"/>
          </a:ln>
        </p:spPr>
      </p:sp>
      <p:sp>
        <p:nvSpPr>
          <p:cNvPr id="17" name="Text 14"/>
          <p:cNvSpPr/>
          <p:nvPr/>
        </p:nvSpPr>
        <p:spPr>
          <a:xfrm>
            <a:off x="9601200" y="2404872"/>
            <a:ext cx="1554480" cy="228600"/>
          </a:xfrm>
          <a:prstGeom prst="rect">
            <a:avLst/>
          </a:prstGeom>
          <a:noFill/>
          <a:ln/>
        </p:spPr>
        <p:txBody>
          <a:bodyPr wrap="square" lIns="0" tIns="0" rIns="0" bIns="0" rtlCol="0" anchor="ctr"/>
          <a:lstStyle/>
          <a:p>
            <a:pPr algn="r" indent="0" marL="0">
              <a:buNone/>
            </a:pPr>
            <a:r>
              <a:rPr lang="en-US" sz="1000" b="1" dirty="0">
                <a:solidFill>
                  <a:srgbClr val="1D2433"/>
                </a:solidFill>
              </a:rPr>
              <a:t>53% / target 77%</a:t>
            </a:r>
            <a:endParaRPr lang="en-US" sz="1000" dirty="0"/>
          </a:p>
        </p:txBody>
      </p:sp>
      <p:sp>
        <p:nvSpPr>
          <p:cNvPr id="18" name="Text 15"/>
          <p:cNvSpPr/>
          <p:nvPr/>
        </p:nvSpPr>
        <p:spPr>
          <a:xfrm>
            <a:off x="548640" y="3026664"/>
            <a:ext cx="2926080" cy="228600"/>
          </a:xfrm>
          <a:prstGeom prst="rect">
            <a:avLst/>
          </a:prstGeom>
          <a:noFill/>
          <a:ln/>
        </p:spPr>
        <p:txBody>
          <a:bodyPr wrap="square" lIns="0" tIns="0" rIns="0" bIns="0" rtlCol="0" anchor="ctr"/>
          <a:lstStyle/>
          <a:p>
            <a:pPr indent="0" marL="0">
              <a:buNone/>
            </a:pPr>
            <a:r>
              <a:rPr lang="en-US" sz="1100" b="1" dirty="0">
                <a:solidFill>
                  <a:srgbClr val="1D2433"/>
                </a:solidFill>
              </a:rPr>
              <a:t>Reviewer agreement</a:t>
            </a:r>
            <a:endParaRPr lang="en-US" sz="1100" dirty="0"/>
          </a:p>
        </p:txBody>
      </p:sp>
      <p:sp>
        <p:nvSpPr>
          <p:cNvPr id="19" name="Shape 16"/>
          <p:cNvSpPr/>
          <p:nvPr/>
        </p:nvSpPr>
        <p:spPr>
          <a:xfrm>
            <a:off x="3383280" y="3044952"/>
            <a:ext cx="6035040" cy="201168"/>
          </a:xfrm>
          <a:prstGeom prst="roundRect">
            <a:avLst>
              <a:gd name="adj" fmla="val 13636"/>
            </a:avLst>
          </a:prstGeom>
          <a:solidFill>
            <a:srgbClr val="DDE8E3"/>
          </a:solidFill>
          <a:ln w="12700">
            <a:solidFill>
              <a:srgbClr val="DDE8E3"/>
            </a:solidFill>
            <a:prstDash val="solid"/>
          </a:ln>
        </p:spPr>
      </p:sp>
      <p:sp>
        <p:nvSpPr>
          <p:cNvPr id="20" name="Shape 17"/>
          <p:cNvSpPr/>
          <p:nvPr/>
        </p:nvSpPr>
        <p:spPr>
          <a:xfrm>
            <a:off x="3383280" y="3044952"/>
            <a:ext cx="3258922" cy="201168"/>
          </a:xfrm>
          <a:prstGeom prst="roundRect">
            <a:avLst>
              <a:gd name="adj" fmla="val 13636"/>
            </a:avLst>
          </a:prstGeom>
          <a:solidFill>
            <a:srgbClr val="07883F"/>
          </a:solidFill>
          <a:ln w="12700">
            <a:solidFill>
              <a:srgbClr val="07883F"/>
            </a:solidFill>
            <a:prstDash val="solid"/>
          </a:ln>
        </p:spPr>
      </p:sp>
      <p:sp>
        <p:nvSpPr>
          <p:cNvPr id="21" name="Shape 18"/>
          <p:cNvSpPr/>
          <p:nvPr/>
        </p:nvSpPr>
        <p:spPr>
          <a:xfrm>
            <a:off x="8090611" y="2980944"/>
            <a:ext cx="0" cy="347472"/>
          </a:xfrm>
          <a:prstGeom prst="line">
            <a:avLst/>
          </a:prstGeom>
          <a:noFill/>
          <a:ln w="19050">
            <a:solidFill>
              <a:srgbClr val="2B2D42"/>
            </a:solidFill>
            <a:prstDash val="solid"/>
          </a:ln>
        </p:spPr>
      </p:sp>
      <p:sp>
        <p:nvSpPr>
          <p:cNvPr id="22" name="Text 19"/>
          <p:cNvSpPr/>
          <p:nvPr/>
        </p:nvSpPr>
        <p:spPr>
          <a:xfrm>
            <a:off x="9601200" y="3026664"/>
            <a:ext cx="1554480" cy="228600"/>
          </a:xfrm>
          <a:prstGeom prst="rect">
            <a:avLst/>
          </a:prstGeom>
          <a:noFill/>
          <a:ln/>
        </p:spPr>
        <p:txBody>
          <a:bodyPr wrap="square" lIns="0" tIns="0" rIns="0" bIns="0" rtlCol="0" anchor="ctr"/>
          <a:lstStyle/>
          <a:p>
            <a:pPr algn="r" indent="0" marL="0">
              <a:buNone/>
            </a:pPr>
            <a:r>
              <a:rPr lang="en-US" sz="1000" b="1" dirty="0">
                <a:solidFill>
                  <a:srgbClr val="1D2433"/>
                </a:solidFill>
              </a:rPr>
              <a:t>54% / target 78%</a:t>
            </a:r>
            <a:endParaRPr lang="en-US" sz="1000" dirty="0"/>
          </a:p>
        </p:txBody>
      </p:sp>
      <p:sp>
        <p:nvSpPr>
          <p:cNvPr id="23" name="Text 20"/>
          <p:cNvSpPr/>
          <p:nvPr/>
        </p:nvSpPr>
        <p:spPr>
          <a:xfrm>
            <a:off x="548640" y="3648456"/>
            <a:ext cx="2926080" cy="228600"/>
          </a:xfrm>
          <a:prstGeom prst="rect">
            <a:avLst/>
          </a:prstGeom>
          <a:noFill/>
          <a:ln/>
        </p:spPr>
        <p:txBody>
          <a:bodyPr wrap="square" lIns="0" tIns="0" rIns="0" bIns="0" rtlCol="0" anchor="ctr"/>
          <a:lstStyle/>
          <a:p>
            <a:pPr indent="0" marL="0">
              <a:buNone/>
            </a:pPr>
            <a:r>
              <a:rPr lang="en-US" sz="1100" b="1" dirty="0">
                <a:solidFill>
                  <a:srgbClr val="1D2433"/>
                </a:solidFill>
              </a:rPr>
              <a:t>Grounded explanation rate</a:t>
            </a:r>
            <a:endParaRPr lang="en-US" sz="1100" dirty="0"/>
          </a:p>
        </p:txBody>
      </p:sp>
      <p:sp>
        <p:nvSpPr>
          <p:cNvPr id="24" name="Shape 21"/>
          <p:cNvSpPr/>
          <p:nvPr/>
        </p:nvSpPr>
        <p:spPr>
          <a:xfrm>
            <a:off x="3383280" y="3666744"/>
            <a:ext cx="6035040" cy="201168"/>
          </a:xfrm>
          <a:prstGeom prst="roundRect">
            <a:avLst>
              <a:gd name="adj" fmla="val 13636"/>
            </a:avLst>
          </a:prstGeom>
          <a:solidFill>
            <a:srgbClr val="DDE8E3"/>
          </a:solidFill>
          <a:ln w="12700">
            <a:solidFill>
              <a:srgbClr val="DDE8E3"/>
            </a:solidFill>
            <a:prstDash val="solid"/>
          </a:ln>
        </p:spPr>
      </p:sp>
      <p:sp>
        <p:nvSpPr>
          <p:cNvPr id="25" name="Shape 22"/>
          <p:cNvSpPr/>
          <p:nvPr/>
        </p:nvSpPr>
        <p:spPr>
          <a:xfrm>
            <a:off x="3383280" y="3666744"/>
            <a:ext cx="3319272" cy="201168"/>
          </a:xfrm>
          <a:prstGeom prst="roundRect">
            <a:avLst>
              <a:gd name="adj" fmla="val 13636"/>
            </a:avLst>
          </a:prstGeom>
          <a:solidFill>
            <a:srgbClr val="00A896"/>
          </a:solidFill>
          <a:ln w="12700">
            <a:solidFill>
              <a:srgbClr val="00A896"/>
            </a:solidFill>
            <a:prstDash val="solid"/>
          </a:ln>
        </p:spPr>
      </p:sp>
      <p:sp>
        <p:nvSpPr>
          <p:cNvPr id="26" name="Shape 23"/>
          <p:cNvSpPr/>
          <p:nvPr/>
        </p:nvSpPr>
        <p:spPr>
          <a:xfrm>
            <a:off x="8150962" y="3602736"/>
            <a:ext cx="0" cy="347472"/>
          </a:xfrm>
          <a:prstGeom prst="line">
            <a:avLst/>
          </a:prstGeom>
          <a:noFill/>
          <a:ln w="19050">
            <a:solidFill>
              <a:srgbClr val="2B2D42"/>
            </a:solidFill>
            <a:prstDash val="solid"/>
          </a:ln>
        </p:spPr>
      </p:sp>
      <p:sp>
        <p:nvSpPr>
          <p:cNvPr id="27" name="Text 24"/>
          <p:cNvSpPr/>
          <p:nvPr/>
        </p:nvSpPr>
        <p:spPr>
          <a:xfrm>
            <a:off x="9601200" y="3648456"/>
            <a:ext cx="1554480" cy="228600"/>
          </a:xfrm>
          <a:prstGeom prst="rect">
            <a:avLst/>
          </a:prstGeom>
          <a:noFill/>
          <a:ln/>
        </p:spPr>
        <p:txBody>
          <a:bodyPr wrap="square" lIns="0" tIns="0" rIns="0" bIns="0" rtlCol="0" anchor="ctr"/>
          <a:lstStyle/>
          <a:p>
            <a:pPr algn="r" indent="0" marL="0">
              <a:buNone/>
            </a:pPr>
            <a:r>
              <a:rPr lang="en-US" sz="1000" b="1" dirty="0">
                <a:solidFill>
                  <a:srgbClr val="1D2433"/>
                </a:solidFill>
              </a:rPr>
              <a:t>55% / target 79%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RESPONDENT VOICE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D2433"/>
                </a:solidFill>
              </a:rPr>
              <a:t>What respondents are telling decision-makers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07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00A896"/>
          </a:solidFill>
          <a:ln w="12700">
            <a:solidFill>
              <a:srgbClr val="00A896"/>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D243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D2433"/>
                </a:solidFill>
              </a:rPr>
              <a:t>“In Coastal Sample, claim traceability shapes whether rural women can turn services into lasting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D2433"/>
                </a:solidFill>
              </a:rPr>
              <a:t>“In Lake Sample, source triangulation shapes whether young adults can turn services into lasting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D2433"/>
                </a:solidFill>
              </a:rPr>
              <a:t>“In Northern Sample, review consistency shapes whether persons with disabilities can turn services into lasting outcomes.”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DECISION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D2433"/>
                </a:solidFill>
              </a:rPr>
              <a:t>Priority decisions and accountable owners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08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00A896"/>
          </a:solidFill>
          <a:ln w="12700">
            <a:solidFill>
              <a:srgbClr val="00A896"/>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D243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D2433"/>
                </a:solidFill>
              </a:rPr>
              <a:t>Require source lineage for every publishable claim for citizen feedback.</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D2433"/>
                </a:solidFill>
              </a:rPr>
              <a:t>Triangulate high-risk findings across source types for citizen feedback.</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D2433"/>
                </a:solidFill>
              </a:rPr>
              <a:t>Calibrate reviewer decisions with blinded cases for citizen feedback.</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D2433"/>
                </a:solidFill>
              </a:rPr>
              <a:t>Enforce disclosure checks before evidence download for citizen feedback.</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D2433"/>
                </a:solidFill>
              </a:rPr>
              <a:t>Block AI explanations without approved citations for citizen feedback.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STRATEGIC CONSEQUENCE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D2433"/>
                </a:solidFill>
              </a:rPr>
              <a:t>The cost of inaction compounds over time</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09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00A896"/>
          </a:solidFill>
          <a:ln w="12700">
            <a:solidFill>
              <a:srgbClr val="00A896"/>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D243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D2433"/>
                </a:solidFill>
              </a:rPr>
              <a:t>Without corrective action, existing gaps are likely to persist and may increase the future cost of recovery.</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D2433"/>
                </a:solidFill>
              </a:rPr>
              <a:t>A medium-scale reprioritization is indicated; formal costing and fiduciary review are required.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IMPLEMENTATION</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D2433"/>
                </a:solidFill>
              </a:rPr>
              <a:t>A phased implementation roadmap</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10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00A896"/>
          </a:solidFill>
          <a:ln w="12700">
            <a:solidFill>
              <a:srgbClr val="00A896"/>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D243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D2433"/>
                </a:solidFill>
              </a:rPr>
              <a:t>Require source lineage for every publishable claim for citizen feedback.</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D2433"/>
                </a:solidFill>
              </a:rPr>
              <a:t>Triangulate high-risk findings across source types for citizen feedback.</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D2433"/>
                </a:solidFill>
              </a:rPr>
              <a:t>Calibrate reviewer decisions with blinded cases for citizen feedback.</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D2433"/>
                </a:solidFill>
              </a:rPr>
              <a:t>Enforce disclosure checks before evidence download for citizen feedback.</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D2433"/>
                </a:solidFill>
              </a:rPr>
              <a:t>Block AI explanations without approved citations for citizen feedback.</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EVIDENCE LINEAGE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D2433"/>
                </a:solidFill>
              </a:rPr>
              <a:t>Every material claim links back to evidence</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11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00A896"/>
          </a:solidFill>
          <a:ln w="12700">
            <a:solidFill>
              <a:srgbClr val="00A896"/>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D243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D2433"/>
                </a:solidFill>
              </a:rPr>
              <a:t>“In Coastal Sample, claim traceability shapes whether rural women can turn services into lasting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D2433"/>
                </a:solidFill>
              </a:rPr>
              <a:t>“In Lake Sample, source triangulation shapes whether young adults can turn services into lasting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D2433"/>
                </a:solidFill>
              </a:rPr>
              <a:t>“In Northern Sample, review consistency shapes whether persons with disabilities can turn services into lasting outcomes.”</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D2433"/>
                </a:solidFill>
              </a:rPr>
              <a:t>“In Urban Sample, privacy-safe disclosure shapes whether frontline workers can turn services into lasting outcomes.”</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D2433"/>
                </a:solidFill>
              </a:rPr>
              <a:t>“In Coastal Sample, AI explanation grounding shapes whether low-income households can turn services into lasting outcomes.”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STATISTICAL ASSURANCE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D2433"/>
                </a:solidFill>
              </a:rPr>
              <a:t>Methodology designed for reproducibility</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12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00A896"/>
          </a:solidFill>
          <a:ln w="12700">
            <a:solidFill>
              <a:srgbClr val="00A896"/>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D243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D2433"/>
                </a:solidFill>
              </a:rPr>
              <a:t>sampling design: Stratified multi-stage synthetic demonstration design</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D2433"/>
                </a:solidFill>
              </a:rPr>
              <a:t>sampling frame: Synthetic frame covering programme-relevant population groups in Tanzania</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D2433"/>
                </a:solidFill>
              </a:rPr>
              <a:t>stratification: ["Region","Urban/rural","Sex","Age","Disability status"]</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D2433"/>
                </a:solidFill>
              </a:rPr>
              <a:t>sample size: 2353</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D2433"/>
                </a:solidFill>
              </a:rPr>
              <a:t>weighting: Post-stratification weights normalized to the synthetic population frame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INTERNATIONAL ALIGNMENT</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D2433"/>
                </a:solidFill>
              </a:rPr>
              <a:t>Standards are applied where genuinely relevant</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13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00A896"/>
          </a:solidFill>
          <a:ln w="12700">
            <a:solidFill>
              <a:srgbClr val="00A896"/>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D243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D2433"/>
                </a:solidFill>
              </a:rPr>
              <a:t>Data Protection and Privacy Controls: The publication uses governed response, evidence and export data.</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D2433"/>
                </a:solidFill>
              </a:rPr>
              <a:t>Reproducibility and Microdata Governance: The publication includes versioned data, methods, disclosure controls and lineage.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D2433"/>
                </a:solidFill>
              </a:rPr>
              <a:t>Research Ethics: Evidence collection and publication require consent, minimisation and protection of participants.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SDG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D2433"/>
                </a:solidFill>
              </a:rPr>
              <a:t>SDG contribution is transparent and bounded</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14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00A896"/>
          </a:solidFill>
          <a:ln w="12700">
            <a:solidFill>
              <a:srgbClr val="00A896"/>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D243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D2433"/>
                </a:solidFill>
              </a:rPr>
              <a:t>SDG Context-specific — Primary. Contribution mapping only; no attribution or institutional endorsement is implied.</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PUBLICATION INTEGRITY</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D2433"/>
                </a:solidFill>
              </a:rPr>
              <a:t>Limitations and responsible interpretation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15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00A896"/>
          </a:solidFill>
          <a:ln w="12700">
            <a:solidFill>
              <a:srgbClr val="00A896"/>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D243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D2433"/>
                </a:solidFill>
              </a:rPr>
              <a:t>All content is synthetic and must not be interpreted as official statistics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D2433"/>
                </a:solidFill>
              </a:rPr>
              <a:t>Geographic references are illustrative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D2433"/>
                </a:solidFill>
              </a:rPr>
              <a:t>Budget implications are directional and require formal costing</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D2433"/>
                </a:solidFill>
              </a:rPr>
              <a:t>Causal claims are not made without an appropriate design</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B2D4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94360" y="411480"/>
            <a:ext cx="777240" cy="548640"/>
          </a:xfrm>
          <a:prstGeom prst="rect">
            <a:avLst/>
          </a:prstGeom>
        </p:spPr>
      </p:pic>
      <p:sp>
        <p:nvSpPr>
          <p:cNvPr id="3" name="Text 0"/>
          <p:cNvSpPr/>
          <p:nvPr/>
        </p:nvSpPr>
        <p:spPr>
          <a:xfrm>
            <a:off x="1508760" y="521208"/>
            <a:ext cx="2926080" cy="201168"/>
          </a:xfrm>
          <a:prstGeom prst="rect">
            <a:avLst/>
          </a:prstGeom>
          <a:noFill/>
          <a:ln/>
        </p:spPr>
        <p:txBody>
          <a:bodyPr wrap="square" lIns="0" tIns="0" rIns="0" bIns="0" rtlCol="0" anchor="ctr"/>
          <a:lstStyle/>
          <a:p>
            <a:pPr indent="0" marL="0">
              <a:buNone/>
            </a:pPr>
            <a:r>
              <a:rPr lang="en-US" sz="1100" b="1" dirty="0">
                <a:solidFill>
                  <a:srgbClr val="FFFFFF"/>
                </a:solidFill>
              </a:rPr>
              <a:t>VOICEINSIGHTS AFRICA</a:t>
            </a:r>
            <a:endParaRPr lang="en-US" sz="1100" dirty="0"/>
          </a:p>
        </p:txBody>
      </p:sp>
      <p:sp>
        <p:nvSpPr>
          <p:cNvPr id="4" name="Text 1"/>
          <p:cNvSpPr/>
          <p:nvPr/>
        </p:nvSpPr>
        <p:spPr>
          <a:xfrm>
            <a:off x="594360" y="1965960"/>
            <a:ext cx="7589520" cy="1005840"/>
          </a:xfrm>
          <a:prstGeom prst="rect">
            <a:avLst/>
          </a:prstGeom>
          <a:noFill/>
          <a:ln/>
        </p:spPr>
        <p:txBody>
          <a:bodyPr wrap="square" lIns="0" tIns="0" rIns="0" bIns="0" rtlCol="0" anchor="ctr"/>
          <a:lstStyle/>
          <a:p>
            <a:pPr indent="0" marL="0">
              <a:buNone/>
            </a:pPr>
            <a:r>
              <a:rPr lang="en-US" sz="3000" b="1" dirty="0">
                <a:solidFill>
                  <a:srgbClr val="FFFFFF"/>
                </a:solidFill>
              </a:rPr>
              <a:t>From every voice to an accountable decision</a:t>
            </a:r>
            <a:endParaRPr lang="en-US" sz="3000" dirty="0"/>
          </a:p>
        </p:txBody>
      </p:sp>
      <p:sp>
        <p:nvSpPr>
          <p:cNvPr id="5" name="Text 2"/>
          <p:cNvSpPr/>
          <p:nvPr/>
        </p:nvSpPr>
        <p:spPr>
          <a:xfrm>
            <a:off x="594360" y="3337560"/>
            <a:ext cx="6400800" cy="320040"/>
          </a:xfrm>
          <a:prstGeom prst="rect">
            <a:avLst/>
          </a:prstGeom>
          <a:noFill/>
          <a:ln/>
        </p:spPr>
        <p:txBody>
          <a:bodyPr wrap="square" lIns="0" tIns="0" rIns="0" bIns="0" rtlCol="0" anchor="ctr"/>
          <a:lstStyle/>
          <a:p>
            <a:pPr indent="0" marL="0">
              <a:buNone/>
            </a:pPr>
            <a:r>
              <a:rPr lang="en-US" sz="1700" dirty="0">
                <a:solidFill>
                  <a:srgbClr val="00A896"/>
                </a:solidFill>
              </a:rPr>
              <a:t>Every Voice. Every Language. Every Insight.</a:t>
            </a:r>
            <a:endParaRPr lang="en-US" sz="1700" dirty="0"/>
          </a:p>
        </p:txBody>
      </p:sp>
      <p:sp>
        <p:nvSpPr>
          <p:cNvPr id="6" name="Shape 3"/>
          <p:cNvSpPr/>
          <p:nvPr/>
        </p:nvSpPr>
        <p:spPr>
          <a:xfrm>
            <a:off x="9235440" y="0"/>
            <a:ext cx="2956255" cy="6858000"/>
          </a:xfrm>
          <a:prstGeom prst="rect">
            <a:avLst/>
          </a:prstGeom>
          <a:solidFill>
            <a:srgbClr val="07883F"/>
          </a:solidFill>
          <a:ln w="12700">
            <a:solidFill>
              <a:srgbClr val="07883F"/>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VoiceInsights Africa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Evidence Explorer Report</dc:title>
  <dc:subject>Synthetic Demonstration Publication</dc:subject>
  <dc:creator>VoiceInsights Africa</dc:creator>
  <cp:lastModifiedBy>VoiceInsights Africa</cp:lastModifiedBy>
  <cp:revision>1</cp:revision>
  <dcterms:created xsi:type="dcterms:W3CDTF">2026-07-12T22:51:26Z</dcterms:created>
  <dcterms:modified xsi:type="dcterms:W3CDTF">2026-07-12T22:51:26Z</dcterms:modified>
</cp:coreProperties>
</file>