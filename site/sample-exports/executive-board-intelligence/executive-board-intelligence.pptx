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IdLst>
    <p:sldId id="256" r:id="rId1"/>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Lst>
  <p:sldSz cx="12192000" cy="6858000" type="screen16x9"/>
  <p:notesSz cx="6858000" cy="9144000"/>
</p:presentation>
</file>

<file path=ppt/_rels/presentation.xml.rels><?xml version="1.0" encoding="UTF-8" standalone="yes"?><Relationships xmlns="http://schemas.openxmlformats.org/package/2006/relationships"><Relationship Id="rId1" Type="http://schemas.openxmlformats.org/officeDocument/2006/relationships/slide" Target="slides/slide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07251D"/>
          </a:solidFill>
          <a:ln>
            <a:noFill/>
          </a:ln>
        </p:spPr>
      </p:sp>
      <p:sp>
        <p:nvSpPr>
          <p:cNvPr id="3" name="Top rule"/>
          <p:cNvSpPr/>
          <p:nvPr/>
        </p:nvSpPr>
        <p:spPr>
          <a:xfrm>
            <a:off x="0" y="0"/>
            <a:ext cx="12192000" cy="70000"/>
          </a:xfrm>
          <a:prstGeom prst="rect">
            <a:avLst/>
          </a:prstGeom>
          <a:solidFill>
            <a:srgbClr val="D4AF37"/>
          </a:solidFill>
          <a:ln>
            <a:noFill/>
          </a:ln>
        </p:spPr>
      </p:sp>
      <p:sp>
        <p:nvSpPr>
          <p:cNvPr id="4" name="Accent panel"/>
          <p:cNvSpPr/>
          <p:nvPr/>
        </p:nvSpPr>
        <p:spPr>
          <a:xfrm>
            <a:off x="9300000" y="0"/>
            <a:ext cx="2892000" cy="6858000"/>
          </a:xfrm>
          <a:prstGeom prst="rect">
            <a:avLst/>
          </a:prstGeom>
          <a:solidFill>
            <a:srgbClr val="0B6E4F"/>
          </a:solidFill>
          <a:ln>
            <a:noFill/>
          </a:ln>
        </p:spPr>
      </p:sp>
      <p:sp>
        <p:nvSpPr>
          <p:cNvPr id="5" name="Gold rule"/>
          <p:cNvSpPr/>
          <p:nvPr/>
        </p:nvSpPr>
        <p:spPr>
          <a:xfrm>
            <a:off x="8880000" y="0"/>
            <a:ext cx="120000" cy="6858000"/>
          </a:xfrm>
          <a:prstGeom prst="rect">
            <a:avLst/>
          </a:prstGeom>
          <a:solidFill>
            <a:srgbClr val="D4AF37"/>
          </a:solidFill>
          <a:ln>
            <a:noFill/>
          </a:ln>
        </p:spPr>
      </p:sp>
      <p:sp>
        <p:nvSpPr>
          <p:cNvPr id="6" name="VoiceInsights logo bar 1"/>
          <p:cNvSpPr/>
          <p:nvPr/>
        </p:nvSpPr>
        <p:spPr>
          <a:xfrm>
            <a:off x="640000" y="400000"/>
            <a:ext cx="90000" cy="180000"/>
          </a:xfrm>
          <a:prstGeom prst="roundRect">
            <a:avLst/>
          </a:prstGeom>
          <a:solidFill>
            <a:srgbClr val="0B6E4F"/>
          </a:solidFill>
          <a:ln>
            <a:noFill/>
          </a:ln>
        </p:spPr>
      </p:sp>
      <p:sp>
        <p:nvSpPr>
          <p:cNvPr id="7" name="VoiceInsights logo bar 2"/>
          <p:cNvSpPr/>
          <p:nvPr/>
        </p:nvSpPr>
        <p:spPr>
          <a:xfrm>
            <a:off x="800000" y="315000"/>
            <a:ext cx="110000" cy="350000"/>
          </a:xfrm>
          <a:prstGeom prst="roundRect">
            <a:avLst/>
          </a:prstGeom>
          <a:solidFill>
            <a:srgbClr val="0B6E4F"/>
          </a:solidFill>
          <a:ln>
            <a:noFill/>
          </a:ln>
        </p:spPr>
      </p:sp>
      <p:sp>
        <p:nvSpPr>
          <p:cNvPr id="8" name="VoiceInsights logo bar 3"/>
          <p:cNvSpPr/>
          <p:nvPr/>
        </p:nvSpPr>
        <p:spPr>
          <a:xfrm>
            <a:off x="980000" y="210000"/>
            <a:ext cx="125000" cy="560000"/>
          </a:xfrm>
          <a:prstGeom prst="roundRect">
            <a:avLst/>
          </a:prstGeom>
          <a:solidFill>
            <a:srgbClr val="0B6E4F"/>
          </a:solidFill>
          <a:ln>
            <a:noFill/>
          </a:ln>
        </p:spPr>
      </p:sp>
      <p:sp>
        <p:nvSpPr>
          <p:cNvPr id="9" name="VoiceInsights logo bar 4"/>
          <p:cNvSpPr/>
          <p:nvPr/>
        </p:nvSpPr>
        <p:spPr>
          <a:xfrm>
            <a:off x="1175000" y="315000"/>
            <a:ext cx="110000" cy="350000"/>
          </a:xfrm>
          <a:prstGeom prst="roundRect">
            <a:avLst/>
          </a:prstGeom>
          <a:solidFill>
            <a:srgbClr val="0B6E4F"/>
          </a:solidFill>
          <a:ln>
            <a:noFill/>
          </a:ln>
        </p:spPr>
      </p:sp>
      <p:sp>
        <p:nvSpPr>
          <p:cNvPr id="10" name="VoiceInsights logo bar 5"/>
          <p:cNvSpPr/>
          <p:nvPr/>
        </p:nvSpPr>
        <p:spPr>
          <a:xfrm>
            <a:off x="1355000" y="400000"/>
            <a:ext cx="90000" cy="180000"/>
          </a:xfrm>
          <a:prstGeom prst="roundRect">
            <a:avLst/>
          </a:prstGeom>
          <a:solidFill>
            <a:srgbClr val="0B6E4F"/>
          </a:solidFill>
          <a:ln>
            <a:noFill/>
          </a:ln>
        </p:spPr>
      </p:sp>
      <p:sp>
        <p:nvSpPr>
          <p:cNvPr id="11"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FFFFFF"/>
                </a:solidFill>
                <a:latin typeface="Aptos"/>
              </a:rPr>
              <a:t>VOICEINSIGHTS AFRICA</a:t>
            </a:r>
          </a:p>
        </p:txBody>
      </p:sp>
      <p:sp>
        <p:nvSpPr>
          <p:cNvPr id="12" name="Classification"/>
          <p:cNvSpPr txBox="1"/>
          <p:nvPr/>
        </p:nvSpPr>
        <p:spPr>
          <a:xfrm>
            <a:off x="640000" y="1160000"/>
            <a:ext cx="7100000" cy="420000"/>
          </a:xfrm>
          <a:prstGeom prst="rect">
            <a:avLst/>
          </a:prstGeom>
          <a:noFill/>
          <a:ln>
            <a:noFill/>
          </a:ln>
        </p:spPr>
        <p:txBody>
          <a:bodyPr wrap="square" anchor="t" lIns="0" rIns="0" tIns="0" bIns="0"/>
          <a:lstStyle/>
          <a:p>
            <a:pPr algn="l"/>
            <a:r>
              <a:rPr lang="en-US" sz="1250" b="1">
                <a:solidFill>
                  <a:srgbClr val="D4AF37"/>
                </a:solidFill>
                <a:latin typeface="Aptos"/>
              </a:rPr>
              <a:t>FLAGSHIP SYNTHETIC DEMONSTRATION PUBLICATION</a:t>
            </a:r>
          </a:p>
        </p:txBody>
      </p:sp>
      <p:sp>
        <p:nvSpPr>
          <p:cNvPr id="13" name="Title"/>
          <p:cNvSpPr txBox="1"/>
          <p:nvPr/>
        </p:nvSpPr>
        <p:spPr>
          <a:xfrm>
            <a:off x="640000" y="1760000"/>
            <a:ext cx="7600000" cy="1900000"/>
          </a:xfrm>
          <a:prstGeom prst="rect">
            <a:avLst/>
          </a:prstGeom>
          <a:noFill/>
          <a:ln>
            <a:noFill/>
          </a:ln>
        </p:spPr>
        <p:txBody>
          <a:bodyPr wrap="square" anchor="t" lIns="0" rIns="0" tIns="0" bIns="0"/>
          <a:lstStyle/>
          <a:p>
            <a:pPr algn="l"/>
            <a:r>
              <a:rPr lang="en-US" sz="3600" b="1">
                <a:solidFill>
                  <a:srgbClr val="FFFFFF"/>
                </a:solidFill>
                <a:latin typeface="Aptos"/>
              </a:rPr>
              <a:t>Executive Board Intelligence Report</a:t>
            </a:r>
          </a:p>
        </p:txBody>
      </p:sp>
      <p:sp>
        <p:nvSpPr>
          <p:cNvPr id="14" name="Subtitle"/>
          <p:cNvSpPr txBox="1"/>
          <p:nvPr/>
        </p:nvSpPr>
        <p:spPr>
          <a:xfrm>
            <a:off x="640000" y="3900000"/>
            <a:ext cx="6900000" cy="450000"/>
          </a:xfrm>
          <a:prstGeom prst="rect">
            <a:avLst/>
          </a:prstGeom>
          <a:noFill/>
          <a:ln>
            <a:noFill/>
          </a:ln>
        </p:spPr>
        <p:txBody>
          <a:bodyPr wrap="square" anchor="t" lIns="0" rIns="0" tIns="0" bIns="0"/>
          <a:lstStyle/>
          <a:p>
            <a:pPr algn="l"/>
            <a:r>
              <a:rPr lang="en-US" sz="1800">
                <a:solidFill>
                  <a:srgbClr val="D8E5DF"/>
                </a:solidFill>
                <a:latin typeface="Aptos"/>
              </a:rPr>
              <a:t>South Africa | Enterprise Performance</a:t>
            </a:r>
          </a:p>
        </p:txBody>
      </p:sp>
      <p:sp>
        <p:nvSpPr>
          <p:cNvPr id="15" name="Prepared"/>
          <p:cNvSpPr txBox="1"/>
          <p:nvPr/>
        </p:nvSpPr>
        <p:spPr>
          <a:xfrm>
            <a:off x="640000" y="5000000"/>
            <a:ext cx="6500000" cy="760000"/>
          </a:xfrm>
          <a:prstGeom prst="rect">
            <a:avLst/>
          </a:prstGeom>
          <a:noFill/>
          <a:ln>
            <a:noFill/>
          </a:ln>
        </p:spPr>
        <p:txBody>
          <a:bodyPr wrap="square" anchor="t" lIns="0" rIns="0" tIns="0" bIns="0"/>
          <a:lstStyle/>
          <a:p>
            <a:pPr algn="l"/>
            <a:r>
              <a:rPr lang="en-US" sz="1450">
                <a:solidFill>
                  <a:srgbClr val="FFFFFF"/>
                </a:solidFill>
                <a:latin typeface="Aptos"/>
              </a:rPr>
              <a:t>Prepared by VoiceInsights Africa Every Voice. Every Language. Every Insight.</a:t>
            </a:r>
          </a:p>
        </p:txBody>
      </p:sp>
      <p:sp>
        <p:nvSpPr>
          <p:cNvPr id="16" name="Notice"/>
          <p:cNvSpPr txBox="1"/>
          <p:nvPr/>
        </p:nvSpPr>
        <p:spPr>
          <a:xfrm>
            <a:off x="9550000" y="5260000"/>
            <a:ext cx="2050000" cy="650000"/>
          </a:xfrm>
          <a:prstGeom prst="rect">
            <a:avLst/>
          </a:prstGeom>
          <a:noFill/>
          <a:ln>
            <a:noFill/>
          </a:ln>
        </p:spPr>
        <p:txBody>
          <a:bodyPr wrap="square" anchor="ctr" lIns="0" rIns="0" tIns="0" bIns="0"/>
          <a:lstStyle/>
          <a:p>
            <a:pPr algn="c"/>
            <a:r>
              <a:rPr lang="en-US" sz="1250" b="1">
                <a:solidFill>
                  <a:srgbClr val="FFFFFF"/>
                </a:solidFill>
                <a:latin typeface="Aptos"/>
              </a:rPr>
              <a:t>SYNTHETIC DATA Not official statistics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Five-minute leadership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Executive Intelligence Book</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executive brief: For the Board, the immediate task is narrowing — not reopening — the debate about where to act first in enterprise performance.</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decision snapshot: Approve a value-creation plan with quarterly board gates.</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decision snapshot: Exit structurally low-return activities.</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decision snapshot: Create one enterprise execution office.</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critical findings: Profitable growth quality</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What matters, why it matters and what must be decided</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Executive Brief</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summary: Progress on enterprise performance in South Africa is real, but it is not evenly shared. This publication traces where the gains are holding, where the risk is concentrated, and what remains within reach. Findings are linked to synthetic source records, recommendations carry named accountability fields, and all statistical claims are generated from one internally consistent dataset.</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decision: Approve a value-creation plan with quarterly board gates.</a:t>
            </a:r>
          </a:p>
        </p:txBody>
      </p:sp>
      <p:sp>
        <p:nvSpPr>
          <p:cNvPr id="18"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Accountable choices for leadership</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Priority Decisions</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Approve a value-creation plan with quarterly board gates.</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Exit structurally low-return activities.</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Create one enterprise execution office.</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Reduce the three largest unmanaged risk concentrations.</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Tie capital release to evidence-backed milestones.</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Evidence-backed signals requiring attention</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Critical Findings</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Profitable growth quality</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Operating leverage</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Strategic execution</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Enterprise risk concentration</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Capital allocation discipline</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Claim-to-source lineage and confidence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Evidence Intelligence Book</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“Why does Southern Africa lag behind? Ask rural women, and the answer comes back to profitable growth quality.”</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“Elsewhere, operating leverage might be a footnote. For young adults in East Africa, it is the whole story.”</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“Persons with disabilities in West Africa frame it simply: when strategic execution breaks down, everything else does too.”</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“In Central Functions, enterprise risk concentration shapes whether frontline workers can turn services into lasting outcomes.”</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“Low-income households in Southern Africa put it plainly: capital allocation discipline is what decides whether progress holds or slips back.”</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Evidence Intelligence</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evidence: “Why does Southern Africa lag behind? Ask rural women, and the answer comes back to profitable growth quality.”</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 “Elsewhere, operating leverage might be a footnote. For young adults in East Africa, it is the whole story.”</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 “Persons with disabilities in West Africa frame it simply: when strategic execution breaks down, everything else does too.”</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 “In Central Functions, enterprise risk concentration shapes whether frontline workers can turn services into lasting outcomes.”</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 “Low-income households in Southern Africa put it plainly: capital allocation discipline is what decides whether progress holds or slips back.”</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Sampling, weighting, uncertainty and reproducibility</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Statistical Intelligence</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sampling design: Stratified multi-stage synthetic demonstration design</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sampling frame: Synthetic frame covering programme-relevant population groups in South Africa</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Region</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Urban/rural</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Sex</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Prioritisation for management action</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Risk and Opportunity Matrix</a:t>
            </a:r>
          </a:p>
        </p:txBody>
      </p:sp>
      <p:sp>
        <p:nvSpPr>
          <p:cNvPr id="12" name="Risk panel"/>
          <p:cNvSpPr/>
          <p:nvPr/>
        </p:nvSpPr>
        <p:spPr>
          <a:xfrm>
            <a:off x="640000" y="2050000"/>
            <a:ext cx="5200000" cy="3400000"/>
          </a:xfrm>
          <a:prstGeom prst="roundRect">
            <a:avLst/>
          </a:prstGeom>
          <a:solidFill>
            <a:srgbClr val="FFF2F0"/>
          </a:solidFill>
          <a:ln w="12700">
            <a:solidFill>
              <a:srgbClr val="E7C5BF"/>
            </a:solidFill>
          </a:ln>
        </p:spPr>
      </p:sp>
      <p:sp>
        <p:nvSpPr>
          <p:cNvPr id="13" name="Opportunity panel"/>
          <p:cNvSpPr/>
          <p:nvPr/>
        </p:nvSpPr>
        <p:spPr>
          <a:xfrm>
            <a:off x="5980000" y="2050000"/>
            <a:ext cx="5200000" cy="3400000"/>
          </a:xfrm>
          <a:prstGeom prst="roundRect">
            <a:avLst/>
          </a:prstGeom>
          <a:solidFill>
            <a:srgbClr val="ECF7F1"/>
          </a:solidFill>
          <a:ln w="12700">
            <a:solidFill>
              <a:srgbClr val="B8DCCB"/>
            </a:solidFill>
          </a:ln>
        </p:spPr>
      </p:sp>
      <p:sp>
        <p:nvSpPr>
          <p:cNvPr id="14" name="Risk title"/>
          <p:cNvSpPr txBox="1"/>
          <p:nvPr/>
        </p:nvSpPr>
        <p:spPr>
          <a:xfrm>
            <a:off x="940000" y="2320000"/>
            <a:ext cx="4400000" cy="330000"/>
          </a:xfrm>
          <a:prstGeom prst="rect">
            <a:avLst/>
          </a:prstGeom>
          <a:noFill/>
          <a:ln>
            <a:noFill/>
          </a:ln>
        </p:spPr>
        <p:txBody>
          <a:bodyPr wrap="square" anchor="t" lIns="0" rIns="0" tIns="0" bIns="0"/>
          <a:lstStyle/>
          <a:p>
            <a:pPr algn="l"/>
            <a:r>
              <a:rPr lang="en-US" sz="1350" b="1">
                <a:solidFill>
                  <a:srgbClr val="A33A2B"/>
                </a:solidFill>
                <a:latin typeface="Aptos"/>
              </a:rPr>
              <a:t>CRITICAL RISKS</a:t>
            </a:r>
          </a:p>
        </p:txBody>
      </p:sp>
      <p:sp>
        <p:nvSpPr>
          <p:cNvPr id="15" name="Opportunity title"/>
          <p:cNvSpPr txBox="1"/>
          <p:nvPr/>
        </p:nvSpPr>
        <p:spPr>
          <a:xfrm>
            <a:off x="6280000" y="2320000"/>
            <a:ext cx="4400000" cy="330000"/>
          </a:xfrm>
          <a:prstGeom prst="rect">
            <a:avLst/>
          </a:prstGeom>
          <a:noFill/>
          <a:ln>
            <a:noFill/>
          </a:ln>
        </p:spPr>
        <p:txBody>
          <a:bodyPr wrap="square" anchor="t" lIns="0" rIns="0" tIns="0" bIns="0"/>
          <a:lstStyle/>
          <a:p>
            <a:pPr algn="l"/>
            <a:r>
              <a:rPr lang="en-US" sz="1350" b="1">
                <a:solidFill>
                  <a:srgbClr val="0B6E4F"/>
                </a:solidFill>
                <a:latin typeface="Aptos"/>
              </a:rPr>
              <a:t>TOP OPPORTUNITIES</a:t>
            </a:r>
          </a:p>
        </p:txBody>
      </p:sp>
      <p:sp>
        <p:nvSpPr>
          <p:cNvPr id="16" name="Risks"/>
          <p:cNvSpPr txBox="1"/>
          <p:nvPr/>
        </p:nvSpPr>
        <p:spPr>
          <a:xfrm>
            <a:off x="940000" y="2850000"/>
            <a:ext cx="4400000" cy="2200000"/>
          </a:xfrm>
          <a:prstGeom prst="rect">
            <a:avLst/>
          </a:prstGeom>
          <a:noFill/>
          <a:ln>
            <a:noFill/>
          </a:ln>
        </p:spPr>
        <p:txBody>
          <a:bodyPr wrap="square" anchor="t" lIns="0" rIns="0" tIns="0" bIns="0"/>
          <a:lstStyle/>
          <a:p>
            <a:pPr algn="l"/>
            <a:r>
              <a:rPr lang="en-US" sz="1450">
                <a:solidFill>
                  <a:srgbClr val="532B25"/>
                </a:solidFill>
                <a:latin typeface="Aptos"/>
              </a:rPr>
              <a:t>1. Coordination gaps between the teams responsible for enterprise performance slow the pace of change 2. Delayed financing weakens delivery confidence in enterprise performance</a:t>
            </a:r>
          </a:p>
        </p:txBody>
      </p:sp>
      <p:sp>
        <p:nvSpPr>
          <p:cNvPr id="17" name="Opportunities"/>
          <p:cNvSpPr txBox="1"/>
          <p:nvPr/>
        </p:nvSpPr>
        <p:spPr>
          <a:xfrm>
            <a:off x="6280000" y="2850000"/>
            <a:ext cx="4400000" cy="2200000"/>
          </a:xfrm>
          <a:prstGeom prst="rect">
            <a:avLst/>
          </a:prstGeom>
          <a:noFill/>
          <a:ln>
            <a:noFill/>
          </a:ln>
        </p:spPr>
        <p:txBody>
          <a:bodyPr wrap="square" anchor="t" lIns="0" rIns="0" tIns="0" bIns="0"/>
          <a:lstStyle/>
          <a:p>
            <a:pPr algn="l"/>
            <a:r>
              <a:rPr lang="en-US" sz="1450">
                <a:solidFill>
                  <a:srgbClr val="164C3A"/>
                </a:solidFill>
                <a:latin typeface="Aptos"/>
              </a:rPr>
              <a:t>1. Evidence-led reallocation of resources already committed to enterprise performance 2. Closing the equity gap the evidence has already located 3. Targeted acceleration in the lowest-performing part of enterprise performance</a:t>
            </a:r>
          </a:p>
        </p:txBody>
      </p:sp>
      <p:sp>
        <p:nvSpPr>
          <p:cNvPr id="18"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09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International Standards</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framework: Responsible AI</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relevance: Applied where relevant to Enterprise Performance</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 ids: EVI-EXE-001</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 ids: EVI-EXE-002</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limitations: Synthetic demonstration mapping; institutional validation not implied</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OECD-DAC</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Synthetic evidence indicates a strong relevance signal, subject to the stated design limitations.</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Synthetic evidence indicates a moderate-to-strong coherence signal, subject to the stated design limitations.</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Synthetic evidence indicates a strong effectiveness signal, subject to the stated design limitations.</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Synthetic evidence indicates a moderate-to-strong efficiency signal, subject to the stated design limitations.</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Synthetic evidence indicates a strong impact signal, subject to the stated design limitations.</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Results-Based Management</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inputs: Governed synthetic data</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inputs: Delivery capacity</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inputs: Approved financing</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activities: Evidence collection</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activities: Segmented analysis</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Core Humanitarian Standard</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commitment number: 1</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commitment: CHS Commitment 1</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 ids: EVI-EXE-001</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status: CONTEXT ONLY</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action: Validate relevance and assign an accountable owner before live use.</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Immediate, medium-term and strategic action</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Implementation Roadmap</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Approve a value-creation plan with quarterly board gates.</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Exit structurally low-return activities.</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Create one enterprise execution office.</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Reduce the three largest unmanaged risk concentrations.</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Tie capital release to evidence-backed milestones.</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Evidence, statistical, visual and decision assurance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Publication Quality Gate</a:t>
            </a:r>
          </a:p>
        </p:txBody>
      </p:sp>
      <p:sp>
        <p:nvSpPr>
          <p:cNvPr id="12" name="Metric card 1"/>
          <p:cNvSpPr/>
          <p:nvPr/>
        </p:nvSpPr>
        <p:spPr>
          <a:xfrm>
            <a:off x="640000" y="2050000"/>
            <a:ext cx="2580000" cy="1500000"/>
          </a:xfrm>
          <a:prstGeom prst="roundRect">
            <a:avLst/>
          </a:prstGeom>
          <a:solidFill>
            <a:srgbClr val="FFFFFF"/>
          </a:solidFill>
          <a:ln w="12700">
            <a:solidFill>
              <a:srgbClr val="DCE7E2"/>
            </a:solidFill>
          </a:ln>
        </p:spPr>
      </p:sp>
      <p:sp>
        <p:nvSpPr>
          <p:cNvPr id="13" name="Metric value 1"/>
          <p:cNvSpPr txBox="1"/>
          <p:nvPr/>
        </p:nvSpPr>
        <p:spPr>
          <a:xfrm>
            <a:off x="820000" y="2300000"/>
            <a:ext cx="2220000" cy="550000"/>
          </a:xfrm>
          <a:prstGeom prst="rect">
            <a:avLst/>
          </a:prstGeom>
          <a:noFill/>
          <a:ln>
            <a:noFill/>
          </a:ln>
        </p:spPr>
        <p:txBody>
          <a:bodyPr wrap="square" anchor="t" lIns="0" rIns="0" tIns="0" bIns="0"/>
          <a:lstStyle/>
          <a:p>
            <a:pPr algn="l"/>
            <a:r>
              <a:rPr lang="en-US" sz="2700" b="1">
                <a:solidFill>
                  <a:srgbClr val="0B2E59"/>
                </a:solidFill>
                <a:latin typeface="Aptos"/>
              </a:rPr>
              <a:t>Passed</a:t>
            </a:r>
          </a:p>
        </p:txBody>
      </p:sp>
      <p:sp>
        <p:nvSpPr>
          <p:cNvPr id="14" name="Metric label 1"/>
          <p:cNvSpPr txBox="1"/>
          <p:nvPr/>
        </p:nvSpPr>
        <p:spPr>
          <a:xfrm>
            <a:off x="820000" y="3000000"/>
            <a:ext cx="2220000" cy="380000"/>
          </a:xfrm>
          <a:prstGeom prst="rect">
            <a:avLst/>
          </a:prstGeom>
          <a:noFill/>
          <a:ln>
            <a:noFill/>
          </a:ln>
        </p:spPr>
        <p:txBody>
          <a:bodyPr wrap="square" anchor="t" lIns="0" rIns="0" tIns="0" bIns="0"/>
          <a:lstStyle/>
          <a:p>
            <a:pPr algn="l"/>
            <a:r>
              <a:rPr lang="en-US" sz="1150" b="1">
                <a:solidFill>
                  <a:srgbClr val="52667A"/>
                </a:solidFill>
                <a:latin typeface="Aptos"/>
              </a:rPr>
              <a:t>Editorial Review Passed</a:t>
            </a:r>
          </a:p>
        </p:txBody>
      </p:sp>
      <p:sp>
        <p:nvSpPr>
          <p:cNvPr id="15" name="Metric card 2"/>
          <p:cNvSpPr/>
          <p:nvPr/>
        </p:nvSpPr>
        <p:spPr>
          <a:xfrm>
            <a:off x="3470000" y="2050000"/>
            <a:ext cx="2580000" cy="1500000"/>
          </a:xfrm>
          <a:prstGeom prst="roundRect">
            <a:avLst/>
          </a:prstGeom>
          <a:solidFill>
            <a:srgbClr val="FFFFFF"/>
          </a:solidFill>
          <a:ln w="12700">
            <a:solidFill>
              <a:srgbClr val="DCE7E2"/>
            </a:solidFill>
          </a:ln>
        </p:spPr>
      </p:sp>
      <p:sp>
        <p:nvSpPr>
          <p:cNvPr id="16" name="Metric value 2"/>
          <p:cNvSpPr txBox="1"/>
          <p:nvPr/>
        </p:nvSpPr>
        <p:spPr>
          <a:xfrm>
            <a:off x="3650000" y="2300000"/>
            <a:ext cx="2220000" cy="550000"/>
          </a:xfrm>
          <a:prstGeom prst="rect">
            <a:avLst/>
          </a:prstGeom>
          <a:noFill/>
          <a:ln>
            <a:noFill/>
          </a:ln>
        </p:spPr>
        <p:txBody>
          <a:bodyPr wrap="square" anchor="t" lIns="0" rIns="0" tIns="0" bIns="0"/>
          <a:lstStyle/>
          <a:p>
            <a:pPr algn="l"/>
            <a:r>
              <a:rPr lang="en-US" sz="2700" b="1">
                <a:solidFill>
                  <a:srgbClr val="0B2E59"/>
                </a:solidFill>
                <a:latin typeface="Aptos"/>
              </a:rPr>
              <a:t>Passed</a:t>
            </a:r>
          </a:p>
        </p:txBody>
      </p:sp>
      <p:sp>
        <p:nvSpPr>
          <p:cNvPr id="17" name="Metric label 2"/>
          <p:cNvSpPr txBox="1"/>
          <p:nvPr/>
        </p:nvSpPr>
        <p:spPr>
          <a:xfrm>
            <a:off x="3650000" y="3000000"/>
            <a:ext cx="2220000" cy="380000"/>
          </a:xfrm>
          <a:prstGeom prst="rect">
            <a:avLst/>
          </a:prstGeom>
          <a:noFill/>
          <a:ln>
            <a:noFill/>
          </a:ln>
        </p:spPr>
        <p:txBody>
          <a:bodyPr wrap="square" anchor="t" lIns="0" rIns="0" tIns="0" bIns="0"/>
          <a:lstStyle/>
          <a:p>
            <a:pPr algn="l"/>
            <a:r>
              <a:rPr lang="en-US" sz="1150" b="1">
                <a:solidFill>
                  <a:srgbClr val="52667A"/>
                </a:solidFill>
                <a:latin typeface="Aptos"/>
              </a:rPr>
              <a:t>Evidence Review Passed</a:t>
            </a:r>
          </a:p>
        </p:txBody>
      </p:sp>
      <p:sp>
        <p:nvSpPr>
          <p:cNvPr id="18" name="Metric card 3"/>
          <p:cNvSpPr/>
          <p:nvPr/>
        </p:nvSpPr>
        <p:spPr>
          <a:xfrm>
            <a:off x="6300000" y="2050000"/>
            <a:ext cx="2580000" cy="1500000"/>
          </a:xfrm>
          <a:prstGeom prst="roundRect">
            <a:avLst/>
          </a:prstGeom>
          <a:solidFill>
            <a:srgbClr val="FFFFFF"/>
          </a:solidFill>
          <a:ln w="12700">
            <a:solidFill>
              <a:srgbClr val="DCE7E2"/>
            </a:solidFill>
          </a:ln>
        </p:spPr>
      </p:sp>
      <p:sp>
        <p:nvSpPr>
          <p:cNvPr id="19" name="Metric value 3"/>
          <p:cNvSpPr txBox="1"/>
          <p:nvPr/>
        </p:nvSpPr>
        <p:spPr>
          <a:xfrm>
            <a:off x="6480000" y="2300000"/>
            <a:ext cx="2220000" cy="550000"/>
          </a:xfrm>
          <a:prstGeom prst="rect">
            <a:avLst/>
          </a:prstGeom>
          <a:noFill/>
          <a:ln>
            <a:noFill/>
          </a:ln>
        </p:spPr>
        <p:txBody>
          <a:bodyPr wrap="square" anchor="t" lIns="0" rIns="0" tIns="0" bIns="0"/>
          <a:lstStyle/>
          <a:p>
            <a:pPr algn="l"/>
            <a:r>
              <a:rPr lang="en-US" sz="2700" b="1">
                <a:solidFill>
                  <a:srgbClr val="0B2E59"/>
                </a:solidFill>
                <a:latin typeface="Aptos"/>
              </a:rPr>
              <a:t>Passed</a:t>
            </a:r>
          </a:p>
        </p:txBody>
      </p:sp>
      <p:sp>
        <p:nvSpPr>
          <p:cNvPr id="20" name="Metric label 3"/>
          <p:cNvSpPr txBox="1"/>
          <p:nvPr/>
        </p:nvSpPr>
        <p:spPr>
          <a:xfrm>
            <a:off x="6480000" y="3000000"/>
            <a:ext cx="2220000" cy="380000"/>
          </a:xfrm>
          <a:prstGeom prst="rect">
            <a:avLst/>
          </a:prstGeom>
          <a:noFill/>
          <a:ln>
            <a:noFill/>
          </a:ln>
        </p:spPr>
        <p:txBody>
          <a:bodyPr wrap="square" anchor="t" lIns="0" rIns="0" tIns="0" bIns="0"/>
          <a:lstStyle/>
          <a:p>
            <a:pPr algn="l"/>
            <a:r>
              <a:rPr lang="en-US" sz="1150" b="1">
                <a:solidFill>
                  <a:srgbClr val="52667A"/>
                </a:solidFill>
                <a:latin typeface="Aptos"/>
              </a:rPr>
              <a:t>Publication Integrity Verified</a:t>
            </a:r>
          </a:p>
        </p:txBody>
      </p:sp>
      <p:sp>
        <p:nvSpPr>
          <p:cNvPr id="21" name="Metric card 4"/>
          <p:cNvSpPr/>
          <p:nvPr/>
        </p:nvSpPr>
        <p:spPr>
          <a:xfrm>
            <a:off x="9130000" y="2050000"/>
            <a:ext cx="2580000" cy="1500000"/>
          </a:xfrm>
          <a:prstGeom prst="roundRect">
            <a:avLst/>
          </a:prstGeom>
          <a:solidFill>
            <a:srgbClr val="FFFFFF"/>
          </a:solidFill>
          <a:ln w="12700">
            <a:solidFill>
              <a:srgbClr val="DCE7E2"/>
            </a:solidFill>
          </a:ln>
        </p:spPr>
      </p:sp>
      <p:sp>
        <p:nvSpPr>
          <p:cNvPr id="22" name="Metric value 4"/>
          <p:cNvSpPr txBox="1"/>
          <p:nvPr/>
        </p:nvSpPr>
        <p:spPr>
          <a:xfrm>
            <a:off x="9310000" y="2300000"/>
            <a:ext cx="2220000" cy="550000"/>
          </a:xfrm>
          <a:prstGeom prst="rect">
            <a:avLst/>
          </a:prstGeom>
          <a:noFill/>
          <a:ln>
            <a:noFill/>
          </a:ln>
        </p:spPr>
        <p:txBody>
          <a:bodyPr wrap="square" anchor="t" lIns="0" rIns="0" tIns="0" bIns="0"/>
          <a:lstStyle/>
          <a:p>
            <a:pPr algn="l"/>
            <a:r>
              <a:rPr lang="en-US" sz="2700" b="1">
                <a:solidFill>
                  <a:srgbClr val="0B2E59"/>
                </a:solidFill>
                <a:latin typeface="Aptos"/>
              </a:rPr>
              <a:t>Passed</a:t>
            </a:r>
          </a:p>
        </p:txBody>
      </p:sp>
      <p:sp>
        <p:nvSpPr>
          <p:cNvPr id="23" name="Metric label 4"/>
          <p:cNvSpPr txBox="1"/>
          <p:nvPr/>
        </p:nvSpPr>
        <p:spPr>
          <a:xfrm>
            <a:off x="9310000" y="3000000"/>
            <a:ext cx="2220000" cy="380000"/>
          </a:xfrm>
          <a:prstGeom prst="rect">
            <a:avLst/>
          </a:prstGeom>
          <a:noFill/>
          <a:ln>
            <a:noFill/>
          </a:ln>
        </p:spPr>
        <p:txBody>
          <a:bodyPr wrap="square" anchor="t" lIns="0" rIns="0" tIns="0" bIns="0"/>
          <a:lstStyle/>
          <a:p>
            <a:pPr algn="l"/>
            <a:r>
              <a:rPr lang="en-US" sz="1150" b="1">
                <a:solidFill>
                  <a:srgbClr val="52667A"/>
                </a:solidFill>
                <a:latin typeface="Aptos"/>
              </a:rPr>
              <a:t>Accessibility Verified</a:t>
            </a:r>
          </a:p>
        </p:txBody>
      </p:sp>
      <p:sp>
        <p:nvSpPr>
          <p:cNvPr id="24"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Visual Intelligence</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visualizations: Executive Kpi Cards: Risk-adjusted growth</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visualizations: Regional Heat Map: Operating leverage</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visualizations: Choropleth Map: Strategic milestone attainment</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visualizations: Risk Matrix: Return on invested capital</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visualizations: Decision Matrix: Risk-adjusted growth</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Accessibility Assurance</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wcag target: WCAG 2.2 AA</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tagged pdf required: true</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alt text required: true</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table fallback required: true</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keyboard navigation required: true</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Publication Products</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exports: Premium PDF</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exports: Editable Word</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exports: Native PowerPoint</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exports: Statistical Excel</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exports: Board Deck</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Methodology</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research objectives: Assess enterprise performance and equity</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research objectives: Identify operational drivers and decision priorities</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evaluation questions: What outcomes are changing?</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evaluation questions: Who is being left behind?</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evaluation questions: Which actions are most likely to improve performance?</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Sampling Design</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sampling design: Stratified multi-stage synthetic demonstration design</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sampling frame: Synthetic frame covering programme-relevant population groups in South Africa</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Region</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Urban/rural</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Sex</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Weighting and Uncertainty</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sampling design: Stratified multi-stage synthetic demonstration design</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sampling frame: Synthetic frame covering programme-relevant population groups in South Africa</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Region</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Urban/rural</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Sex</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Reliability and Validity</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sampling design: Stratified multi-stage synthetic demonstration design</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sampling frame: Synthetic frame covering programme-relevant population groups in South Africa</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Region</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Urban/rural</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Sex</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Missing Data and Outliers</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sampling design: Stratified multi-stage synthetic demonstration design</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sampling frame: Synthetic frame covering programme-relevant population groups in South Africa</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Region</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Urban/rural</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Sex</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Regional Intelligence Map</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visual: Choropleth Map: Strategic milestone attainment</a:t>
            </a:r>
          </a:p>
        </p:txBody>
      </p:sp>
      <p:sp>
        <p:nvSpPr>
          <p:cNvPr id="15"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Performance Heat Map</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visual: Regional Heat Map: Operating leverage</a:t>
            </a:r>
          </a:p>
        </p:txBody>
      </p:sp>
      <p:sp>
        <p:nvSpPr>
          <p:cNvPr id="15"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Risk Matrix</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risk: Coordination gaps between the teams responsible for enterprise performance slow the pace of change</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likelihood: Medium</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impact: Medium</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risk: Delayed financing weakens delivery confidence in enterprise performance</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likelihood: Medium</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Decision Matrix</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Approve a value-creation plan with quarterly board gates.</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Exit structurally low-return activities.</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Create one enterprise execution office.</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Reduce the three largest unmanaged risk concentrations.</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Tie capital release to evidence-backed milestones.</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Opportunity Matrix</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Evidence-led reallocation of resources already committed to enterprise performance</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Closing the equity gap the evidence has already located</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Targeted acceleration in the lowest-performing part of enterprise performance</a:t>
            </a:r>
          </a:p>
        </p:txBody>
      </p:sp>
      <p:sp>
        <p:nvSpPr>
          <p:cNvPr id="21"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Cost of Inaction</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narrative: The synthetic evidence indicates that inaction on enterprise performance would not simply preserve the status quo — it would let the weakest-performing groups fall further behind.</a:t>
            </a:r>
          </a:p>
        </p:txBody>
      </p:sp>
      <p:sp>
        <p:nvSpPr>
          <p:cNvPr id="15"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Ownership Matrix</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DEC-EXE-01</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DEC-EXE-02</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DEC-EXE-03</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DEC-EXE-04</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DEC-EXE-05</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Implementation Roadmap</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Approve a value-creation plan with quarterly board gates.</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Exit structurally low-return activities.</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Create one enterprise execution office.</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Reduce the three largest unmanaged risk concentrations.</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Tie capital release to evidence-backed milestones.</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Data Dictionary</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variable: indicator 1</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label: Synthetic Enterprise Performance indicator 1</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type: numeric</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allowed values: 0–100</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missing code: NA</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Appendices</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Technical methodology</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Sampling and weighting</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 registry</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Statistical tables</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Data dictionary</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Responsible interpretation</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Limitations and Integrity</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All content is synthetic and must not be interpreted as official statistics</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Geographic references are illustrative</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Budget implications are directional and require formal costing</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Causal claims are not made without an appropriate design</a:t>
            </a:r>
          </a:p>
        </p:txBody>
      </p:sp>
      <p:sp>
        <p:nvSpPr>
          <p:cNvPr id="24"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34</a:t>
            </a:r>
          </a:p>
        </p:txBody>
      </p:sp>
    </p:spTree>
  </p:cSld>
  <p:clrMapOvr>
    <a:masterClrMapping/>
  </p:clrMapOvr>
</p:sld>
</file>

<file path=docProps/app.xml><?xml version="1.0" encoding="utf-8"?>
<Properties xmlns="http://schemas.openxmlformats.org/officeDocument/2006/extended-properties">
  <Application>VoiceInsights Africa</Application>
  <Slides>34</Slides>
</Properties>
</file>

<file path=docProps/core.xml><?xml version="1.0" encoding="utf-8"?>
<cp:coreProperties xmlns:cp="http://schemas.openxmlformats.org/package/2006/metadata/core-properties" xmlns:dc="http://purl.org/dc/elements/1.1/">
  <dc:title>Executive Board Intelligence Report</dc:title>
  <dc:creator>VoiceInsights Africa</dc:creator>
</cp:coreProperties>
</file>