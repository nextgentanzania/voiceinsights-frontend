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p:bgPr>
    </p:bg>
    <p:spTree>
      <p:nvGrpSpPr>
        <p:cNvPr id="1" name=""/>
        <p:cNvGrpSpPr/>
        <p:nvPr/>
      </p:nvGrpSpPr>
      <p:grpSpPr>
        <a:xfrm>
          <a:off x="0" y="0"/>
          <a:ext cx="0" cy="0"/>
          <a:chOff x="0" y="0"/>
          <a:chExt cx="0" cy="0"/>
        </a:xfrm>
      </p:grpSpPr>
      <p:sp>
        <p:nvSpPr>
          <p:cNvPr id="2" name="Shape 0"/>
          <p:cNvSpPr/>
          <p:nvPr/>
        </p:nvSpPr>
        <p:spPr>
          <a:xfrm>
            <a:off x="9235440" y="0"/>
            <a:ext cx="2956255" cy="6858000"/>
          </a:xfrm>
          <a:prstGeom prst="rect">
            <a:avLst/>
          </a:prstGeom>
          <a:solidFill>
            <a:srgbClr val="07883F"/>
          </a:solidFill>
          <a:ln w="12700">
            <a:solidFill>
              <a:srgbClr val="07883F"/>
            </a:solidFill>
            <a:prstDash val="solid"/>
          </a:ln>
        </p:spPr>
      </p:sp>
      <p:sp>
        <p:nvSpPr>
          <p:cNvPr id="3" name="Shape 1"/>
          <p:cNvSpPr/>
          <p:nvPr/>
        </p:nvSpPr>
        <p:spPr>
          <a:xfrm>
            <a:off x="8823960" y="0"/>
            <a:ext cx="109728" cy="6858000"/>
          </a:xfrm>
          <a:prstGeom prst="rect">
            <a:avLst/>
          </a:prstGeom>
          <a:solidFill>
            <a:srgbClr val="D4AF37"/>
          </a:solidFill>
          <a:ln w="12700">
            <a:solidFill>
              <a:srgbClr val="D4AF37"/>
            </a:solidFill>
            <a:prstDash val="solid"/>
          </a:ln>
        </p:spPr>
      </p:sp>
      <p:sp>
        <p:nvSpPr>
          <p:cNvPr id="4" name="Shape 2"/>
          <p:cNvSpPr/>
          <p:nvPr/>
        </p:nvSpPr>
        <p:spPr>
          <a:xfrm>
            <a:off x="594360" y="1261872"/>
            <a:ext cx="1417320" cy="64008"/>
          </a:xfrm>
          <a:prstGeom prst="rect">
            <a:avLst/>
          </a:prstGeom>
          <a:solidFill>
            <a:srgbClr val="D4AF37"/>
          </a:solidFill>
          <a:ln w="12700">
            <a:solidFill>
              <a:srgbClr val="D4AF37"/>
            </a:solidFill>
            <a:prstDash val="solid"/>
          </a:ln>
        </p:spPr>
      </p:sp>
      <p:pic>
        <p:nvPicPr>
          <p:cNvPr id="5" name="Image 0" descr="preencoded.png">    </p:cNvPr>
          <p:cNvPicPr>
            <a:picLocks noChangeAspect="1"/>
          </p:cNvPicPr>
          <p:nvPr/>
        </p:nvPicPr>
        <p:blipFill>
          <a:blip r:embed="rId1"/>
          <a:stretch>
            <a:fillRect/>
          </a:stretch>
        </p:blipFill>
        <p:spPr>
          <a:xfrm>
            <a:off x="594360" y="320040"/>
            <a:ext cx="777240" cy="548640"/>
          </a:xfrm>
          <a:prstGeom prst="rect">
            <a:avLst/>
          </a:prstGeom>
        </p:spPr>
      </p:pic>
      <p:sp>
        <p:nvSpPr>
          <p:cNvPr id="6" name="Text 3"/>
          <p:cNvSpPr/>
          <p:nvPr/>
        </p:nvSpPr>
        <p:spPr>
          <a:xfrm>
            <a:off x="1508760" y="429768"/>
            <a:ext cx="2926080" cy="201168"/>
          </a:xfrm>
          <a:prstGeom prst="rect">
            <a:avLst/>
          </a:prstGeom>
          <a:noFill/>
          <a:ln/>
        </p:spPr>
        <p:txBody>
          <a:bodyPr wrap="square" lIns="0" tIns="0" rIns="0" bIns="0" rtlCol="0" anchor="ctr"/>
          <a:lstStyle/>
          <a:p>
            <a:pPr indent="0" marL="0">
              <a:buNone/>
            </a:pPr>
            <a:r>
              <a:rPr lang="en-US" sz="1100" b="1" dirty="0">
                <a:solidFill>
                  <a:srgbClr val="FFFFFF"/>
                </a:solidFill>
              </a:rPr>
              <a:t>VOICEINSIGHTS AFRICA</a:t>
            </a:r>
            <a:endParaRPr lang="en-US" sz="1100" dirty="0"/>
          </a:p>
        </p:txBody>
      </p:sp>
      <p:sp>
        <p:nvSpPr>
          <p:cNvPr id="7" name="Text 4"/>
          <p:cNvSpPr/>
          <p:nvPr/>
        </p:nvSpPr>
        <p:spPr>
          <a:xfrm>
            <a:off x="594360" y="1234440"/>
            <a:ext cx="7132320" cy="228600"/>
          </a:xfrm>
          <a:prstGeom prst="rect">
            <a:avLst/>
          </a:prstGeom>
          <a:noFill/>
          <a:ln/>
        </p:spPr>
        <p:txBody>
          <a:bodyPr wrap="square" lIns="0" tIns="0" rIns="0" bIns="0" rtlCol="0" anchor="ctr"/>
          <a:lstStyle/>
          <a:p>
            <a:pPr indent="0" marL="0">
              <a:buNone/>
            </a:pPr>
            <a:r>
              <a:rPr lang="en-US" sz="900" b="1" spc="100" kern="0" dirty="0">
                <a:solidFill>
                  <a:srgbClr val="D4AF37"/>
                </a:solidFill>
              </a:rPr>
              <a:t>FLAGSHIP SYNTHETIC DEMONSTRATION PUBLICATION | COVER 5</a:t>
            </a:r>
            <a:endParaRPr lang="en-US" sz="900" dirty="0"/>
          </a:p>
        </p:txBody>
      </p:sp>
      <p:sp>
        <p:nvSpPr>
          <p:cNvPr id="8" name="Text 5"/>
          <p:cNvSpPr/>
          <p:nvPr/>
        </p:nvSpPr>
        <p:spPr>
          <a:xfrm>
            <a:off x="594360" y="1828800"/>
            <a:ext cx="7589520" cy="1371600"/>
          </a:xfrm>
          <a:prstGeom prst="rect">
            <a:avLst/>
          </a:prstGeom>
          <a:noFill/>
          <a:ln/>
        </p:spPr>
        <p:txBody>
          <a:bodyPr wrap="square" lIns="0" tIns="0" rIns="0" bIns="0" rtlCol="0" anchor="ctr"/>
          <a:lstStyle/>
          <a:p>
            <a:pPr indent="0" marL="0">
              <a:buNone/>
            </a:pPr>
            <a:r>
              <a:rPr lang="en-US" sz="3000" b="1" dirty="0">
                <a:solidFill>
                  <a:srgbClr val="FFFFFF"/>
                </a:solidFill>
              </a:rPr>
              <a:t>Executive Board Intelligence Report</a:t>
            </a:r>
            <a:endParaRPr lang="en-US" sz="3000" dirty="0"/>
          </a:p>
        </p:txBody>
      </p:sp>
      <p:sp>
        <p:nvSpPr>
          <p:cNvPr id="9" name="Text 6"/>
          <p:cNvSpPr/>
          <p:nvPr/>
        </p:nvSpPr>
        <p:spPr>
          <a:xfrm>
            <a:off x="594360" y="3566160"/>
            <a:ext cx="5943600" cy="320040"/>
          </a:xfrm>
          <a:prstGeom prst="rect">
            <a:avLst/>
          </a:prstGeom>
          <a:noFill/>
          <a:ln/>
        </p:spPr>
        <p:txBody>
          <a:bodyPr wrap="square" lIns="0" tIns="0" rIns="0" bIns="0" rtlCol="0" anchor="ctr"/>
          <a:lstStyle/>
          <a:p>
            <a:pPr indent="0" marL="0">
              <a:buNone/>
            </a:pPr>
            <a:r>
              <a:rPr lang="en-US" sz="1600" dirty="0">
                <a:solidFill>
                  <a:srgbClr val="DDE9E4"/>
                </a:solidFill>
              </a:rPr>
              <a:t>South Africa | Enterprise Performance</a:t>
            </a:r>
            <a:endParaRPr lang="en-US" sz="1600" dirty="0"/>
          </a:p>
        </p:txBody>
      </p:sp>
      <p:sp>
        <p:nvSpPr>
          <p:cNvPr id="10" name="Text 7"/>
          <p:cNvSpPr/>
          <p:nvPr/>
        </p:nvSpPr>
        <p:spPr>
          <a:xfrm>
            <a:off x="594360" y="4526280"/>
            <a:ext cx="6035040" cy="640080"/>
          </a:xfrm>
          <a:prstGeom prst="rect">
            <a:avLst/>
          </a:prstGeom>
          <a:noFill/>
          <a:ln/>
        </p:spPr>
        <p:txBody>
          <a:bodyPr wrap="square" lIns="0" tIns="0" rIns="0" bIns="0" rtlCol="0" anchor="ctr"/>
          <a:lstStyle/>
          <a:p>
            <a:pPr indent="0" marL="0">
              <a:buNone/>
            </a:pPr>
            <a:r>
              <a:rPr lang="en-US" sz="1100" dirty="0">
                <a:solidFill>
                  <a:srgbClr val="FFFFFF"/>
                </a:solidFill>
              </a:rPr>
              <a:t>Prepared by VoiceInsights Africa</a:t>
            </a:r>
            <a:endParaRPr lang="en-US" sz="1100" dirty="0"/>
          </a:p>
          <a:p>
            <a:pPr indent="0" marL="0">
              <a:buNone/>
            </a:pPr>
            <a:r>
              <a:rPr lang="en-US" sz="1100" dirty="0">
                <a:solidFill>
                  <a:srgbClr val="FFFFFF"/>
                </a:solidFill>
              </a:rPr>
              <a:t>Every Voice. Every Language. Every Insight.</a:t>
            </a:r>
            <a:endParaRPr lang="en-US" sz="1100" dirty="0"/>
          </a:p>
        </p:txBody>
      </p:sp>
      <p:sp>
        <p:nvSpPr>
          <p:cNvPr id="11" name="Text 8"/>
          <p:cNvSpPr/>
          <p:nvPr/>
        </p:nvSpPr>
        <p:spPr>
          <a:xfrm>
            <a:off x="9555480" y="5394960"/>
            <a:ext cx="2194560" cy="640080"/>
          </a:xfrm>
          <a:prstGeom prst="rect">
            <a:avLst/>
          </a:prstGeom>
          <a:noFill/>
          <a:ln/>
        </p:spPr>
        <p:txBody>
          <a:bodyPr wrap="square" lIns="0" tIns="0" rIns="0" bIns="0" rtlCol="0" anchor="ctr"/>
          <a:lstStyle/>
          <a:p>
            <a:pPr algn="ctr" indent="0" marL="0">
              <a:buNone/>
            </a:pPr>
            <a:r>
              <a:rPr lang="en-US" sz="1100" b="1" dirty="0">
                <a:solidFill>
                  <a:srgbClr val="FFFFFF"/>
                </a:solidFill>
              </a:rPr>
              <a:t>SYNTHETIC DATA</a:t>
            </a:r>
            <a:endParaRPr lang="en-US" sz="1100" dirty="0"/>
          </a:p>
          <a:p>
            <a:pPr algn="ctr" indent="0" marL="0">
              <a:buNone/>
            </a:pPr>
            <a:r>
              <a:rPr lang="en-US" sz="1100" b="1" dirty="0">
                <a:solidFill>
                  <a:srgbClr val="FFFFFF"/>
                </a:solidFill>
              </a:rPr>
              <a:t>Not official statistics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EXECUTIVE BRIEF</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11827"/>
                </a:solidFill>
              </a:rPr>
              <a:t>The decision in five minutes</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02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11827"/>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11827"/>
                </a:solidFill>
              </a:rPr>
              <a:t>This flagship synthetic demonstration publication examines enterprise performance performance in South Africa. The governed evidence model identifies uneven progress, concentrated risks and actionable opportunities. Findings are linked to synthetic source records, recommendations carry named accountability fields, and all statistical claims are generated from one internally consistent dataset.</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11827"/>
                </a:solidFill>
              </a:rPr>
              <a:t>Approve a value-creation plan with quarterly board gates for enterprise performance.</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11827"/>
                </a:solidFill>
              </a:rPr>
              <a:t>Improvement is achievable within 12–18 months if ownership, resourcing and evidence review are maintained.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PERFORMANCE AND CONFIDENCE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11827"/>
                </a:solidFill>
              </a:rPr>
              <a:t>Executive dashboard</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03 | Synthetic Demonstration Publication</a:t>
            </a:r>
            <a:endParaRPr lang="en-US" sz="700" dirty="0"/>
          </a:p>
        </p:txBody>
      </p:sp>
      <p:sp>
        <p:nvSpPr>
          <p:cNvPr id="8" name="Shape 5"/>
          <p:cNvSpPr/>
          <p:nvPr/>
        </p:nvSpPr>
        <p:spPr>
          <a:xfrm>
            <a:off x="548640" y="1874520"/>
            <a:ext cx="2514600" cy="1280160"/>
          </a:xfrm>
          <a:prstGeom prst="roundRect">
            <a:avLst>
              <a:gd name="adj" fmla="val 5714"/>
            </a:avLst>
          </a:prstGeom>
          <a:solidFill>
            <a:srgbClr val="FFFFFF"/>
          </a:solidFill>
          <a:ln w="12700">
            <a:solidFill>
              <a:srgbClr val="D8E5DF"/>
            </a:solidFill>
            <a:prstDash val="solid"/>
          </a:ln>
        </p:spPr>
      </p:sp>
      <p:sp>
        <p:nvSpPr>
          <p:cNvPr id="9" name="Text 6"/>
          <p:cNvSpPr/>
          <p:nvPr/>
        </p:nvSpPr>
        <p:spPr>
          <a:xfrm>
            <a:off x="713232" y="2121408"/>
            <a:ext cx="2148840" cy="411480"/>
          </a:xfrm>
          <a:prstGeom prst="rect">
            <a:avLst/>
          </a:prstGeom>
          <a:noFill/>
          <a:ln/>
        </p:spPr>
        <p:txBody>
          <a:bodyPr wrap="square" lIns="0" tIns="0" rIns="0" bIns="0" rtlCol="0" anchor="ctr"/>
          <a:lstStyle/>
          <a:p>
            <a:pPr indent="0" marL="0">
              <a:buNone/>
            </a:pPr>
            <a:r>
              <a:rPr lang="en-US" sz="2500" b="1" dirty="0">
                <a:solidFill>
                  <a:srgbClr val="111827"/>
                </a:solidFill>
              </a:rPr>
              <a:t>1433</a:t>
            </a:r>
            <a:endParaRPr lang="en-US" sz="2500" dirty="0"/>
          </a:p>
        </p:txBody>
      </p:sp>
      <p:sp>
        <p:nvSpPr>
          <p:cNvPr id="10" name="Text 7"/>
          <p:cNvSpPr/>
          <p:nvPr/>
        </p:nvSpPr>
        <p:spPr>
          <a:xfrm>
            <a:off x="71323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Synthetic responses</a:t>
            </a:r>
            <a:endParaRPr lang="en-US" sz="1000" dirty="0"/>
          </a:p>
        </p:txBody>
      </p:sp>
      <p:sp>
        <p:nvSpPr>
          <p:cNvPr id="11" name="Shape 8"/>
          <p:cNvSpPr/>
          <p:nvPr/>
        </p:nvSpPr>
        <p:spPr>
          <a:xfrm>
            <a:off x="3337560" y="1874520"/>
            <a:ext cx="2514600" cy="1280160"/>
          </a:xfrm>
          <a:prstGeom prst="roundRect">
            <a:avLst>
              <a:gd name="adj" fmla="val 5714"/>
            </a:avLst>
          </a:prstGeom>
          <a:solidFill>
            <a:srgbClr val="FFFFFF"/>
          </a:solidFill>
          <a:ln w="12700">
            <a:solidFill>
              <a:srgbClr val="D8E5DF"/>
            </a:solidFill>
            <a:prstDash val="solid"/>
          </a:ln>
        </p:spPr>
      </p:sp>
      <p:sp>
        <p:nvSpPr>
          <p:cNvPr id="12" name="Text 9"/>
          <p:cNvSpPr/>
          <p:nvPr/>
        </p:nvSpPr>
        <p:spPr>
          <a:xfrm>
            <a:off x="3502152" y="2121408"/>
            <a:ext cx="2148840" cy="411480"/>
          </a:xfrm>
          <a:prstGeom prst="rect">
            <a:avLst/>
          </a:prstGeom>
          <a:noFill/>
          <a:ln/>
        </p:spPr>
        <p:txBody>
          <a:bodyPr wrap="square" lIns="0" tIns="0" rIns="0" bIns="0" rtlCol="0" anchor="ctr"/>
          <a:lstStyle/>
          <a:p>
            <a:pPr indent="0" marL="0">
              <a:buNone/>
            </a:pPr>
            <a:r>
              <a:rPr lang="en-US" sz="2500" b="1" dirty="0">
                <a:solidFill>
                  <a:srgbClr val="111827"/>
                </a:solidFill>
              </a:rPr>
              <a:t>85%</a:t>
            </a:r>
            <a:endParaRPr lang="en-US" sz="2500" dirty="0"/>
          </a:p>
        </p:txBody>
      </p:sp>
      <p:sp>
        <p:nvSpPr>
          <p:cNvPr id="13" name="Text 10"/>
          <p:cNvSpPr/>
          <p:nvPr/>
        </p:nvSpPr>
        <p:spPr>
          <a:xfrm>
            <a:off x="350215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Response rate</a:t>
            </a:r>
            <a:endParaRPr lang="en-US" sz="1000" dirty="0"/>
          </a:p>
        </p:txBody>
      </p:sp>
      <p:sp>
        <p:nvSpPr>
          <p:cNvPr id="14" name="Shape 11"/>
          <p:cNvSpPr/>
          <p:nvPr/>
        </p:nvSpPr>
        <p:spPr>
          <a:xfrm>
            <a:off x="6126480" y="1874520"/>
            <a:ext cx="2514600" cy="1280160"/>
          </a:xfrm>
          <a:prstGeom prst="roundRect">
            <a:avLst>
              <a:gd name="adj" fmla="val 5714"/>
            </a:avLst>
          </a:prstGeom>
          <a:solidFill>
            <a:srgbClr val="FFFFFF"/>
          </a:solidFill>
          <a:ln w="12700">
            <a:solidFill>
              <a:srgbClr val="D8E5DF"/>
            </a:solidFill>
            <a:prstDash val="solid"/>
          </a:ln>
        </p:spPr>
      </p:sp>
      <p:sp>
        <p:nvSpPr>
          <p:cNvPr id="15" name="Text 12"/>
          <p:cNvSpPr/>
          <p:nvPr/>
        </p:nvSpPr>
        <p:spPr>
          <a:xfrm>
            <a:off x="6291072" y="2121408"/>
            <a:ext cx="2148840" cy="411480"/>
          </a:xfrm>
          <a:prstGeom prst="rect">
            <a:avLst/>
          </a:prstGeom>
          <a:noFill/>
          <a:ln/>
        </p:spPr>
        <p:txBody>
          <a:bodyPr wrap="square" lIns="0" tIns="0" rIns="0" bIns="0" rtlCol="0" anchor="ctr"/>
          <a:lstStyle/>
          <a:p>
            <a:pPr indent="0" marL="0">
              <a:buNone/>
            </a:pPr>
            <a:r>
              <a:rPr lang="en-US" sz="2500" b="1" dirty="0">
                <a:solidFill>
                  <a:srgbClr val="111827"/>
                </a:solidFill>
              </a:rPr>
              <a:t>4</a:t>
            </a:r>
            <a:endParaRPr lang="en-US" sz="2500" dirty="0"/>
          </a:p>
        </p:txBody>
      </p:sp>
      <p:sp>
        <p:nvSpPr>
          <p:cNvPr id="16" name="Text 13"/>
          <p:cNvSpPr/>
          <p:nvPr/>
        </p:nvSpPr>
        <p:spPr>
          <a:xfrm>
            <a:off x="629107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Regions</a:t>
            </a:r>
            <a:endParaRPr lang="en-US" sz="1000" dirty="0"/>
          </a:p>
        </p:txBody>
      </p:sp>
      <p:sp>
        <p:nvSpPr>
          <p:cNvPr id="17" name="Shape 14"/>
          <p:cNvSpPr/>
          <p:nvPr/>
        </p:nvSpPr>
        <p:spPr>
          <a:xfrm>
            <a:off x="8915400" y="1874520"/>
            <a:ext cx="2514600" cy="1280160"/>
          </a:xfrm>
          <a:prstGeom prst="roundRect">
            <a:avLst>
              <a:gd name="adj" fmla="val 5714"/>
            </a:avLst>
          </a:prstGeom>
          <a:solidFill>
            <a:srgbClr val="FFFFFF"/>
          </a:solidFill>
          <a:ln w="12700">
            <a:solidFill>
              <a:srgbClr val="D8E5DF"/>
            </a:solidFill>
            <a:prstDash val="solid"/>
          </a:ln>
        </p:spPr>
      </p:sp>
      <p:sp>
        <p:nvSpPr>
          <p:cNvPr id="18" name="Text 15"/>
          <p:cNvSpPr/>
          <p:nvPr/>
        </p:nvSpPr>
        <p:spPr>
          <a:xfrm>
            <a:off x="9079992" y="2121408"/>
            <a:ext cx="2148840" cy="411480"/>
          </a:xfrm>
          <a:prstGeom prst="rect">
            <a:avLst/>
          </a:prstGeom>
          <a:noFill/>
          <a:ln/>
        </p:spPr>
        <p:txBody>
          <a:bodyPr wrap="square" lIns="0" tIns="0" rIns="0" bIns="0" rtlCol="0" anchor="ctr"/>
          <a:lstStyle/>
          <a:p>
            <a:pPr indent="0" marL="0">
              <a:buNone/>
            </a:pPr>
            <a:r>
              <a:rPr lang="en-US" sz="2500" b="1" dirty="0">
                <a:solidFill>
                  <a:srgbClr val="111827"/>
                </a:solidFill>
              </a:rPr>
              <a:t>82/100</a:t>
            </a:r>
            <a:endParaRPr lang="en-US" sz="2500" dirty="0"/>
          </a:p>
        </p:txBody>
      </p:sp>
      <p:sp>
        <p:nvSpPr>
          <p:cNvPr id="19" name="Text 16"/>
          <p:cNvSpPr/>
          <p:nvPr/>
        </p:nvSpPr>
        <p:spPr>
          <a:xfrm>
            <a:off x="907999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Demonstration readiness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CRITICAL FINDINGS</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11827"/>
                </a:solidFill>
              </a:rPr>
              <a:t>Three findings require leadership attention</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04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11827"/>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11827"/>
                </a:solidFill>
              </a:rPr>
              <a:t>Across South Africa's synthetic study areas, profitable growth quality is the clearest differentiator of enterprise performance performance. The evidence is strongest in Southern Africa, where rural women face the largest gap. If the pattern remains unaddressed for twelve months, it is likely to weaken equity, delivery confidence and the durability of outcomes.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11827"/>
                </a:solidFill>
              </a:rPr>
              <a:t>Across South Africa's synthetic study areas, operating leverage is the clearest differentiator of enterprise performance performance. The evidence is strongest in East Africa, where young adults face the largest gap. If the pattern remains unaddressed for twelve months, it is likely to weaken equity, delivery confidence and the durability of outcomes.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11827"/>
                </a:solidFill>
              </a:rPr>
              <a:t>Across South Africa's synthetic study areas, strategic execution is the clearest differentiator of enterprise performance performance. The evidence is strongest in West Africa, where persons with disabilities face the largest gap. If the pattern remains unaddressed for twelve months, it is likely to weaken equity, delivery confidence and the durability of outcomes.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REGIONAL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11827"/>
                </a:solidFill>
              </a:rPr>
              <a:t>Outcomes vary materially by region</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05 | Synthetic Demonstration Publication</a:t>
            </a:r>
            <a:endParaRPr lang="en-US" sz="700" dirty="0"/>
          </a:p>
        </p:txBody>
      </p:sp>
      <p:sp>
        <p:nvSpPr>
          <p:cNvPr id="8" name="Text 5"/>
          <p:cNvSpPr/>
          <p:nvPr/>
        </p:nvSpPr>
        <p:spPr>
          <a:xfrm>
            <a:off x="548640" y="1783080"/>
            <a:ext cx="2926080" cy="228600"/>
          </a:xfrm>
          <a:prstGeom prst="rect">
            <a:avLst/>
          </a:prstGeom>
          <a:noFill/>
          <a:ln/>
        </p:spPr>
        <p:txBody>
          <a:bodyPr wrap="square" lIns="0" tIns="0" rIns="0" bIns="0" rtlCol="0" anchor="ctr"/>
          <a:lstStyle/>
          <a:p>
            <a:pPr indent="0" marL="0">
              <a:buNone/>
            </a:pPr>
            <a:r>
              <a:rPr lang="en-US" sz="1100" b="1" dirty="0">
                <a:solidFill>
                  <a:srgbClr val="111827"/>
                </a:solidFill>
              </a:rPr>
              <a:t>Southern Africa</a:t>
            </a:r>
            <a:endParaRPr lang="en-US" sz="1100" dirty="0"/>
          </a:p>
        </p:txBody>
      </p:sp>
      <p:sp>
        <p:nvSpPr>
          <p:cNvPr id="9" name="Shape 6"/>
          <p:cNvSpPr/>
          <p:nvPr/>
        </p:nvSpPr>
        <p:spPr>
          <a:xfrm>
            <a:off x="3383280" y="1801368"/>
            <a:ext cx="6035040" cy="201168"/>
          </a:xfrm>
          <a:prstGeom prst="roundRect">
            <a:avLst>
              <a:gd name="adj" fmla="val 13636"/>
            </a:avLst>
          </a:prstGeom>
          <a:solidFill>
            <a:srgbClr val="DDE8E3"/>
          </a:solidFill>
          <a:ln w="12700">
            <a:solidFill>
              <a:srgbClr val="DDE8E3"/>
            </a:solidFill>
            <a:prstDash val="solid"/>
          </a:ln>
        </p:spPr>
      </p:sp>
      <p:sp>
        <p:nvSpPr>
          <p:cNvPr id="10" name="Shape 7"/>
          <p:cNvSpPr/>
          <p:nvPr/>
        </p:nvSpPr>
        <p:spPr>
          <a:xfrm>
            <a:off x="3383280" y="1801368"/>
            <a:ext cx="3802075" cy="201168"/>
          </a:xfrm>
          <a:prstGeom prst="roundRect">
            <a:avLst>
              <a:gd name="adj" fmla="val 13636"/>
            </a:avLst>
          </a:prstGeom>
          <a:solidFill>
            <a:srgbClr val="07883F"/>
          </a:solidFill>
          <a:ln w="12700">
            <a:solidFill>
              <a:srgbClr val="07883F"/>
            </a:solidFill>
            <a:prstDash val="solid"/>
          </a:ln>
        </p:spPr>
      </p:sp>
      <p:sp>
        <p:nvSpPr>
          <p:cNvPr id="11" name="Text 8"/>
          <p:cNvSpPr/>
          <p:nvPr/>
        </p:nvSpPr>
        <p:spPr>
          <a:xfrm>
            <a:off x="9601200" y="1783080"/>
            <a:ext cx="1554480" cy="228600"/>
          </a:xfrm>
          <a:prstGeom prst="rect">
            <a:avLst/>
          </a:prstGeom>
          <a:noFill/>
          <a:ln/>
        </p:spPr>
        <p:txBody>
          <a:bodyPr wrap="square" lIns="0" tIns="0" rIns="0" bIns="0" rtlCol="0" anchor="ctr"/>
          <a:lstStyle/>
          <a:p>
            <a:pPr algn="r" indent="0" marL="0">
              <a:buNone/>
            </a:pPr>
            <a:r>
              <a:rPr lang="en-US" sz="1000" b="1" dirty="0">
                <a:solidFill>
                  <a:srgbClr val="111827"/>
                </a:solidFill>
              </a:rPr>
              <a:t>63%</a:t>
            </a:r>
            <a:endParaRPr lang="en-US" sz="1000" dirty="0"/>
          </a:p>
        </p:txBody>
      </p:sp>
      <p:sp>
        <p:nvSpPr>
          <p:cNvPr id="12" name="Text 9"/>
          <p:cNvSpPr/>
          <p:nvPr/>
        </p:nvSpPr>
        <p:spPr>
          <a:xfrm>
            <a:off x="548640" y="2404872"/>
            <a:ext cx="2926080" cy="228600"/>
          </a:xfrm>
          <a:prstGeom prst="rect">
            <a:avLst/>
          </a:prstGeom>
          <a:noFill/>
          <a:ln/>
        </p:spPr>
        <p:txBody>
          <a:bodyPr wrap="square" lIns="0" tIns="0" rIns="0" bIns="0" rtlCol="0" anchor="ctr"/>
          <a:lstStyle/>
          <a:p>
            <a:pPr indent="0" marL="0">
              <a:buNone/>
            </a:pPr>
            <a:r>
              <a:rPr lang="en-US" sz="1100" b="1" dirty="0">
                <a:solidFill>
                  <a:srgbClr val="111827"/>
                </a:solidFill>
              </a:rPr>
              <a:t>East Africa</a:t>
            </a:r>
            <a:endParaRPr lang="en-US" sz="1100" dirty="0"/>
          </a:p>
        </p:txBody>
      </p:sp>
      <p:sp>
        <p:nvSpPr>
          <p:cNvPr id="13" name="Shape 10"/>
          <p:cNvSpPr/>
          <p:nvPr/>
        </p:nvSpPr>
        <p:spPr>
          <a:xfrm>
            <a:off x="3383280" y="2423160"/>
            <a:ext cx="6035040" cy="201168"/>
          </a:xfrm>
          <a:prstGeom prst="roundRect">
            <a:avLst>
              <a:gd name="adj" fmla="val 13636"/>
            </a:avLst>
          </a:prstGeom>
          <a:solidFill>
            <a:srgbClr val="DDE8E3"/>
          </a:solidFill>
          <a:ln w="12700">
            <a:solidFill>
              <a:srgbClr val="DDE8E3"/>
            </a:solidFill>
            <a:prstDash val="solid"/>
          </a:ln>
        </p:spPr>
      </p:sp>
      <p:sp>
        <p:nvSpPr>
          <p:cNvPr id="14" name="Shape 11"/>
          <p:cNvSpPr/>
          <p:nvPr/>
        </p:nvSpPr>
        <p:spPr>
          <a:xfrm>
            <a:off x="3383280" y="2423160"/>
            <a:ext cx="3862426" cy="201168"/>
          </a:xfrm>
          <a:prstGeom prst="roundRect">
            <a:avLst>
              <a:gd name="adj" fmla="val 13636"/>
            </a:avLst>
          </a:prstGeom>
          <a:solidFill>
            <a:srgbClr val="D4AF37"/>
          </a:solidFill>
          <a:ln w="12700">
            <a:solidFill>
              <a:srgbClr val="D4AF37"/>
            </a:solidFill>
            <a:prstDash val="solid"/>
          </a:ln>
        </p:spPr>
      </p:sp>
      <p:sp>
        <p:nvSpPr>
          <p:cNvPr id="15" name="Text 12"/>
          <p:cNvSpPr/>
          <p:nvPr/>
        </p:nvSpPr>
        <p:spPr>
          <a:xfrm>
            <a:off x="9601200" y="2404872"/>
            <a:ext cx="1554480" cy="228600"/>
          </a:xfrm>
          <a:prstGeom prst="rect">
            <a:avLst/>
          </a:prstGeom>
          <a:noFill/>
          <a:ln/>
        </p:spPr>
        <p:txBody>
          <a:bodyPr wrap="square" lIns="0" tIns="0" rIns="0" bIns="0" rtlCol="0" anchor="ctr"/>
          <a:lstStyle/>
          <a:p>
            <a:pPr algn="r" indent="0" marL="0">
              <a:buNone/>
            </a:pPr>
            <a:r>
              <a:rPr lang="en-US" sz="1000" b="1" dirty="0">
                <a:solidFill>
                  <a:srgbClr val="111827"/>
                </a:solidFill>
              </a:rPr>
              <a:t>64%</a:t>
            </a:r>
            <a:endParaRPr lang="en-US" sz="1000" dirty="0"/>
          </a:p>
        </p:txBody>
      </p:sp>
      <p:sp>
        <p:nvSpPr>
          <p:cNvPr id="16" name="Text 13"/>
          <p:cNvSpPr/>
          <p:nvPr/>
        </p:nvSpPr>
        <p:spPr>
          <a:xfrm>
            <a:off x="548640" y="3026664"/>
            <a:ext cx="2926080" cy="228600"/>
          </a:xfrm>
          <a:prstGeom prst="rect">
            <a:avLst/>
          </a:prstGeom>
          <a:noFill/>
          <a:ln/>
        </p:spPr>
        <p:txBody>
          <a:bodyPr wrap="square" lIns="0" tIns="0" rIns="0" bIns="0" rtlCol="0" anchor="ctr"/>
          <a:lstStyle/>
          <a:p>
            <a:pPr indent="0" marL="0">
              <a:buNone/>
            </a:pPr>
            <a:r>
              <a:rPr lang="en-US" sz="1100" b="1" dirty="0">
                <a:solidFill>
                  <a:srgbClr val="111827"/>
                </a:solidFill>
              </a:rPr>
              <a:t>West Africa</a:t>
            </a:r>
            <a:endParaRPr lang="en-US" sz="1100" dirty="0"/>
          </a:p>
        </p:txBody>
      </p:sp>
      <p:sp>
        <p:nvSpPr>
          <p:cNvPr id="17" name="Shape 14"/>
          <p:cNvSpPr/>
          <p:nvPr/>
        </p:nvSpPr>
        <p:spPr>
          <a:xfrm>
            <a:off x="3383280" y="3044952"/>
            <a:ext cx="6035040" cy="201168"/>
          </a:xfrm>
          <a:prstGeom prst="roundRect">
            <a:avLst>
              <a:gd name="adj" fmla="val 13636"/>
            </a:avLst>
          </a:prstGeom>
          <a:solidFill>
            <a:srgbClr val="DDE8E3"/>
          </a:solidFill>
          <a:ln w="12700">
            <a:solidFill>
              <a:srgbClr val="DDE8E3"/>
            </a:solidFill>
            <a:prstDash val="solid"/>
          </a:ln>
        </p:spPr>
      </p:sp>
      <p:sp>
        <p:nvSpPr>
          <p:cNvPr id="18" name="Shape 15"/>
          <p:cNvSpPr/>
          <p:nvPr/>
        </p:nvSpPr>
        <p:spPr>
          <a:xfrm>
            <a:off x="3383280" y="3044952"/>
            <a:ext cx="3922776" cy="201168"/>
          </a:xfrm>
          <a:prstGeom prst="roundRect">
            <a:avLst>
              <a:gd name="adj" fmla="val 13636"/>
            </a:avLst>
          </a:prstGeom>
          <a:solidFill>
            <a:srgbClr val="07883F"/>
          </a:solidFill>
          <a:ln w="12700">
            <a:solidFill>
              <a:srgbClr val="07883F"/>
            </a:solidFill>
            <a:prstDash val="solid"/>
          </a:ln>
        </p:spPr>
      </p:sp>
      <p:sp>
        <p:nvSpPr>
          <p:cNvPr id="19" name="Text 16"/>
          <p:cNvSpPr/>
          <p:nvPr/>
        </p:nvSpPr>
        <p:spPr>
          <a:xfrm>
            <a:off x="9601200" y="3026664"/>
            <a:ext cx="1554480" cy="228600"/>
          </a:xfrm>
          <a:prstGeom prst="rect">
            <a:avLst/>
          </a:prstGeom>
          <a:noFill/>
          <a:ln/>
        </p:spPr>
        <p:txBody>
          <a:bodyPr wrap="square" lIns="0" tIns="0" rIns="0" bIns="0" rtlCol="0" anchor="ctr"/>
          <a:lstStyle/>
          <a:p>
            <a:pPr algn="r" indent="0" marL="0">
              <a:buNone/>
            </a:pPr>
            <a:r>
              <a:rPr lang="en-US" sz="1000" b="1" dirty="0">
                <a:solidFill>
                  <a:srgbClr val="111827"/>
                </a:solidFill>
              </a:rPr>
              <a:t>65%</a:t>
            </a:r>
            <a:endParaRPr lang="en-US" sz="1000" dirty="0"/>
          </a:p>
        </p:txBody>
      </p:sp>
      <p:sp>
        <p:nvSpPr>
          <p:cNvPr id="20" name="Text 17"/>
          <p:cNvSpPr/>
          <p:nvPr/>
        </p:nvSpPr>
        <p:spPr>
          <a:xfrm>
            <a:off x="548640" y="3648456"/>
            <a:ext cx="2926080" cy="228600"/>
          </a:xfrm>
          <a:prstGeom prst="rect">
            <a:avLst/>
          </a:prstGeom>
          <a:noFill/>
          <a:ln/>
        </p:spPr>
        <p:txBody>
          <a:bodyPr wrap="square" lIns="0" tIns="0" rIns="0" bIns="0" rtlCol="0" anchor="ctr"/>
          <a:lstStyle/>
          <a:p>
            <a:pPr indent="0" marL="0">
              <a:buNone/>
            </a:pPr>
            <a:r>
              <a:rPr lang="en-US" sz="1100" b="1" dirty="0">
                <a:solidFill>
                  <a:srgbClr val="111827"/>
                </a:solidFill>
              </a:rPr>
              <a:t>Central Functions</a:t>
            </a:r>
            <a:endParaRPr lang="en-US" sz="1100" dirty="0"/>
          </a:p>
        </p:txBody>
      </p:sp>
      <p:sp>
        <p:nvSpPr>
          <p:cNvPr id="21" name="Shape 18"/>
          <p:cNvSpPr/>
          <p:nvPr/>
        </p:nvSpPr>
        <p:spPr>
          <a:xfrm>
            <a:off x="3383280" y="3666744"/>
            <a:ext cx="6035040" cy="201168"/>
          </a:xfrm>
          <a:prstGeom prst="roundRect">
            <a:avLst>
              <a:gd name="adj" fmla="val 13636"/>
            </a:avLst>
          </a:prstGeom>
          <a:solidFill>
            <a:srgbClr val="DDE8E3"/>
          </a:solidFill>
          <a:ln w="12700">
            <a:solidFill>
              <a:srgbClr val="DDE8E3"/>
            </a:solidFill>
            <a:prstDash val="solid"/>
          </a:ln>
        </p:spPr>
      </p:sp>
      <p:sp>
        <p:nvSpPr>
          <p:cNvPr id="22" name="Shape 19"/>
          <p:cNvSpPr/>
          <p:nvPr/>
        </p:nvSpPr>
        <p:spPr>
          <a:xfrm>
            <a:off x="3383280" y="3666744"/>
            <a:ext cx="3983126" cy="201168"/>
          </a:xfrm>
          <a:prstGeom prst="roundRect">
            <a:avLst>
              <a:gd name="adj" fmla="val 13636"/>
            </a:avLst>
          </a:prstGeom>
          <a:solidFill>
            <a:srgbClr val="D4AF37"/>
          </a:solidFill>
          <a:ln w="12700">
            <a:solidFill>
              <a:srgbClr val="D4AF37"/>
            </a:solidFill>
            <a:prstDash val="solid"/>
          </a:ln>
        </p:spPr>
      </p:sp>
      <p:sp>
        <p:nvSpPr>
          <p:cNvPr id="23" name="Text 20"/>
          <p:cNvSpPr/>
          <p:nvPr/>
        </p:nvSpPr>
        <p:spPr>
          <a:xfrm>
            <a:off x="9601200" y="3648456"/>
            <a:ext cx="1554480" cy="228600"/>
          </a:xfrm>
          <a:prstGeom prst="rect">
            <a:avLst/>
          </a:prstGeom>
          <a:noFill/>
          <a:ln/>
        </p:spPr>
        <p:txBody>
          <a:bodyPr wrap="square" lIns="0" tIns="0" rIns="0" bIns="0" rtlCol="0" anchor="ctr"/>
          <a:lstStyle/>
          <a:p>
            <a:pPr algn="r" indent="0" marL="0">
              <a:buNone/>
            </a:pPr>
            <a:r>
              <a:rPr lang="en-US" sz="1000" b="1" dirty="0">
                <a:solidFill>
                  <a:srgbClr val="111827"/>
                </a:solidFill>
              </a:rPr>
              <a:t>66%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INDICATOR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11827"/>
                </a:solidFill>
              </a:rPr>
              <a:t>Target gaps reveal where delivery is slipping</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06 | Synthetic Demonstration Publication</a:t>
            </a:r>
            <a:endParaRPr lang="en-US" sz="700" dirty="0"/>
          </a:p>
        </p:txBody>
      </p:sp>
      <p:sp>
        <p:nvSpPr>
          <p:cNvPr id="8" name="Text 5"/>
          <p:cNvSpPr/>
          <p:nvPr/>
        </p:nvSpPr>
        <p:spPr>
          <a:xfrm>
            <a:off x="548640" y="1783080"/>
            <a:ext cx="2926080" cy="228600"/>
          </a:xfrm>
          <a:prstGeom prst="rect">
            <a:avLst/>
          </a:prstGeom>
          <a:noFill/>
          <a:ln/>
        </p:spPr>
        <p:txBody>
          <a:bodyPr wrap="square" lIns="0" tIns="0" rIns="0" bIns="0" rtlCol="0" anchor="ctr"/>
          <a:lstStyle/>
          <a:p>
            <a:pPr indent="0" marL="0">
              <a:buNone/>
            </a:pPr>
            <a:r>
              <a:rPr lang="en-US" sz="1100" b="1" dirty="0">
                <a:solidFill>
                  <a:srgbClr val="111827"/>
                </a:solidFill>
              </a:rPr>
              <a:t>Risk-adjusted growth</a:t>
            </a:r>
            <a:endParaRPr lang="en-US" sz="1100" dirty="0"/>
          </a:p>
        </p:txBody>
      </p:sp>
      <p:sp>
        <p:nvSpPr>
          <p:cNvPr id="9" name="Shape 6"/>
          <p:cNvSpPr/>
          <p:nvPr/>
        </p:nvSpPr>
        <p:spPr>
          <a:xfrm>
            <a:off x="3383280" y="1801368"/>
            <a:ext cx="6035040" cy="201168"/>
          </a:xfrm>
          <a:prstGeom prst="roundRect">
            <a:avLst>
              <a:gd name="adj" fmla="val 13636"/>
            </a:avLst>
          </a:prstGeom>
          <a:solidFill>
            <a:srgbClr val="DDE8E3"/>
          </a:solidFill>
          <a:ln w="12700">
            <a:solidFill>
              <a:srgbClr val="DDE8E3"/>
            </a:solidFill>
            <a:prstDash val="solid"/>
          </a:ln>
        </p:spPr>
      </p:sp>
      <p:sp>
        <p:nvSpPr>
          <p:cNvPr id="10" name="Shape 7"/>
          <p:cNvSpPr/>
          <p:nvPr/>
        </p:nvSpPr>
        <p:spPr>
          <a:xfrm>
            <a:off x="3383280" y="1801368"/>
            <a:ext cx="3017520" cy="201168"/>
          </a:xfrm>
          <a:prstGeom prst="roundRect">
            <a:avLst>
              <a:gd name="adj" fmla="val 13636"/>
            </a:avLst>
          </a:prstGeom>
          <a:solidFill>
            <a:srgbClr val="07883F"/>
          </a:solidFill>
          <a:ln w="12700">
            <a:solidFill>
              <a:srgbClr val="07883F"/>
            </a:solidFill>
            <a:prstDash val="solid"/>
          </a:ln>
        </p:spPr>
      </p:sp>
      <p:sp>
        <p:nvSpPr>
          <p:cNvPr id="11" name="Shape 8"/>
          <p:cNvSpPr/>
          <p:nvPr/>
        </p:nvSpPr>
        <p:spPr>
          <a:xfrm>
            <a:off x="8875166" y="1737360"/>
            <a:ext cx="0" cy="347472"/>
          </a:xfrm>
          <a:prstGeom prst="line">
            <a:avLst/>
          </a:prstGeom>
          <a:noFill/>
          <a:ln w="19050">
            <a:solidFill>
              <a:srgbClr val="111827"/>
            </a:solidFill>
            <a:prstDash val="solid"/>
          </a:ln>
        </p:spPr>
      </p:sp>
      <p:sp>
        <p:nvSpPr>
          <p:cNvPr id="12" name="Text 9"/>
          <p:cNvSpPr/>
          <p:nvPr/>
        </p:nvSpPr>
        <p:spPr>
          <a:xfrm>
            <a:off x="9601200" y="1783080"/>
            <a:ext cx="1554480" cy="228600"/>
          </a:xfrm>
          <a:prstGeom prst="rect">
            <a:avLst/>
          </a:prstGeom>
          <a:noFill/>
          <a:ln/>
        </p:spPr>
        <p:txBody>
          <a:bodyPr wrap="square" lIns="0" tIns="0" rIns="0" bIns="0" rtlCol="0" anchor="ctr"/>
          <a:lstStyle/>
          <a:p>
            <a:pPr algn="r" indent="0" marL="0">
              <a:buNone/>
            </a:pPr>
            <a:r>
              <a:rPr lang="en-US" sz="1000" b="1" dirty="0">
                <a:solidFill>
                  <a:srgbClr val="111827"/>
                </a:solidFill>
              </a:rPr>
              <a:t>50% / target 91%</a:t>
            </a:r>
            <a:endParaRPr lang="en-US" sz="1000" dirty="0"/>
          </a:p>
        </p:txBody>
      </p:sp>
      <p:sp>
        <p:nvSpPr>
          <p:cNvPr id="13" name="Text 10"/>
          <p:cNvSpPr/>
          <p:nvPr/>
        </p:nvSpPr>
        <p:spPr>
          <a:xfrm>
            <a:off x="548640" y="2404872"/>
            <a:ext cx="2926080" cy="228600"/>
          </a:xfrm>
          <a:prstGeom prst="rect">
            <a:avLst/>
          </a:prstGeom>
          <a:noFill/>
          <a:ln/>
        </p:spPr>
        <p:txBody>
          <a:bodyPr wrap="square" lIns="0" tIns="0" rIns="0" bIns="0" rtlCol="0" anchor="ctr"/>
          <a:lstStyle/>
          <a:p>
            <a:pPr indent="0" marL="0">
              <a:buNone/>
            </a:pPr>
            <a:r>
              <a:rPr lang="en-US" sz="1100" b="1" dirty="0">
                <a:solidFill>
                  <a:srgbClr val="111827"/>
                </a:solidFill>
              </a:rPr>
              <a:t>Operating leverage</a:t>
            </a:r>
            <a:endParaRPr lang="en-US" sz="1100" dirty="0"/>
          </a:p>
        </p:txBody>
      </p:sp>
      <p:sp>
        <p:nvSpPr>
          <p:cNvPr id="14" name="Shape 11"/>
          <p:cNvSpPr/>
          <p:nvPr/>
        </p:nvSpPr>
        <p:spPr>
          <a:xfrm>
            <a:off x="3383280" y="2423160"/>
            <a:ext cx="6035040" cy="201168"/>
          </a:xfrm>
          <a:prstGeom prst="roundRect">
            <a:avLst>
              <a:gd name="adj" fmla="val 13636"/>
            </a:avLst>
          </a:prstGeom>
          <a:solidFill>
            <a:srgbClr val="DDE8E3"/>
          </a:solidFill>
          <a:ln w="12700">
            <a:solidFill>
              <a:srgbClr val="DDE8E3"/>
            </a:solidFill>
            <a:prstDash val="solid"/>
          </a:ln>
        </p:spPr>
      </p:sp>
      <p:sp>
        <p:nvSpPr>
          <p:cNvPr id="15" name="Shape 12"/>
          <p:cNvSpPr/>
          <p:nvPr/>
        </p:nvSpPr>
        <p:spPr>
          <a:xfrm>
            <a:off x="3383280" y="2423160"/>
            <a:ext cx="3077870" cy="201168"/>
          </a:xfrm>
          <a:prstGeom prst="roundRect">
            <a:avLst>
              <a:gd name="adj" fmla="val 13636"/>
            </a:avLst>
          </a:prstGeom>
          <a:solidFill>
            <a:srgbClr val="D4AF37"/>
          </a:solidFill>
          <a:ln w="12700">
            <a:solidFill>
              <a:srgbClr val="D4AF37"/>
            </a:solidFill>
            <a:prstDash val="solid"/>
          </a:ln>
        </p:spPr>
      </p:sp>
      <p:sp>
        <p:nvSpPr>
          <p:cNvPr id="16" name="Shape 13"/>
          <p:cNvSpPr/>
          <p:nvPr/>
        </p:nvSpPr>
        <p:spPr>
          <a:xfrm>
            <a:off x="8935517" y="2359152"/>
            <a:ext cx="0" cy="347472"/>
          </a:xfrm>
          <a:prstGeom prst="line">
            <a:avLst/>
          </a:prstGeom>
          <a:noFill/>
          <a:ln w="19050">
            <a:solidFill>
              <a:srgbClr val="111827"/>
            </a:solidFill>
            <a:prstDash val="solid"/>
          </a:ln>
        </p:spPr>
      </p:sp>
      <p:sp>
        <p:nvSpPr>
          <p:cNvPr id="17" name="Text 14"/>
          <p:cNvSpPr/>
          <p:nvPr/>
        </p:nvSpPr>
        <p:spPr>
          <a:xfrm>
            <a:off x="9601200" y="2404872"/>
            <a:ext cx="1554480" cy="228600"/>
          </a:xfrm>
          <a:prstGeom prst="rect">
            <a:avLst/>
          </a:prstGeom>
          <a:noFill/>
          <a:ln/>
        </p:spPr>
        <p:txBody>
          <a:bodyPr wrap="square" lIns="0" tIns="0" rIns="0" bIns="0" rtlCol="0" anchor="ctr"/>
          <a:lstStyle/>
          <a:p>
            <a:pPr algn="r" indent="0" marL="0">
              <a:buNone/>
            </a:pPr>
            <a:r>
              <a:rPr lang="en-US" sz="1000" b="1" dirty="0">
                <a:solidFill>
                  <a:srgbClr val="111827"/>
                </a:solidFill>
              </a:rPr>
              <a:t>51% / target 92%</a:t>
            </a:r>
            <a:endParaRPr lang="en-US" sz="1000" dirty="0"/>
          </a:p>
        </p:txBody>
      </p:sp>
      <p:sp>
        <p:nvSpPr>
          <p:cNvPr id="18" name="Text 15"/>
          <p:cNvSpPr/>
          <p:nvPr/>
        </p:nvSpPr>
        <p:spPr>
          <a:xfrm>
            <a:off x="548640" y="3026664"/>
            <a:ext cx="2926080" cy="228600"/>
          </a:xfrm>
          <a:prstGeom prst="rect">
            <a:avLst/>
          </a:prstGeom>
          <a:noFill/>
          <a:ln/>
        </p:spPr>
        <p:txBody>
          <a:bodyPr wrap="square" lIns="0" tIns="0" rIns="0" bIns="0" rtlCol="0" anchor="ctr"/>
          <a:lstStyle/>
          <a:p>
            <a:pPr indent="0" marL="0">
              <a:buNone/>
            </a:pPr>
            <a:r>
              <a:rPr lang="en-US" sz="1100" b="1" dirty="0">
                <a:solidFill>
                  <a:srgbClr val="111827"/>
                </a:solidFill>
              </a:rPr>
              <a:t>Strategic milestone attainment</a:t>
            </a:r>
            <a:endParaRPr lang="en-US" sz="1100" dirty="0"/>
          </a:p>
        </p:txBody>
      </p:sp>
      <p:sp>
        <p:nvSpPr>
          <p:cNvPr id="19" name="Shape 16"/>
          <p:cNvSpPr/>
          <p:nvPr/>
        </p:nvSpPr>
        <p:spPr>
          <a:xfrm>
            <a:off x="3383280" y="3044952"/>
            <a:ext cx="6035040" cy="201168"/>
          </a:xfrm>
          <a:prstGeom prst="roundRect">
            <a:avLst>
              <a:gd name="adj" fmla="val 13636"/>
            </a:avLst>
          </a:prstGeom>
          <a:solidFill>
            <a:srgbClr val="DDE8E3"/>
          </a:solidFill>
          <a:ln w="12700">
            <a:solidFill>
              <a:srgbClr val="DDE8E3"/>
            </a:solidFill>
            <a:prstDash val="solid"/>
          </a:ln>
        </p:spPr>
      </p:sp>
      <p:sp>
        <p:nvSpPr>
          <p:cNvPr id="20" name="Shape 17"/>
          <p:cNvSpPr/>
          <p:nvPr/>
        </p:nvSpPr>
        <p:spPr>
          <a:xfrm>
            <a:off x="3383280" y="3044952"/>
            <a:ext cx="3138221" cy="201168"/>
          </a:xfrm>
          <a:prstGeom prst="roundRect">
            <a:avLst>
              <a:gd name="adj" fmla="val 13636"/>
            </a:avLst>
          </a:prstGeom>
          <a:solidFill>
            <a:srgbClr val="07883F"/>
          </a:solidFill>
          <a:ln w="12700">
            <a:solidFill>
              <a:srgbClr val="07883F"/>
            </a:solidFill>
            <a:prstDash val="solid"/>
          </a:ln>
        </p:spPr>
      </p:sp>
      <p:sp>
        <p:nvSpPr>
          <p:cNvPr id="21" name="Shape 18"/>
          <p:cNvSpPr/>
          <p:nvPr/>
        </p:nvSpPr>
        <p:spPr>
          <a:xfrm>
            <a:off x="7969910" y="2980944"/>
            <a:ext cx="0" cy="347472"/>
          </a:xfrm>
          <a:prstGeom prst="line">
            <a:avLst/>
          </a:prstGeom>
          <a:noFill/>
          <a:ln w="19050">
            <a:solidFill>
              <a:srgbClr val="111827"/>
            </a:solidFill>
            <a:prstDash val="solid"/>
          </a:ln>
        </p:spPr>
      </p:sp>
      <p:sp>
        <p:nvSpPr>
          <p:cNvPr id="22" name="Text 19"/>
          <p:cNvSpPr/>
          <p:nvPr/>
        </p:nvSpPr>
        <p:spPr>
          <a:xfrm>
            <a:off x="9601200" y="3026664"/>
            <a:ext cx="1554480" cy="228600"/>
          </a:xfrm>
          <a:prstGeom prst="rect">
            <a:avLst/>
          </a:prstGeom>
          <a:noFill/>
          <a:ln/>
        </p:spPr>
        <p:txBody>
          <a:bodyPr wrap="square" lIns="0" tIns="0" rIns="0" bIns="0" rtlCol="0" anchor="ctr"/>
          <a:lstStyle/>
          <a:p>
            <a:pPr algn="r" indent="0" marL="0">
              <a:buNone/>
            </a:pPr>
            <a:r>
              <a:rPr lang="en-US" sz="1000" b="1" dirty="0">
                <a:solidFill>
                  <a:srgbClr val="111827"/>
                </a:solidFill>
              </a:rPr>
              <a:t>52% / target 76%</a:t>
            </a:r>
            <a:endParaRPr lang="en-US" sz="1000" dirty="0"/>
          </a:p>
        </p:txBody>
      </p:sp>
      <p:sp>
        <p:nvSpPr>
          <p:cNvPr id="23" name="Text 20"/>
          <p:cNvSpPr/>
          <p:nvPr/>
        </p:nvSpPr>
        <p:spPr>
          <a:xfrm>
            <a:off x="548640" y="3648456"/>
            <a:ext cx="2926080" cy="228600"/>
          </a:xfrm>
          <a:prstGeom prst="rect">
            <a:avLst/>
          </a:prstGeom>
          <a:noFill/>
          <a:ln/>
        </p:spPr>
        <p:txBody>
          <a:bodyPr wrap="square" lIns="0" tIns="0" rIns="0" bIns="0" rtlCol="0" anchor="ctr"/>
          <a:lstStyle/>
          <a:p>
            <a:pPr indent="0" marL="0">
              <a:buNone/>
            </a:pPr>
            <a:r>
              <a:rPr lang="en-US" sz="1100" b="1" dirty="0">
                <a:solidFill>
                  <a:srgbClr val="111827"/>
                </a:solidFill>
              </a:rPr>
              <a:t>Return on invested capital</a:t>
            </a:r>
            <a:endParaRPr lang="en-US" sz="1100" dirty="0"/>
          </a:p>
        </p:txBody>
      </p:sp>
      <p:sp>
        <p:nvSpPr>
          <p:cNvPr id="24" name="Shape 21"/>
          <p:cNvSpPr/>
          <p:nvPr/>
        </p:nvSpPr>
        <p:spPr>
          <a:xfrm>
            <a:off x="3383280" y="3666744"/>
            <a:ext cx="6035040" cy="201168"/>
          </a:xfrm>
          <a:prstGeom prst="roundRect">
            <a:avLst>
              <a:gd name="adj" fmla="val 13636"/>
            </a:avLst>
          </a:prstGeom>
          <a:solidFill>
            <a:srgbClr val="DDE8E3"/>
          </a:solidFill>
          <a:ln w="12700">
            <a:solidFill>
              <a:srgbClr val="DDE8E3"/>
            </a:solidFill>
            <a:prstDash val="solid"/>
          </a:ln>
        </p:spPr>
      </p:sp>
      <p:sp>
        <p:nvSpPr>
          <p:cNvPr id="25" name="Shape 22"/>
          <p:cNvSpPr/>
          <p:nvPr/>
        </p:nvSpPr>
        <p:spPr>
          <a:xfrm>
            <a:off x="3383280" y="3666744"/>
            <a:ext cx="3198571" cy="201168"/>
          </a:xfrm>
          <a:prstGeom prst="roundRect">
            <a:avLst>
              <a:gd name="adj" fmla="val 13636"/>
            </a:avLst>
          </a:prstGeom>
          <a:solidFill>
            <a:srgbClr val="D4AF37"/>
          </a:solidFill>
          <a:ln w="12700">
            <a:solidFill>
              <a:srgbClr val="D4AF37"/>
            </a:solidFill>
            <a:prstDash val="solid"/>
          </a:ln>
        </p:spPr>
      </p:sp>
      <p:sp>
        <p:nvSpPr>
          <p:cNvPr id="26" name="Shape 23"/>
          <p:cNvSpPr/>
          <p:nvPr/>
        </p:nvSpPr>
        <p:spPr>
          <a:xfrm>
            <a:off x="8030261" y="3602736"/>
            <a:ext cx="0" cy="347472"/>
          </a:xfrm>
          <a:prstGeom prst="line">
            <a:avLst/>
          </a:prstGeom>
          <a:noFill/>
          <a:ln w="19050">
            <a:solidFill>
              <a:srgbClr val="111827"/>
            </a:solidFill>
            <a:prstDash val="solid"/>
          </a:ln>
        </p:spPr>
      </p:sp>
      <p:sp>
        <p:nvSpPr>
          <p:cNvPr id="27" name="Text 24"/>
          <p:cNvSpPr/>
          <p:nvPr/>
        </p:nvSpPr>
        <p:spPr>
          <a:xfrm>
            <a:off x="9601200" y="3648456"/>
            <a:ext cx="1554480" cy="228600"/>
          </a:xfrm>
          <a:prstGeom prst="rect">
            <a:avLst/>
          </a:prstGeom>
          <a:noFill/>
          <a:ln/>
        </p:spPr>
        <p:txBody>
          <a:bodyPr wrap="square" lIns="0" tIns="0" rIns="0" bIns="0" rtlCol="0" anchor="ctr"/>
          <a:lstStyle/>
          <a:p>
            <a:pPr algn="r" indent="0" marL="0">
              <a:buNone/>
            </a:pPr>
            <a:r>
              <a:rPr lang="en-US" sz="1000" b="1" dirty="0">
                <a:solidFill>
                  <a:srgbClr val="111827"/>
                </a:solidFill>
              </a:rPr>
              <a:t>53% / target 77%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RESPONDENT VOICE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11827"/>
                </a:solidFill>
              </a:rPr>
              <a:t>What respondents are telling decision-makers</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07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11827"/>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11827"/>
                </a:solidFill>
              </a:rPr>
              <a:t>“In Southern Africa, profitable growth quality shapes whether rural women can turn services into lasting outcomes.”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11827"/>
                </a:solidFill>
              </a:rPr>
              <a:t>“In East Africa, operating leverage shapes whether young adults can turn services into lasting outcomes.”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11827"/>
                </a:solidFill>
              </a:rPr>
              <a:t>“In West Africa, strategic execution shapes whether persons with disabilities can turn services into lasting outcomes.”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DECISION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11827"/>
                </a:solidFill>
              </a:rPr>
              <a:t>Priority decisions and accountable owners</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08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11827"/>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11827"/>
                </a:solidFill>
              </a:rPr>
              <a:t>Approve a value-creation plan with quarterly board gates for enterprise performance.</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11827"/>
                </a:solidFill>
              </a:rPr>
              <a:t>Exit structurally low-return activities for enterprise performance.</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11827"/>
                </a:solidFill>
              </a:rPr>
              <a:t>Create one enterprise execution office for enterprise performance.</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11827"/>
                </a:solidFill>
              </a:rPr>
              <a:t>Reduce the three largest unmanaged risk concentrations for enterprise performance.</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111827"/>
                </a:solidFill>
              </a:rPr>
              <a:t>Tie capital release to evidence-backed milestones for enterprise performance.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STRATEGIC CONSEQUENCE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11827"/>
                </a:solidFill>
              </a:rPr>
              <a:t>The cost of inaction compounds over time</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09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11827"/>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11827"/>
                </a:solidFill>
              </a:rPr>
              <a:t>Without corrective action, existing gaps are likely to persist and may increase the future cost of recovery.</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11827"/>
                </a:solidFill>
              </a:rPr>
              <a:t>A medium-scale reprioritization is indicated; formal costing and fiduciary review are required.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IMPLEMENTATION</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11827"/>
                </a:solidFill>
              </a:rPr>
              <a:t>A phased implementation roadmap</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10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11827"/>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11827"/>
                </a:solidFill>
              </a:rPr>
              <a:t>Approve a value-creation plan with quarterly board gates for enterprise performance.</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11827"/>
                </a:solidFill>
              </a:rPr>
              <a:t>Exit structurally low-return activities for enterprise performance.</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11827"/>
                </a:solidFill>
              </a:rPr>
              <a:t>Create one enterprise execution office for enterprise performance.</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11827"/>
                </a:solidFill>
              </a:rPr>
              <a:t>Reduce the three largest unmanaged risk concentrations for enterprise performance.</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111827"/>
                </a:solidFill>
              </a:rPr>
              <a:t>Tie capital release to evidence-backed milestones for enterprise performance.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EVIDENCE LINEAGE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11827"/>
                </a:solidFill>
              </a:rPr>
              <a:t>Every material claim links back to evidence</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11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11827"/>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11827"/>
                </a:solidFill>
              </a:rPr>
              <a:t>“In Southern Africa, profitable growth quality shapes whether rural women can turn services into lasting outcomes.”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11827"/>
                </a:solidFill>
              </a:rPr>
              <a:t>“In East Africa, operating leverage shapes whether young adults can turn services into lasting outcomes.”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11827"/>
                </a:solidFill>
              </a:rPr>
              <a:t>“In West Africa, strategic execution shapes whether persons with disabilities can turn services into lasting outcomes.”</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11827"/>
                </a:solidFill>
              </a:rPr>
              <a:t>“In Central Functions, enterprise risk concentration shapes whether frontline workers can turn services into lasting outcomes.”</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111827"/>
                </a:solidFill>
              </a:rPr>
              <a:t>“In Southern Africa, capital allocation discipline shapes whether low-income households can turn services into lasting outcomes.”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STATISTICAL ASSURANCE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11827"/>
                </a:solidFill>
              </a:rPr>
              <a:t>Methodology designed for reproducibility</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12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11827"/>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11827"/>
                </a:solidFill>
              </a:rPr>
              <a:t>sampling design: Stratified multi-stage synthetic demonstration design</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11827"/>
                </a:solidFill>
              </a:rPr>
              <a:t>sampling frame: Synthetic frame covering programme-relevant population groups in South Africa</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11827"/>
                </a:solidFill>
              </a:rPr>
              <a:t>stratification: ["Region","Urban/rural","Sex","Age","Disability status"]</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11827"/>
                </a:solidFill>
              </a:rPr>
              <a:t>sample size: 1433</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111827"/>
                </a:solidFill>
              </a:rPr>
              <a:t>weighting: Post-stratification weights normalized to the synthetic population frame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INTERNATIONAL ALIGNMENT</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11827"/>
                </a:solidFill>
              </a:rPr>
              <a:t>Standards are applied where genuinely relevant</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13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11827"/>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11827"/>
                </a:solidFill>
              </a:rPr>
              <a:t>Data Protection and Privacy Controls: The publication uses governed response, evidence and export data.</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11827"/>
                </a:solidFill>
              </a:rPr>
              <a:t>Responsible AI: AI-assisted interpretation requires grounding, human review, privacy and limitations.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11827"/>
                </a:solidFill>
              </a:rPr>
              <a:t>Accessibility: Publications must be readable and operable across formats and assistive technologies.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SDG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11827"/>
                </a:solidFill>
              </a:rPr>
              <a:t>SDG contribution is transparent and bounded</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14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11827"/>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11827"/>
                </a:solidFill>
              </a:rPr>
              <a:t>SDG Context-specific — Primary. Contribution mapping only; no attribution or institutional endorsement is implied.</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PUBLICATION INTEGRITY</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11827"/>
                </a:solidFill>
              </a:rPr>
              <a:t>Limitations and responsible interpretation</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15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11827"/>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11827"/>
                </a:solidFill>
              </a:rPr>
              <a:t>All content is synthetic and must not be interpreted as official statistics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11827"/>
                </a:solidFill>
              </a:rPr>
              <a:t>Geographic references are illustrative</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11827"/>
                </a:solidFill>
              </a:rPr>
              <a:t>Budget implications are directional and require formal costing</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11827"/>
                </a:solidFill>
              </a:rPr>
              <a:t>Causal claims are not made without an appropriate design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82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94360" y="411480"/>
            <a:ext cx="777240" cy="548640"/>
          </a:xfrm>
          <a:prstGeom prst="rect">
            <a:avLst/>
          </a:prstGeom>
        </p:spPr>
      </p:pic>
      <p:sp>
        <p:nvSpPr>
          <p:cNvPr id="3" name="Text 0"/>
          <p:cNvSpPr/>
          <p:nvPr/>
        </p:nvSpPr>
        <p:spPr>
          <a:xfrm>
            <a:off x="1508760" y="521208"/>
            <a:ext cx="2926080" cy="201168"/>
          </a:xfrm>
          <a:prstGeom prst="rect">
            <a:avLst/>
          </a:prstGeom>
          <a:noFill/>
          <a:ln/>
        </p:spPr>
        <p:txBody>
          <a:bodyPr wrap="square" lIns="0" tIns="0" rIns="0" bIns="0" rtlCol="0" anchor="ctr"/>
          <a:lstStyle/>
          <a:p>
            <a:pPr indent="0" marL="0">
              <a:buNone/>
            </a:pPr>
            <a:r>
              <a:rPr lang="en-US" sz="1100" b="1" dirty="0">
                <a:solidFill>
                  <a:srgbClr val="FFFFFF"/>
                </a:solidFill>
              </a:rPr>
              <a:t>VOICEINSIGHTS AFRICA</a:t>
            </a:r>
            <a:endParaRPr lang="en-US" sz="1100" dirty="0"/>
          </a:p>
        </p:txBody>
      </p:sp>
      <p:sp>
        <p:nvSpPr>
          <p:cNvPr id="4" name="Text 1"/>
          <p:cNvSpPr/>
          <p:nvPr/>
        </p:nvSpPr>
        <p:spPr>
          <a:xfrm>
            <a:off x="594360" y="1965960"/>
            <a:ext cx="7589520" cy="1005840"/>
          </a:xfrm>
          <a:prstGeom prst="rect">
            <a:avLst/>
          </a:prstGeom>
          <a:noFill/>
          <a:ln/>
        </p:spPr>
        <p:txBody>
          <a:bodyPr wrap="square" lIns="0" tIns="0" rIns="0" bIns="0" rtlCol="0" anchor="ctr"/>
          <a:lstStyle/>
          <a:p>
            <a:pPr indent="0" marL="0">
              <a:buNone/>
            </a:pPr>
            <a:r>
              <a:rPr lang="en-US" sz="3000" b="1" dirty="0">
                <a:solidFill>
                  <a:srgbClr val="FFFFFF"/>
                </a:solidFill>
              </a:rPr>
              <a:t>From every voice to an accountable decision</a:t>
            </a:r>
            <a:endParaRPr lang="en-US" sz="3000" dirty="0"/>
          </a:p>
        </p:txBody>
      </p:sp>
      <p:sp>
        <p:nvSpPr>
          <p:cNvPr id="5" name="Text 2"/>
          <p:cNvSpPr/>
          <p:nvPr/>
        </p:nvSpPr>
        <p:spPr>
          <a:xfrm>
            <a:off x="594360" y="3337560"/>
            <a:ext cx="6400800" cy="320040"/>
          </a:xfrm>
          <a:prstGeom prst="rect">
            <a:avLst/>
          </a:prstGeom>
          <a:noFill/>
          <a:ln/>
        </p:spPr>
        <p:txBody>
          <a:bodyPr wrap="square" lIns="0" tIns="0" rIns="0" bIns="0" rtlCol="0" anchor="ctr"/>
          <a:lstStyle/>
          <a:p>
            <a:pPr indent="0" marL="0">
              <a:buNone/>
            </a:pPr>
            <a:r>
              <a:rPr lang="en-US" sz="1700" dirty="0">
                <a:solidFill>
                  <a:srgbClr val="D4AF37"/>
                </a:solidFill>
              </a:rPr>
              <a:t>Every Voice. Every Language. Every Insight.</a:t>
            </a:r>
            <a:endParaRPr lang="en-US" sz="1700" dirty="0"/>
          </a:p>
        </p:txBody>
      </p:sp>
      <p:sp>
        <p:nvSpPr>
          <p:cNvPr id="6" name="Shape 3"/>
          <p:cNvSpPr/>
          <p:nvPr/>
        </p:nvSpPr>
        <p:spPr>
          <a:xfrm>
            <a:off x="9235440" y="0"/>
            <a:ext cx="2956255" cy="6858000"/>
          </a:xfrm>
          <a:prstGeom prst="rect">
            <a:avLst/>
          </a:prstGeom>
          <a:solidFill>
            <a:srgbClr val="07883F"/>
          </a:solidFill>
          <a:ln w="12700">
            <a:solidFill>
              <a:srgbClr val="07883F"/>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VoiceInsights Africa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Executive Board Intelligence Report</dc:title>
  <dc:subject>Synthetic Demonstration Publication</dc:subject>
  <dc:creator>VoiceInsights Africa</dc:creator>
  <cp:lastModifiedBy>VoiceInsights Africa</cp:lastModifiedBy>
  <cp:revision>1</cp:revision>
  <dcterms:created xsi:type="dcterms:W3CDTF">2026-07-12T22:51:24Z</dcterms:created>
  <dcterms:modified xsi:type="dcterms:W3CDTF">2026-07-12T22:51:24Z</dcterms:modified>
</cp:coreProperties>
</file>