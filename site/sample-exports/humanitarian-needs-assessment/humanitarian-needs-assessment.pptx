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IdLst>
    <p:sldId id="256" r:id="rId1"/>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Lst>
  <p:sldSz cx="12192000" cy="6858000" type="screen16x9"/>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Relationship Id="rId4" Type="http://schemas.openxmlformats.org/officeDocument/2006/relationships/slide" Target="slides/slide4.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8.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3.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07251D"/>
          </a:solidFill>
          <a:ln>
            <a:noFill/>
          </a:ln>
        </p:spPr>
      </p:sp>
      <p:sp>
        <p:nvSpPr>
          <p:cNvPr id="3" name="Top rule"/>
          <p:cNvSpPr/>
          <p:nvPr/>
        </p:nvSpPr>
        <p:spPr>
          <a:xfrm>
            <a:off x="0" y="0"/>
            <a:ext cx="12192000" cy="70000"/>
          </a:xfrm>
          <a:prstGeom prst="rect">
            <a:avLst/>
          </a:prstGeom>
          <a:solidFill>
            <a:srgbClr val="D4AF37"/>
          </a:solidFill>
          <a:ln>
            <a:noFill/>
          </a:ln>
        </p:spPr>
      </p:sp>
      <p:sp>
        <p:nvSpPr>
          <p:cNvPr id="4" name="Accent panel"/>
          <p:cNvSpPr/>
          <p:nvPr/>
        </p:nvSpPr>
        <p:spPr>
          <a:xfrm>
            <a:off x="9300000" y="0"/>
            <a:ext cx="2892000" cy="6858000"/>
          </a:xfrm>
          <a:prstGeom prst="rect">
            <a:avLst/>
          </a:prstGeom>
          <a:solidFill>
            <a:srgbClr val="0B6E4F"/>
          </a:solidFill>
          <a:ln>
            <a:noFill/>
          </a:ln>
        </p:spPr>
      </p:sp>
      <p:sp>
        <p:nvSpPr>
          <p:cNvPr id="5" name="Gold rule"/>
          <p:cNvSpPr/>
          <p:nvPr/>
        </p:nvSpPr>
        <p:spPr>
          <a:xfrm>
            <a:off x="8880000" y="0"/>
            <a:ext cx="120000" cy="6858000"/>
          </a:xfrm>
          <a:prstGeom prst="rect">
            <a:avLst/>
          </a:prstGeom>
          <a:solidFill>
            <a:srgbClr val="D4AF37"/>
          </a:solidFill>
          <a:ln>
            <a:noFill/>
          </a:ln>
        </p:spPr>
      </p:sp>
      <p:sp>
        <p:nvSpPr>
          <p:cNvPr id="6" name="VoiceInsights logo bar 1"/>
          <p:cNvSpPr/>
          <p:nvPr/>
        </p:nvSpPr>
        <p:spPr>
          <a:xfrm>
            <a:off x="640000" y="400000"/>
            <a:ext cx="90000" cy="180000"/>
          </a:xfrm>
          <a:prstGeom prst="roundRect">
            <a:avLst/>
          </a:prstGeom>
          <a:solidFill>
            <a:srgbClr val="0B6E4F"/>
          </a:solidFill>
          <a:ln>
            <a:noFill/>
          </a:ln>
        </p:spPr>
      </p:sp>
      <p:sp>
        <p:nvSpPr>
          <p:cNvPr id="7" name="VoiceInsights logo bar 2"/>
          <p:cNvSpPr/>
          <p:nvPr/>
        </p:nvSpPr>
        <p:spPr>
          <a:xfrm>
            <a:off x="800000" y="315000"/>
            <a:ext cx="110000" cy="350000"/>
          </a:xfrm>
          <a:prstGeom prst="roundRect">
            <a:avLst/>
          </a:prstGeom>
          <a:solidFill>
            <a:srgbClr val="0B6E4F"/>
          </a:solidFill>
          <a:ln>
            <a:noFill/>
          </a:ln>
        </p:spPr>
      </p:sp>
      <p:sp>
        <p:nvSpPr>
          <p:cNvPr id="8" name="VoiceInsights logo bar 3"/>
          <p:cNvSpPr/>
          <p:nvPr/>
        </p:nvSpPr>
        <p:spPr>
          <a:xfrm>
            <a:off x="980000" y="210000"/>
            <a:ext cx="125000" cy="560000"/>
          </a:xfrm>
          <a:prstGeom prst="roundRect">
            <a:avLst/>
          </a:prstGeom>
          <a:solidFill>
            <a:srgbClr val="0B6E4F"/>
          </a:solidFill>
          <a:ln>
            <a:noFill/>
          </a:ln>
        </p:spPr>
      </p:sp>
      <p:sp>
        <p:nvSpPr>
          <p:cNvPr id="9" name="VoiceInsights logo bar 4"/>
          <p:cNvSpPr/>
          <p:nvPr/>
        </p:nvSpPr>
        <p:spPr>
          <a:xfrm>
            <a:off x="1175000" y="315000"/>
            <a:ext cx="110000" cy="350000"/>
          </a:xfrm>
          <a:prstGeom prst="roundRect">
            <a:avLst/>
          </a:prstGeom>
          <a:solidFill>
            <a:srgbClr val="0B6E4F"/>
          </a:solidFill>
          <a:ln>
            <a:noFill/>
          </a:ln>
        </p:spPr>
      </p:sp>
      <p:sp>
        <p:nvSpPr>
          <p:cNvPr id="10" name="VoiceInsights logo bar 5"/>
          <p:cNvSpPr/>
          <p:nvPr/>
        </p:nvSpPr>
        <p:spPr>
          <a:xfrm>
            <a:off x="1355000" y="400000"/>
            <a:ext cx="90000" cy="180000"/>
          </a:xfrm>
          <a:prstGeom prst="roundRect">
            <a:avLst/>
          </a:prstGeom>
          <a:solidFill>
            <a:srgbClr val="0B6E4F"/>
          </a:solidFill>
          <a:ln>
            <a:noFill/>
          </a:ln>
        </p:spPr>
      </p:sp>
      <p:sp>
        <p:nvSpPr>
          <p:cNvPr id="11"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FFFFFF"/>
                </a:solidFill>
                <a:latin typeface="Aptos"/>
              </a:rPr>
              <a:t>VOICEINSIGHTS AFRICA</a:t>
            </a:r>
          </a:p>
        </p:txBody>
      </p:sp>
      <p:sp>
        <p:nvSpPr>
          <p:cNvPr id="12" name="Classification"/>
          <p:cNvSpPr txBox="1"/>
          <p:nvPr/>
        </p:nvSpPr>
        <p:spPr>
          <a:xfrm>
            <a:off x="640000" y="1160000"/>
            <a:ext cx="7100000" cy="420000"/>
          </a:xfrm>
          <a:prstGeom prst="rect">
            <a:avLst/>
          </a:prstGeom>
          <a:noFill/>
          <a:ln>
            <a:noFill/>
          </a:ln>
        </p:spPr>
        <p:txBody>
          <a:bodyPr wrap="square" anchor="t" lIns="0" rIns="0" tIns="0" bIns="0"/>
          <a:lstStyle/>
          <a:p>
            <a:pPr algn="l"/>
            <a:r>
              <a:rPr lang="en-US" sz="1250" b="1">
                <a:solidFill>
                  <a:srgbClr val="D4AF37"/>
                </a:solidFill>
                <a:latin typeface="Aptos"/>
              </a:rPr>
              <a:t>FLAGSHIP SYNTHETIC DEMONSTRATION PUBLICATION</a:t>
            </a:r>
          </a:p>
        </p:txBody>
      </p:sp>
      <p:sp>
        <p:nvSpPr>
          <p:cNvPr id="13" name="Title"/>
          <p:cNvSpPr txBox="1"/>
          <p:nvPr/>
        </p:nvSpPr>
        <p:spPr>
          <a:xfrm>
            <a:off x="640000" y="1760000"/>
            <a:ext cx="7600000" cy="1900000"/>
          </a:xfrm>
          <a:prstGeom prst="rect">
            <a:avLst/>
          </a:prstGeom>
          <a:noFill/>
          <a:ln>
            <a:noFill/>
          </a:ln>
        </p:spPr>
        <p:txBody>
          <a:bodyPr wrap="square" anchor="t" lIns="0" rIns="0" tIns="0" bIns="0"/>
          <a:lstStyle/>
          <a:p>
            <a:pPr algn="l"/>
            <a:r>
              <a:rPr lang="en-US" sz="3600" b="1">
                <a:solidFill>
                  <a:srgbClr val="FFFFFF"/>
                </a:solidFill>
                <a:latin typeface="Aptos"/>
              </a:rPr>
              <a:t>Humanitarian Needs Assessment Report</a:t>
            </a:r>
          </a:p>
        </p:txBody>
      </p:sp>
      <p:sp>
        <p:nvSpPr>
          <p:cNvPr id="14" name="Subtitle"/>
          <p:cNvSpPr txBox="1"/>
          <p:nvPr/>
        </p:nvSpPr>
        <p:spPr>
          <a:xfrm>
            <a:off x="640000" y="3900000"/>
            <a:ext cx="6900000" cy="450000"/>
          </a:xfrm>
          <a:prstGeom prst="rect">
            <a:avLst/>
          </a:prstGeom>
          <a:noFill/>
          <a:ln>
            <a:noFill/>
          </a:ln>
        </p:spPr>
        <p:txBody>
          <a:bodyPr wrap="square" anchor="t" lIns="0" rIns="0" tIns="0" bIns="0"/>
          <a:lstStyle/>
          <a:p>
            <a:pPr algn="l"/>
            <a:r>
              <a:rPr lang="en-US" sz="1800">
                <a:solidFill>
                  <a:srgbClr val="D8E5DF"/>
                </a:solidFill>
                <a:latin typeface="Aptos"/>
              </a:rPr>
              <a:t>Somalia | Humanitarian Response</a:t>
            </a:r>
          </a:p>
        </p:txBody>
      </p:sp>
      <p:sp>
        <p:nvSpPr>
          <p:cNvPr id="15" name="Prepared"/>
          <p:cNvSpPr txBox="1"/>
          <p:nvPr/>
        </p:nvSpPr>
        <p:spPr>
          <a:xfrm>
            <a:off x="640000" y="5000000"/>
            <a:ext cx="6500000" cy="760000"/>
          </a:xfrm>
          <a:prstGeom prst="rect">
            <a:avLst/>
          </a:prstGeom>
          <a:noFill/>
          <a:ln>
            <a:noFill/>
          </a:ln>
        </p:spPr>
        <p:txBody>
          <a:bodyPr wrap="square" anchor="t" lIns="0" rIns="0" tIns="0" bIns="0"/>
          <a:lstStyle/>
          <a:p>
            <a:pPr algn="l"/>
            <a:r>
              <a:rPr lang="en-US" sz="1450">
                <a:solidFill>
                  <a:srgbClr val="FFFFFF"/>
                </a:solidFill>
                <a:latin typeface="Aptos"/>
              </a:rPr>
              <a:t>Prepared by VoiceInsights Africa Every Voice. Every Language. Every Insight.</a:t>
            </a:r>
          </a:p>
        </p:txBody>
      </p:sp>
      <p:sp>
        <p:nvSpPr>
          <p:cNvPr id="16" name="Notice"/>
          <p:cNvSpPr txBox="1"/>
          <p:nvPr/>
        </p:nvSpPr>
        <p:spPr>
          <a:xfrm>
            <a:off x="9550000" y="5260000"/>
            <a:ext cx="2050000" cy="650000"/>
          </a:xfrm>
          <a:prstGeom prst="rect">
            <a:avLst/>
          </a:prstGeom>
          <a:noFill/>
          <a:ln>
            <a:noFill/>
          </a:ln>
        </p:spPr>
        <p:txBody>
          <a:bodyPr wrap="square" anchor="ctr" lIns="0" rIns="0" tIns="0" bIns="0"/>
          <a:lstStyle/>
          <a:p>
            <a:pPr algn="c"/>
            <a:r>
              <a:rPr lang="en-US" sz="1250" b="1">
                <a:solidFill>
                  <a:srgbClr val="FFFFFF"/>
                </a:solidFill>
                <a:latin typeface="Aptos"/>
              </a:rPr>
              <a:t>SYNTHETIC DATA Not official statistics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Five-minute leadership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executive brief: The priority for the humanitarian coordination team is converting early humanitarian response progress into durable gains before the next reporting cycle.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Prioritise severity-four locations in the next allocation round.</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Scale protection referral and safe disclosure pathways.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snapshot: Restore minimum safe-water coverage at priority sites.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critical findings: Multisector severity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What matters, why it matters and what must be decided</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Executive Brief</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summary: Every number in this publication answers one question: what is actually happening with humanitarian response performance in Somalia, and for whom. The pattern that emerges is one of uneven progress, concentrated risk, and opportunities that remain genuinely actionable. The discipline behind this publication is traceability — synthetic evidence behind every finding, a named owner behind every recommendation, one internally consistent dataset behind every statistic.</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decision: Prioritise severity-four locations in the next allocation round.</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Accountable choices for leadership</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Priority Decisions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Prioritise severity-four locations in the next allocation round.</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protection referral and safe disclosure pathways.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Restore minimum safe-water coverage at priority sites.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Expand shock-responsive cash with market monitoring.</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Close the community feedback loop within fourteen days.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Evidence-backed signals requiring attention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Critical Findings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Multisector severity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Protection exposure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Safe water access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Acute livelihood stress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Accountability to affected people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Claim-to-source lineage and confidence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 Book</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“In Bay Cluster, multisector severity shapes whether rural women can turn services into lasting outcomes.”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“Young adults in Gedo Cluster put it plainly: protection exposure is what decides whether progress holds or slips back.”</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“Why does Lower Shabelle Cluster lag behind? Ask persons with disabilities, and the answer comes back to safe water access.”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“Elsewhere, acute livelihood stress might be a footnote. For frontline workers in Banadir Displacement Sites, it is the whole story.”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“Low-income households in Bay Cluster frame it simply: when accountability to affected people breaks down, everything else does too.”</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Evidence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evidence: “In Bay Cluster, multisector severity shapes whether rural women can turn services into lasting outcomes.”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“Young adults in Gedo Cluster put it plainly: protection exposure is what decides whether progress holds or slips back.”</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“Why does Lower Shabelle Cluster lag behind? Ask persons with disabilities, and the answer comes back to safe water access.”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“Elsewhere, acute livelihood stress might be a footnote. For frontline workers in Banadir Displacement Sites, it is the whole story.”</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“Low-income households in Bay Cluster frame it simply: when accountability to affected people breaks down, everything else does too.”</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Sampling, weighting, uncertainty and reproducibility</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Statistical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Somalia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Prioritisation for management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and Opportunity Matrix</a:t>
            </a:r>
          </a:p>
        </p:txBody>
      </p:sp>
      <p:sp>
        <p:nvSpPr>
          <p:cNvPr id="12" name="Risk panel"/>
          <p:cNvSpPr/>
          <p:nvPr/>
        </p:nvSpPr>
        <p:spPr>
          <a:xfrm>
            <a:off x="640000" y="2050000"/>
            <a:ext cx="5200000" cy="3400000"/>
          </a:xfrm>
          <a:prstGeom prst="roundRect">
            <a:avLst/>
          </a:prstGeom>
          <a:solidFill>
            <a:srgbClr val="FFF2F0"/>
          </a:solidFill>
          <a:ln w="12700">
            <a:solidFill>
              <a:srgbClr val="E7C5BF"/>
            </a:solidFill>
          </a:ln>
        </p:spPr>
      </p:sp>
      <p:sp>
        <p:nvSpPr>
          <p:cNvPr id="13" name="Opportunity panel"/>
          <p:cNvSpPr/>
          <p:nvPr/>
        </p:nvSpPr>
        <p:spPr>
          <a:xfrm>
            <a:off x="5980000" y="2050000"/>
            <a:ext cx="5200000" cy="3400000"/>
          </a:xfrm>
          <a:prstGeom prst="roundRect">
            <a:avLst/>
          </a:prstGeom>
          <a:solidFill>
            <a:srgbClr val="ECF7F1"/>
          </a:solidFill>
          <a:ln w="12700">
            <a:solidFill>
              <a:srgbClr val="B8DCCB"/>
            </a:solidFill>
          </a:ln>
        </p:spPr>
      </p:sp>
      <p:sp>
        <p:nvSpPr>
          <p:cNvPr id="14" name="Risk title"/>
          <p:cNvSpPr txBox="1"/>
          <p:nvPr/>
        </p:nvSpPr>
        <p:spPr>
          <a:xfrm>
            <a:off x="940000" y="2320000"/>
            <a:ext cx="4400000" cy="330000"/>
          </a:xfrm>
          <a:prstGeom prst="rect">
            <a:avLst/>
          </a:prstGeom>
          <a:noFill/>
          <a:ln>
            <a:noFill/>
          </a:ln>
        </p:spPr>
        <p:txBody>
          <a:bodyPr wrap="square" anchor="t" lIns="0" rIns="0" tIns="0" bIns="0"/>
          <a:lstStyle/>
          <a:p>
            <a:pPr algn="l"/>
            <a:r>
              <a:rPr lang="en-US" sz="1350" b="1">
                <a:solidFill>
                  <a:srgbClr val="A33A2B"/>
                </a:solidFill>
                <a:latin typeface="Aptos"/>
              </a:rPr>
              <a:t>CRITICAL RISKS</a:t>
            </a:r>
          </a:p>
        </p:txBody>
      </p:sp>
      <p:sp>
        <p:nvSpPr>
          <p:cNvPr id="15" name="Opportunity title"/>
          <p:cNvSpPr txBox="1"/>
          <p:nvPr/>
        </p:nvSpPr>
        <p:spPr>
          <a:xfrm>
            <a:off x="6280000" y="2320000"/>
            <a:ext cx="4400000" cy="330000"/>
          </a:xfrm>
          <a:prstGeom prst="rect">
            <a:avLst/>
          </a:prstGeom>
          <a:noFill/>
          <a:ln>
            <a:noFill/>
          </a:ln>
        </p:spPr>
        <p:txBody>
          <a:bodyPr wrap="square" anchor="t" lIns="0" rIns="0" tIns="0" bIns="0"/>
          <a:lstStyle/>
          <a:p>
            <a:pPr algn="l"/>
            <a:r>
              <a:rPr lang="en-US" sz="1350" b="1">
                <a:solidFill>
                  <a:srgbClr val="0B6E4F"/>
                </a:solidFill>
                <a:latin typeface="Aptos"/>
              </a:rPr>
              <a:t>TOP OPPORTUNITIES</a:t>
            </a:r>
          </a:p>
        </p:txBody>
      </p:sp>
      <p:sp>
        <p:nvSpPr>
          <p:cNvPr id="16" name="Risks"/>
          <p:cNvSpPr txBox="1"/>
          <p:nvPr/>
        </p:nvSpPr>
        <p:spPr>
          <a:xfrm>
            <a:off x="940000" y="2850000"/>
            <a:ext cx="4400000" cy="2200000"/>
          </a:xfrm>
          <a:prstGeom prst="rect">
            <a:avLst/>
          </a:prstGeom>
          <a:noFill/>
          <a:ln>
            <a:noFill/>
          </a:ln>
        </p:spPr>
        <p:txBody>
          <a:bodyPr wrap="square" anchor="t" lIns="0" rIns="0" tIns="0" bIns="0"/>
          <a:lstStyle/>
          <a:p>
            <a:pPr algn="l"/>
            <a:r>
              <a:rPr lang="en-US" sz="1450">
                <a:solidFill>
                  <a:srgbClr val="532B25"/>
                </a:solidFill>
                <a:latin typeface="Aptos"/>
              </a:rPr>
              <a:t>1. External factors outside this publication's scope could offset gains in humanitarian response 2. Uneven implementation widens existing disparities in humanitarian response</a:t>
            </a:r>
          </a:p>
        </p:txBody>
      </p:sp>
      <p:sp>
        <p:nvSpPr>
          <p:cNvPr id="17" name="Opportunities"/>
          <p:cNvSpPr txBox="1"/>
          <p:nvPr/>
        </p:nvSpPr>
        <p:spPr>
          <a:xfrm>
            <a:off x="6280000" y="2850000"/>
            <a:ext cx="4400000" cy="2200000"/>
          </a:xfrm>
          <a:prstGeom prst="rect">
            <a:avLst/>
          </a:prstGeom>
          <a:noFill/>
          <a:ln>
            <a:noFill/>
          </a:ln>
        </p:spPr>
        <p:txBody>
          <a:bodyPr wrap="square" anchor="t" lIns="0" rIns="0" tIns="0" bIns="0"/>
          <a:lstStyle/>
          <a:p>
            <a:pPr algn="l"/>
            <a:r>
              <a:rPr lang="en-US" sz="1450">
                <a:solidFill>
                  <a:srgbClr val="164C3A"/>
                </a:solidFill>
                <a:latin typeface="Aptos"/>
              </a:rPr>
              <a:t>1. Scaling what is already working in the highest-performing region 2. Targeted acceleration in the lowest-performing part of humanitarian response 3. Stronger feedback accountability between frontline delivery and leadership</a:t>
            </a:r>
          </a:p>
        </p:txBody>
      </p:sp>
      <p:sp>
        <p:nvSpPr>
          <p:cNvPr id="18"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International Standards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framework: CHS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relevance: Applied where relevant to Humanitarian Response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EVI-HUM-001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EVI-HUM-002</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limitations: Synthetic demonstration mapping; institutional validation not implied</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OECD-DAC</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Synthetic evidence indicates a strong relevance signal, subject to the stated design limitations.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coherence signal, subject to the stated design limitations.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effectiveness signal, subject to the stated design limitations.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moderate-to-strong efficiency signal, subject to the stated design limitations.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Synthetic evidence indicates a strong impact signal, subject to the stated design limitations.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Results-Based Management</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inputs: Governed synthetic data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Delivery capacity</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inputs: Approved financing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Evidence collection</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activities: Segmented analysis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Core Humanitarian Standard</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commitment number: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commitment: CHS Commitment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ids: EVI-HUM-001</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status: APPLIED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action: Validate relevance and assign an accountable owner before live use.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Immediate, medium-term and strategic action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Prioritise severity-four locations in the next allocation round.</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protection referral and safe disclosure pathways.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Restore minimum safe-water coverage at priority sites.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Expand shock-responsive cash with market monitoring.</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Close the community feedback loop within fourteen days.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Evidence, statistical, visual and decision assurance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Quality Gate</a:t>
            </a:r>
          </a:p>
        </p:txBody>
      </p:sp>
      <p:sp>
        <p:nvSpPr>
          <p:cNvPr id="12" name="Metric card 1"/>
          <p:cNvSpPr/>
          <p:nvPr/>
        </p:nvSpPr>
        <p:spPr>
          <a:xfrm>
            <a:off x="640000" y="2050000"/>
            <a:ext cx="2580000" cy="1500000"/>
          </a:xfrm>
          <a:prstGeom prst="roundRect">
            <a:avLst/>
          </a:prstGeom>
          <a:solidFill>
            <a:srgbClr val="FFFFFF"/>
          </a:solidFill>
          <a:ln w="12700">
            <a:solidFill>
              <a:srgbClr val="DCE7E2"/>
            </a:solidFill>
          </a:ln>
        </p:spPr>
      </p:sp>
      <p:sp>
        <p:nvSpPr>
          <p:cNvPr id="13" name="Metric value 1"/>
          <p:cNvSpPr txBox="1"/>
          <p:nvPr/>
        </p:nvSpPr>
        <p:spPr>
          <a:xfrm>
            <a:off x="82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4" name="Metric label 1"/>
          <p:cNvSpPr txBox="1"/>
          <p:nvPr/>
        </p:nvSpPr>
        <p:spPr>
          <a:xfrm>
            <a:off x="82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Editorial Review Passed</a:t>
            </a:r>
          </a:p>
        </p:txBody>
      </p:sp>
      <p:sp>
        <p:nvSpPr>
          <p:cNvPr id="15" name="Metric card 2"/>
          <p:cNvSpPr/>
          <p:nvPr/>
        </p:nvSpPr>
        <p:spPr>
          <a:xfrm>
            <a:off x="3470000" y="2050000"/>
            <a:ext cx="2580000" cy="1500000"/>
          </a:xfrm>
          <a:prstGeom prst="roundRect">
            <a:avLst/>
          </a:prstGeom>
          <a:solidFill>
            <a:srgbClr val="FFFFFF"/>
          </a:solidFill>
          <a:ln w="12700">
            <a:solidFill>
              <a:srgbClr val="DCE7E2"/>
            </a:solidFill>
          </a:ln>
        </p:spPr>
      </p:sp>
      <p:sp>
        <p:nvSpPr>
          <p:cNvPr id="16" name="Metric value 2"/>
          <p:cNvSpPr txBox="1"/>
          <p:nvPr/>
        </p:nvSpPr>
        <p:spPr>
          <a:xfrm>
            <a:off x="365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17" name="Metric label 2"/>
          <p:cNvSpPr txBox="1"/>
          <p:nvPr/>
        </p:nvSpPr>
        <p:spPr>
          <a:xfrm>
            <a:off x="365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Evidence Review Passed</a:t>
            </a:r>
          </a:p>
        </p:txBody>
      </p:sp>
      <p:sp>
        <p:nvSpPr>
          <p:cNvPr id="18" name="Metric card 3"/>
          <p:cNvSpPr/>
          <p:nvPr/>
        </p:nvSpPr>
        <p:spPr>
          <a:xfrm>
            <a:off x="6300000" y="2050000"/>
            <a:ext cx="2580000" cy="1500000"/>
          </a:xfrm>
          <a:prstGeom prst="roundRect">
            <a:avLst/>
          </a:prstGeom>
          <a:solidFill>
            <a:srgbClr val="FFFFFF"/>
          </a:solidFill>
          <a:ln w="12700">
            <a:solidFill>
              <a:srgbClr val="DCE7E2"/>
            </a:solidFill>
          </a:ln>
        </p:spPr>
      </p:sp>
      <p:sp>
        <p:nvSpPr>
          <p:cNvPr id="19" name="Metric value 3"/>
          <p:cNvSpPr txBox="1"/>
          <p:nvPr/>
        </p:nvSpPr>
        <p:spPr>
          <a:xfrm>
            <a:off x="648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0" name="Metric label 3"/>
          <p:cNvSpPr txBox="1"/>
          <p:nvPr/>
        </p:nvSpPr>
        <p:spPr>
          <a:xfrm>
            <a:off x="648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Publication Integrity Verified</a:t>
            </a:r>
          </a:p>
        </p:txBody>
      </p:sp>
      <p:sp>
        <p:nvSpPr>
          <p:cNvPr id="21" name="Metric card 4"/>
          <p:cNvSpPr/>
          <p:nvPr/>
        </p:nvSpPr>
        <p:spPr>
          <a:xfrm>
            <a:off x="9130000" y="2050000"/>
            <a:ext cx="2580000" cy="1500000"/>
          </a:xfrm>
          <a:prstGeom prst="roundRect">
            <a:avLst/>
          </a:prstGeom>
          <a:solidFill>
            <a:srgbClr val="FFFFFF"/>
          </a:solidFill>
          <a:ln w="12700">
            <a:solidFill>
              <a:srgbClr val="DCE7E2"/>
            </a:solidFill>
          </a:ln>
        </p:spPr>
      </p:sp>
      <p:sp>
        <p:nvSpPr>
          <p:cNvPr id="22" name="Metric value 4"/>
          <p:cNvSpPr txBox="1"/>
          <p:nvPr/>
        </p:nvSpPr>
        <p:spPr>
          <a:xfrm>
            <a:off x="9310000" y="2300000"/>
            <a:ext cx="2220000" cy="550000"/>
          </a:xfrm>
          <a:prstGeom prst="rect">
            <a:avLst/>
          </a:prstGeom>
          <a:noFill/>
          <a:ln>
            <a:noFill/>
          </a:ln>
        </p:spPr>
        <p:txBody>
          <a:bodyPr wrap="square" anchor="t" lIns="0" rIns="0" tIns="0" bIns="0"/>
          <a:lstStyle/>
          <a:p>
            <a:pPr algn="l"/>
            <a:r>
              <a:rPr lang="en-US" sz="2700" b="1">
                <a:solidFill>
                  <a:srgbClr val="0B2E59"/>
                </a:solidFill>
                <a:latin typeface="Aptos"/>
              </a:rPr>
              <a:t>Passed</a:t>
            </a:r>
          </a:p>
        </p:txBody>
      </p:sp>
      <p:sp>
        <p:nvSpPr>
          <p:cNvPr id="23" name="Metric label 4"/>
          <p:cNvSpPr txBox="1"/>
          <p:nvPr/>
        </p:nvSpPr>
        <p:spPr>
          <a:xfrm>
            <a:off x="9310000" y="3000000"/>
            <a:ext cx="2220000" cy="380000"/>
          </a:xfrm>
          <a:prstGeom prst="rect">
            <a:avLst/>
          </a:prstGeom>
          <a:noFill/>
          <a:ln>
            <a:noFill/>
          </a:ln>
        </p:spPr>
        <p:txBody>
          <a:bodyPr wrap="square" anchor="t" lIns="0" rIns="0" tIns="0" bIns="0"/>
          <a:lstStyle/>
          <a:p>
            <a:pPr algn="l"/>
            <a:r>
              <a:rPr lang="en-US" sz="1150" b="1">
                <a:solidFill>
                  <a:srgbClr val="52667A"/>
                </a:solidFill>
                <a:latin typeface="Aptos"/>
              </a:rPr>
              <a:t>Accessibility Verified</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Visual Intelligence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visualizations: Executive Kpi Cards: Multisector severity score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Regional Heat Map: Protection referral coverage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Choropleth Map: Safe water access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Risk Matrix: Feedback closure rate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visualizations: Decision Matrix: Multisector severity score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Accessibility Assurance</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wcag target: WCAG 2.2 AA</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tagged pdf required: true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alt text required: true</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table fallback required: true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keyboard navigation required: true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Publication Products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exports: Premium PDF</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Editable Word</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Native PowerPoint</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Statistical Excel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exports: Board Deck</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Methodology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research objectives: Assess humanitarian response performance and equity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research objectives: Identify operational drivers and decision priorities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What outcomes are changing?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Who is being left behind?</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evaluation questions: Which actions are most likely to improve performance?</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Sampling Design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Somalia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Weighting and Uncertainty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Somalia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Reliability and Validity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Somalia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Missing Data and Outliers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sampling design: Stratified multi-stage synthetic demonstration design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frame: Synthetic frame covering programme-relevant population groups in Somalia</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Region</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Urban/rural</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stratification: Sex</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Regional Intelligence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Choropleth Map: Safe water access</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Performance Heat 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visual: Regional Heat Map: Protection referral coverage</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Risk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risk: External factors outside this publication's scope could offset gains in humanitarian response</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Low</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impact: Medium</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risk: Uneven implementation widens existing disparities in humanitarian response</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likelihood: High</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Decision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Prioritise severity-four locations in the next allocation round.</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protection referral and safe disclosure pathways.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Restore minimum safe-water coverage at priority sites.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Expand shock-responsive cash with market monitoring.</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Close the community feedback loop within fourteen days.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27</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Opportunity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Scaling what is already working in the highest-performing region</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Targeted acceleration in the lowest-performing part of humanitarian response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Stronger feedback accountability between frontline delivery and leadership</a:t>
            </a:r>
          </a:p>
        </p:txBody>
      </p:sp>
      <p:sp>
        <p:nvSpPr>
          <p:cNvPr id="21"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Cost of Inaction</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narrative: Without corrective action, existing gaps in humanitarian response are likely to persist and may increase the future cost of recovery.</a:t>
            </a:r>
          </a:p>
        </p:txBody>
      </p:sp>
      <p:sp>
        <p:nvSpPr>
          <p:cNvPr id="15"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29</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Ownership Matrix</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DEC-HUM-01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DEC-HUM-02</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DEC-HUM-03</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DEC-HUM-04</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DEC-HUM-05</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30</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Implementation Roadmap</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Prioritise severity-four locations in the next allocation round.</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Scale protection referral and safe disclosure pathways.</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Restore minimum safe-water coverage at priority sites.</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Expand shock-responsive cash with market monitoring.</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Close the community feedback loop within fourteen days.</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31</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Data Dictionary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variable: indicator 1</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label: Synthetic Humanitarian Response indicator 1</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type: numeric</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allowed values: 0–100</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missing code: NA</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32</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Decision intelligence</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Appendices</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Technical methodology</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Sampling and weighting</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Evidence registry</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Statistical tables</a:t>
            </a:r>
          </a:p>
        </p:txBody>
      </p:sp>
      <p:sp>
        <p:nvSpPr>
          <p:cNvPr id="24" name="Number 5"/>
          <p:cNvSpPr/>
          <p:nvPr/>
        </p:nvSpPr>
        <p:spPr>
          <a:xfrm>
            <a:off x="640000" y="5040000"/>
            <a:ext cx="430000" cy="430000"/>
          </a:xfrm>
          <a:prstGeom prst="roundRect">
            <a:avLst/>
          </a:prstGeom>
          <a:solidFill>
            <a:srgbClr val="0B6E4F"/>
          </a:solidFill>
          <a:ln>
            <a:noFill/>
          </a:ln>
        </p:spPr>
      </p:sp>
      <p:sp>
        <p:nvSpPr>
          <p:cNvPr id="25" name="Number text 5"/>
          <p:cNvSpPr txBox="1"/>
          <p:nvPr/>
        </p:nvSpPr>
        <p:spPr>
          <a:xfrm>
            <a:off x="640000" y="5115000"/>
            <a:ext cx="430000" cy="220000"/>
          </a:xfrm>
          <a:prstGeom prst="rect">
            <a:avLst/>
          </a:prstGeom>
          <a:noFill/>
          <a:ln>
            <a:noFill/>
          </a:ln>
        </p:spPr>
        <p:txBody>
          <a:bodyPr wrap="square" anchor="t" lIns="0" rIns="0" tIns="0" bIns="0"/>
          <a:lstStyle/>
          <a:p>
            <a:pPr algn="c"/>
            <a:r>
              <a:rPr lang="en-US" sz="1250" b="1">
                <a:solidFill>
                  <a:srgbClr val="FFFFFF"/>
                </a:solidFill>
                <a:latin typeface="Aptos"/>
              </a:rPr>
              <a:t>5</a:t>
            </a:r>
          </a:p>
        </p:txBody>
      </p:sp>
      <p:sp>
        <p:nvSpPr>
          <p:cNvPr id="26" name="Statement 5"/>
          <p:cNvSpPr txBox="1"/>
          <p:nvPr/>
        </p:nvSpPr>
        <p:spPr>
          <a:xfrm>
            <a:off x="1260000" y="5040000"/>
            <a:ext cx="9600000" cy="530000"/>
          </a:xfrm>
          <a:prstGeom prst="rect">
            <a:avLst/>
          </a:prstGeom>
          <a:noFill/>
          <a:ln>
            <a:noFill/>
          </a:ln>
        </p:spPr>
        <p:txBody>
          <a:bodyPr wrap="square" anchor="t" lIns="0" rIns="0" tIns="0" bIns="0"/>
          <a:lstStyle/>
          <a:p>
            <a:pPr algn="l"/>
            <a:r>
              <a:rPr lang="en-US" sz="1450">
                <a:solidFill>
                  <a:srgbClr val="102A43"/>
                </a:solidFill>
                <a:latin typeface="Aptos"/>
              </a:rPr>
              <a:t>Data dictionary</a:t>
            </a:r>
          </a:p>
        </p:txBody>
      </p:sp>
      <p:sp>
        <p:nvSpPr>
          <p:cNvPr id="27"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ckground"/>
          <p:cNvSpPr/>
          <p:nvPr/>
        </p:nvSpPr>
        <p:spPr>
          <a:xfrm>
            <a:off x="0" y="0"/>
            <a:ext cx="12192000" cy="6858000"/>
          </a:xfrm>
          <a:prstGeom prst="rect">
            <a:avLst/>
          </a:prstGeom>
          <a:solidFill>
            <a:srgbClr val="F5F8F6"/>
          </a:solidFill>
          <a:ln>
            <a:noFill/>
          </a:ln>
        </p:spPr>
      </p:sp>
      <p:sp>
        <p:nvSpPr>
          <p:cNvPr id="3" name="Top rule"/>
          <p:cNvSpPr/>
          <p:nvPr/>
        </p:nvSpPr>
        <p:spPr>
          <a:xfrm>
            <a:off x="0" y="0"/>
            <a:ext cx="12192000" cy="70000"/>
          </a:xfrm>
          <a:prstGeom prst="rect">
            <a:avLst/>
          </a:prstGeom>
          <a:solidFill>
            <a:srgbClr val="0B6E4F"/>
          </a:solidFill>
          <a:ln>
            <a:noFill/>
          </a:ln>
        </p:spPr>
      </p:sp>
      <p:sp>
        <p:nvSpPr>
          <p:cNvPr id="4" name="VoiceInsights logo bar 1"/>
          <p:cNvSpPr/>
          <p:nvPr/>
        </p:nvSpPr>
        <p:spPr>
          <a:xfrm>
            <a:off x="640000" y="400000"/>
            <a:ext cx="90000" cy="180000"/>
          </a:xfrm>
          <a:prstGeom prst="roundRect">
            <a:avLst/>
          </a:prstGeom>
          <a:solidFill>
            <a:srgbClr val="0B6E4F"/>
          </a:solidFill>
          <a:ln>
            <a:noFill/>
          </a:ln>
        </p:spPr>
      </p:sp>
      <p:sp>
        <p:nvSpPr>
          <p:cNvPr id="5" name="VoiceInsights logo bar 2"/>
          <p:cNvSpPr/>
          <p:nvPr/>
        </p:nvSpPr>
        <p:spPr>
          <a:xfrm>
            <a:off x="800000" y="315000"/>
            <a:ext cx="110000" cy="350000"/>
          </a:xfrm>
          <a:prstGeom prst="roundRect">
            <a:avLst/>
          </a:prstGeom>
          <a:solidFill>
            <a:srgbClr val="0B6E4F"/>
          </a:solidFill>
          <a:ln>
            <a:noFill/>
          </a:ln>
        </p:spPr>
      </p:sp>
      <p:sp>
        <p:nvSpPr>
          <p:cNvPr id="6" name="VoiceInsights logo bar 3"/>
          <p:cNvSpPr/>
          <p:nvPr/>
        </p:nvSpPr>
        <p:spPr>
          <a:xfrm>
            <a:off x="980000" y="210000"/>
            <a:ext cx="125000" cy="560000"/>
          </a:xfrm>
          <a:prstGeom prst="roundRect">
            <a:avLst/>
          </a:prstGeom>
          <a:solidFill>
            <a:srgbClr val="0B6E4F"/>
          </a:solidFill>
          <a:ln>
            <a:noFill/>
          </a:ln>
        </p:spPr>
      </p:sp>
      <p:sp>
        <p:nvSpPr>
          <p:cNvPr id="7" name="VoiceInsights logo bar 4"/>
          <p:cNvSpPr/>
          <p:nvPr/>
        </p:nvSpPr>
        <p:spPr>
          <a:xfrm>
            <a:off x="1175000" y="315000"/>
            <a:ext cx="110000" cy="350000"/>
          </a:xfrm>
          <a:prstGeom prst="roundRect">
            <a:avLst/>
          </a:prstGeom>
          <a:solidFill>
            <a:srgbClr val="0B6E4F"/>
          </a:solidFill>
          <a:ln>
            <a:noFill/>
          </a:ln>
        </p:spPr>
      </p:sp>
      <p:sp>
        <p:nvSpPr>
          <p:cNvPr id="8" name="VoiceInsights logo bar 5"/>
          <p:cNvSpPr/>
          <p:nvPr/>
        </p:nvSpPr>
        <p:spPr>
          <a:xfrm>
            <a:off x="1355000" y="400000"/>
            <a:ext cx="90000" cy="180000"/>
          </a:xfrm>
          <a:prstGeom prst="roundRect">
            <a:avLst/>
          </a:prstGeom>
          <a:solidFill>
            <a:srgbClr val="0B6E4F"/>
          </a:solidFill>
          <a:ln>
            <a:noFill/>
          </a:ln>
        </p:spPr>
      </p:sp>
      <p:sp>
        <p:nvSpPr>
          <p:cNvPr id="9" name="Brand"/>
          <p:cNvSpPr txBox="1"/>
          <p:nvPr/>
        </p:nvSpPr>
        <p:spPr>
          <a:xfrm>
            <a:off x="1300000" y="260000"/>
            <a:ext cx="3300000" cy="260000"/>
          </a:xfrm>
          <a:prstGeom prst="rect">
            <a:avLst/>
          </a:prstGeom>
          <a:noFill/>
          <a:ln>
            <a:noFill/>
          </a:ln>
        </p:spPr>
        <p:txBody>
          <a:bodyPr wrap="square" anchor="t" lIns="0" rIns="0" tIns="0" bIns="0"/>
          <a:lstStyle/>
          <a:p>
            <a:pPr algn="l"/>
            <a:r>
              <a:rPr lang="en-US" sz="1050" b="1">
                <a:solidFill>
                  <a:srgbClr val="0B6E4F"/>
                </a:solidFill>
                <a:latin typeface="Aptos"/>
              </a:rPr>
              <a:t>VOICEINSIGHTS AFRICA</a:t>
            </a:r>
          </a:p>
        </p:txBody>
      </p:sp>
      <p:sp>
        <p:nvSpPr>
          <p:cNvPr id="10" name="Section"/>
          <p:cNvSpPr txBox="1"/>
          <p:nvPr/>
        </p:nvSpPr>
        <p:spPr>
          <a:xfrm>
            <a:off x="640000" y="650000"/>
            <a:ext cx="8000000" cy="300000"/>
          </a:xfrm>
          <a:prstGeom prst="rect">
            <a:avLst/>
          </a:prstGeom>
          <a:noFill/>
          <a:ln>
            <a:noFill/>
          </a:ln>
        </p:spPr>
        <p:txBody>
          <a:bodyPr wrap="square" anchor="t" lIns="0" rIns="0" tIns="0" bIns="0"/>
          <a:lstStyle/>
          <a:p>
            <a:pPr algn="l"/>
            <a:r>
              <a:rPr lang="en-US" sz="1150" b="1">
                <a:solidFill>
                  <a:srgbClr val="0B6E4F"/>
                </a:solidFill>
                <a:latin typeface="Aptos"/>
              </a:rPr>
              <a:t>Responsible interpretation</a:t>
            </a:r>
          </a:p>
        </p:txBody>
      </p:sp>
      <p:sp>
        <p:nvSpPr>
          <p:cNvPr id="11" name="Title"/>
          <p:cNvSpPr txBox="1"/>
          <p:nvPr/>
        </p:nvSpPr>
        <p:spPr>
          <a:xfrm>
            <a:off x="640000" y="1020000"/>
            <a:ext cx="10600000" cy="700000"/>
          </a:xfrm>
          <a:prstGeom prst="rect">
            <a:avLst/>
          </a:prstGeom>
          <a:noFill/>
          <a:ln>
            <a:noFill/>
          </a:ln>
        </p:spPr>
        <p:txBody>
          <a:bodyPr wrap="square" anchor="t" lIns="0" rIns="0" tIns="0" bIns="0"/>
          <a:lstStyle/>
          <a:p>
            <a:pPr algn="l"/>
            <a:r>
              <a:rPr lang="en-US" sz="2700" b="1">
                <a:solidFill>
                  <a:srgbClr val="102A43"/>
                </a:solidFill>
                <a:latin typeface="Aptos"/>
              </a:rPr>
              <a:t>Limitations and Integrity</a:t>
            </a:r>
          </a:p>
        </p:txBody>
      </p:sp>
      <p:sp>
        <p:nvSpPr>
          <p:cNvPr id="12" name="Number 1"/>
          <p:cNvSpPr/>
          <p:nvPr/>
        </p:nvSpPr>
        <p:spPr>
          <a:xfrm>
            <a:off x="640000" y="2000000"/>
            <a:ext cx="430000" cy="430000"/>
          </a:xfrm>
          <a:prstGeom prst="roundRect">
            <a:avLst/>
          </a:prstGeom>
          <a:solidFill>
            <a:srgbClr val="D4AF37"/>
          </a:solidFill>
          <a:ln>
            <a:noFill/>
          </a:ln>
        </p:spPr>
      </p:sp>
      <p:sp>
        <p:nvSpPr>
          <p:cNvPr id="13" name="Number text 1"/>
          <p:cNvSpPr txBox="1"/>
          <p:nvPr/>
        </p:nvSpPr>
        <p:spPr>
          <a:xfrm>
            <a:off x="640000" y="2075000"/>
            <a:ext cx="430000" cy="220000"/>
          </a:xfrm>
          <a:prstGeom prst="rect">
            <a:avLst/>
          </a:prstGeom>
          <a:noFill/>
          <a:ln>
            <a:noFill/>
          </a:ln>
        </p:spPr>
        <p:txBody>
          <a:bodyPr wrap="square" anchor="t" lIns="0" rIns="0" tIns="0" bIns="0"/>
          <a:lstStyle/>
          <a:p>
            <a:pPr algn="c"/>
            <a:r>
              <a:rPr lang="en-US" sz="1250" b="1">
                <a:solidFill>
                  <a:srgbClr val="102A43"/>
                </a:solidFill>
                <a:latin typeface="Aptos"/>
              </a:rPr>
              <a:t>1</a:t>
            </a:r>
          </a:p>
        </p:txBody>
      </p:sp>
      <p:sp>
        <p:nvSpPr>
          <p:cNvPr id="14" name="Statement 1"/>
          <p:cNvSpPr txBox="1"/>
          <p:nvPr/>
        </p:nvSpPr>
        <p:spPr>
          <a:xfrm>
            <a:off x="1260000" y="2000000"/>
            <a:ext cx="9600000" cy="530000"/>
          </a:xfrm>
          <a:prstGeom prst="rect">
            <a:avLst/>
          </a:prstGeom>
          <a:noFill/>
          <a:ln>
            <a:noFill/>
          </a:ln>
        </p:spPr>
        <p:txBody>
          <a:bodyPr wrap="square" anchor="t" lIns="0" rIns="0" tIns="0" bIns="0"/>
          <a:lstStyle/>
          <a:p>
            <a:pPr algn="l"/>
            <a:r>
              <a:rPr lang="en-US" sz="1650" b="1">
                <a:solidFill>
                  <a:srgbClr val="102A43"/>
                </a:solidFill>
                <a:latin typeface="Aptos"/>
              </a:rPr>
              <a:t>All content is synthetic and must not be interpreted as official statistics</a:t>
            </a:r>
          </a:p>
        </p:txBody>
      </p:sp>
      <p:sp>
        <p:nvSpPr>
          <p:cNvPr id="15" name="Number 2"/>
          <p:cNvSpPr/>
          <p:nvPr/>
        </p:nvSpPr>
        <p:spPr>
          <a:xfrm>
            <a:off x="640000" y="2760000"/>
            <a:ext cx="430000" cy="430000"/>
          </a:xfrm>
          <a:prstGeom prst="roundRect">
            <a:avLst/>
          </a:prstGeom>
          <a:solidFill>
            <a:srgbClr val="0B6E4F"/>
          </a:solidFill>
          <a:ln>
            <a:noFill/>
          </a:ln>
        </p:spPr>
      </p:sp>
      <p:sp>
        <p:nvSpPr>
          <p:cNvPr id="16" name="Number text 2"/>
          <p:cNvSpPr txBox="1"/>
          <p:nvPr/>
        </p:nvSpPr>
        <p:spPr>
          <a:xfrm>
            <a:off x="640000" y="2835000"/>
            <a:ext cx="430000" cy="220000"/>
          </a:xfrm>
          <a:prstGeom prst="rect">
            <a:avLst/>
          </a:prstGeom>
          <a:noFill/>
          <a:ln>
            <a:noFill/>
          </a:ln>
        </p:spPr>
        <p:txBody>
          <a:bodyPr wrap="square" anchor="t" lIns="0" rIns="0" tIns="0" bIns="0"/>
          <a:lstStyle/>
          <a:p>
            <a:pPr algn="c"/>
            <a:r>
              <a:rPr lang="en-US" sz="1250" b="1">
                <a:solidFill>
                  <a:srgbClr val="FFFFFF"/>
                </a:solidFill>
                <a:latin typeface="Aptos"/>
              </a:rPr>
              <a:t>2</a:t>
            </a:r>
          </a:p>
        </p:txBody>
      </p:sp>
      <p:sp>
        <p:nvSpPr>
          <p:cNvPr id="17" name="Statement 2"/>
          <p:cNvSpPr txBox="1"/>
          <p:nvPr/>
        </p:nvSpPr>
        <p:spPr>
          <a:xfrm>
            <a:off x="1260000" y="2760000"/>
            <a:ext cx="9600000" cy="530000"/>
          </a:xfrm>
          <a:prstGeom prst="rect">
            <a:avLst/>
          </a:prstGeom>
          <a:noFill/>
          <a:ln>
            <a:noFill/>
          </a:ln>
        </p:spPr>
        <p:txBody>
          <a:bodyPr wrap="square" anchor="t" lIns="0" rIns="0" tIns="0" bIns="0"/>
          <a:lstStyle/>
          <a:p>
            <a:pPr algn="l"/>
            <a:r>
              <a:rPr lang="en-US" sz="1450">
                <a:solidFill>
                  <a:srgbClr val="102A43"/>
                </a:solidFill>
                <a:latin typeface="Aptos"/>
              </a:rPr>
              <a:t>Geographic references are illustrative</a:t>
            </a:r>
          </a:p>
        </p:txBody>
      </p:sp>
      <p:sp>
        <p:nvSpPr>
          <p:cNvPr id="18" name="Number 3"/>
          <p:cNvSpPr/>
          <p:nvPr/>
        </p:nvSpPr>
        <p:spPr>
          <a:xfrm>
            <a:off x="640000" y="3520000"/>
            <a:ext cx="430000" cy="430000"/>
          </a:xfrm>
          <a:prstGeom prst="roundRect">
            <a:avLst/>
          </a:prstGeom>
          <a:solidFill>
            <a:srgbClr val="0B6E4F"/>
          </a:solidFill>
          <a:ln>
            <a:noFill/>
          </a:ln>
        </p:spPr>
      </p:sp>
      <p:sp>
        <p:nvSpPr>
          <p:cNvPr id="19" name="Number text 3"/>
          <p:cNvSpPr txBox="1"/>
          <p:nvPr/>
        </p:nvSpPr>
        <p:spPr>
          <a:xfrm>
            <a:off x="640000" y="3595000"/>
            <a:ext cx="430000" cy="220000"/>
          </a:xfrm>
          <a:prstGeom prst="rect">
            <a:avLst/>
          </a:prstGeom>
          <a:noFill/>
          <a:ln>
            <a:noFill/>
          </a:ln>
        </p:spPr>
        <p:txBody>
          <a:bodyPr wrap="square" anchor="t" lIns="0" rIns="0" tIns="0" bIns="0"/>
          <a:lstStyle/>
          <a:p>
            <a:pPr algn="c"/>
            <a:r>
              <a:rPr lang="en-US" sz="1250" b="1">
                <a:solidFill>
                  <a:srgbClr val="FFFFFF"/>
                </a:solidFill>
                <a:latin typeface="Aptos"/>
              </a:rPr>
              <a:t>3</a:t>
            </a:r>
          </a:p>
        </p:txBody>
      </p:sp>
      <p:sp>
        <p:nvSpPr>
          <p:cNvPr id="20" name="Statement 3"/>
          <p:cNvSpPr txBox="1"/>
          <p:nvPr/>
        </p:nvSpPr>
        <p:spPr>
          <a:xfrm>
            <a:off x="1260000" y="3520000"/>
            <a:ext cx="9600000" cy="530000"/>
          </a:xfrm>
          <a:prstGeom prst="rect">
            <a:avLst/>
          </a:prstGeom>
          <a:noFill/>
          <a:ln>
            <a:noFill/>
          </a:ln>
        </p:spPr>
        <p:txBody>
          <a:bodyPr wrap="square" anchor="t" lIns="0" rIns="0" tIns="0" bIns="0"/>
          <a:lstStyle/>
          <a:p>
            <a:pPr algn="l"/>
            <a:r>
              <a:rPr lang="en-US" sz="1450">
                <a:solidFill>
                  <a:srgbClr val="102A43"/>
                </a:solidFill>
                <a:latin typeface="Aptos"/>
              </a:rPr>
              <a:t>Budget implications are directional and require formal costing</a:t>
            </a:r>
          </a:p>
        </p:txBody>
      </p:sp>
      <p:sp>
        <p:nvSpPr>
          <p:cNvPr id="21" name="Number 4"/>
          <p:cNvSpPr/>
          <p:nvPr/>
        </p:nvSpPr>
        <p:spPr>
          <a:xfrm>
            <a:off x="640000" y="4280000"/>
            <a:ext cx="430000" cy="430000"/>
          </a:xfrm>
          <a:prstGeom prst="roundRect">
            <a:avLst/>
          </a:prstGeom>
          <a:solidFill>
            <a:srgbClr val="0B6E4F"/>
          </a:solidFill>
          <a:ln>
            <a:noFill/>
          </a:ln>
        </p:spPr>
      </p:sp>
      <p:sp>
        <p:nvSpPr>
          <p:cNvPr id="22" name="Number text 4"/>
          <p:cNvSpPr txBox="1"/>
          <p:nvPr/>
        </p:nvSpPr>
        <p:spPr>
          <a:xfrm>
            <a:off x="640000" y="4355000"/>
            <a:ext cx="430000" cy="220000"/>
          </a:xfrm>
          <a:prstGeom prst="rect">
            <a:avLst/>
          </a:prstGeom>
          <a:noFill/>
          <a:ln>
            <a:noFill/>
          </a:ln>
        </p:spPr>
        <p:txBody>
          <a:bodyPr wrap="square" anchor="t" lIns="0" rIns="0" tIns="0" bIns="0"/>
          <a:lstStyle/>
          <a:p>
            <a:pPr algn="c"/>
            <a:r>
              <a:rPr lang="en-US" sz="1250" b="1">
                <a:solidFill>
                  <a:srgbClr val="FFFFFF"/>
                </a:solidFill>
                <a:latin typeface="Aptos"/>
              </a:rPr>
              <a:t>4</a:t>
            </a:r>
          </a:p>
        </p:txBody>
      </p:sp>
      <p:sp>
        <p:nvSpPr>
          <p:cNvPr id="23" name="Statement 4"/>
          <p:cNvSpPr txBox="1"/>
          <p:nvPr/>
        </p:nvSpPr>
        <p:spPr>
          <a:xfrm>
            <a:off x="1260000" y="4280000"/>
            <a:ext cx="9600000" cy="530000"/>
          </a:xfrm>
          <a:prstGeom prst="rect">
            <a:avLst/>
          </a:prstGeom>
          <a:noFill/>
          <a:ln>
            <a:noFill/>
          </a:ln>
        </p:spPr>
        <p:txBody>
          <a:bodyPr wrap="square" anchor="t" lIns="0" rIns="0" tIns="0" bIns="0"/>
          <a:lstStyle/>
          <a:p>
            <a:pPr algn="l"/>
            <a:r>
              <a:rPr lang="en-US" sz="1450">
                <a:solidFill>
                  <a:srgbClr val="102A43"/>
                </a:solidFill>
                <a:latin typeface="Aptos"/>
              </a:rPr>
              <a:t>Causal claims are not made without an appropriate design</a:t>
            </a:r>
          </a:p>
        </p:txBody>
      </p:sp>
      <p:sp>
        <p:nvSpPr>
          <p:cNvPr id="24" name="Footer"/>
          <p:cNvSpPr txBox="1"/>
          <p:nvPr/>
        </p:nvSpPr>
        <p:spPr>
          <a:xfrm>
            <a:off x="640000" y="6360000"/>
            <a:ext cx="10700000" cy="250000"/>
          </a:xfrm>
          <a:prstGeom prst="rect">
            <a:avLst/>
          </a:prstGeom>
          <a:noFill/>
          <a:ln>
            <a:noFill/>
          </a:ln>
        </p:spPr>
        <p:txBody>
          <a:bodyPr wrap="square" anchor="t" lIns="0" rIns="0" tIns="0" bIns="0"/>
          <a:lstStyle/>
          <a:p>
            <a:pPr algn="l"/>
            <a:r>
              <a:rPr lang="en-US" sz="900">
                <a:solidFill>
                  <a:srgbClr val="52667A"/>
                </a:solidFill>
                <a:latin typeface="Aptos"/>
              </a:rPr>
              <a:t>VoiceInsights Africa | Synthetic Demonstration Publication | 34</a:t>
            </a:r>
          </a:p>
        </p:txBody>
      </p:sp>
    </p:spTree>
  </p:cSld>
  <p:clrMapOvr>
    <a:masterClrMapping/>
  </p:clrMapOvr>
</p:sld>
</file>

<file path=docProps/app.xml><?xml version="1.0" encoding="utf-8"?>
<Properties xmlns="http://schemas.openxmlformats.org/officeDocument/2006/extended-properties">
  <Application>VoiceInsights Africa</Application>
  <Slides>34</Slides>
</Properties>
</file>

<file path=docProps/core.xml><?xml version="1.0" encoding="utf-8"?>
<cp:coreProperties xmlns:cp="http://schemas.openxmlformats.org/package/2006/metadata/core-properties" xmlns:dc="http://purl.org/dc/elements/1.1/">
  <dc:title>Humanitarian Needs Assessment Report</dc:title>
  <dc:creator>VoiceInsights Africa</dc:creator>
</cp:coreProperties>
</file>