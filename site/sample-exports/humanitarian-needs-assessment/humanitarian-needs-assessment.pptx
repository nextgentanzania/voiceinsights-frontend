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6C"/>
        </a:solidFill>
      </p:bgPr>
    </p:bg>
    <p:spTree>
      <p:nvGrpSpPr>
        <p:cNvPr id="1" name=""/>
        <p:cNvGrpSpPr/>
        <p:nvPr/>
      </p:nvGrpSpPr>
      <p:grpSpPr>
        <a:xfrm>
          <a:off x="0" y="0"/>
          <a:ext cx="0" cy="0"/>
          <a:chOff x="0" y="0"/>
          <a:chExt cx="0" cy="0"/>
        </a:xfrm>
      </p:grpSpPr>
      <p:sp>
        <p:nvSpPr>
          <p:cNvPr id="2" name="Shape 0"/>
          <p:cNvSpPr/>
          <p:nvPr/>
        </p:nvSpPr>
        <p:spPr>
          <a:xfrm>
            <a:off x="0" y="5349240"/>
            <a:ext cx="12191695" cy="1508760"/>
          </a:xfrm>
          <a:prstGeom prst="rect">
            <a:avLst/>
          </a:prstGeom>
          <a:solidFill>
            <a:srgbClr val="2D9CDB"/>
          </a:solidFill>
          <a:ln w="12700">
            <a:solidFill>
              <a:srgbClr val="2D9CDB"/>
            </a:solidFill>
            <a:prstDash val="solid"/>
          </a:ln>
        </p:spPr>
      </p:sp>
      <p:sp>
        <p:nvSpPr>
          <p:cNvPr id="3" name="Shape 1"/>
          <p:cNvSpPr/>
          <p:nvPr/>
        </p:nvSpPr>
        <p:spPr>
          <a:xfrm>
            <a:off x="0" y="5120640"/>
            <a:ext cx="12191695" cy="91440"/>
          </a:xfrm>
          <a:prstGeom prst="rect">
            <a:avLst/>
          </a:prstGeom>
          <a:solidFill>
            <a:srgbClr val="F28C28"/>
          </a:solidFill>
          <a:ln w="12700">
            <a:solidFill>
              <a:srgbClr val="F28C28"/>
            </a:solidFill>
            <a:prstDash val="solid"/>
          </a:ln>
        </p:spPr>
      </p:sp>
      <p:sp>
        <p:nvSpPr>
          <p:cNvPr id="4" name="Shape 2"/>
          <p:cNvSpPr/>
          <p:nvPr/>
        </p:nvSpPr>
        <p:spPr>
          <a:xfrm>
            <a:off x="1874520" y="1408176"/>
            <a:ext cx="1097280" cy="64008"/>
          </a:xfrm>
          <a:prstGeom prst="rect">
            <a:avLst/>
          </a:prstGeom>
          <a:solidFill>
            <a:srgbClr val="F28C28"/>
          </a:solidFill>
          <a:ln w="12700">
            <a:solidFill>
              <a:srgbClr val="F28C28"/>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F28C28"/>
                </a:solidFill>
              </a:rPr>
              <a:t>FLAGSHIP SYNTHETIC DEMONSTRATION PUBLICATION | COVER 4</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Humanitarian Needs Assessment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Somalia | Humanitarian Response</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This flagship synthetic demonstration publication examines humanitarian response performance in Somalia.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Prioritise severity-four locations in the next allocation round for humanitarian response.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0B4F6C"/>
                </a:solidFill>
              </a:rPr>
              <a:t>1281</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0B4F6C"/>
                </a:solidFill>
              </a:rPr>
              <a:t>86%</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0B4F6C"/>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0B4F6C"/>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Across Somalia's synthetic study areas, multisector severity is the clearest differentiator of humanitarian response performance. The evidence is strongest in Bay Cluster,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Across Somalia's synthetic study areas, protection exposure is the clearest differentiator of humanitarian response performance. The evidence is strongest in Gedo Cluster,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Across Somalia's synthetic study areas, safe water access is the clearest differentiator of humanitarian response performance. The evidence is strongest in Lower Shabelle Cluster,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Bay Cluster</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405579"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73%</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Gedo Cluster</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4465930" cy="201168"/>
          </a:xfrm>
          <a:prstGeom prst="roundRect">
            <a:avLst>
              <a:gd name="adj" fmla="val 13636"/>
            </a:avLst>
          </a:prstGeom>
          <a:solidFill>
            <a:srgbClr val="F28C28"/>
          </a:solidFill>
          <a:ln w="12700">
            <a:solidFill>
              <a:srgbClr val="F28C28"/>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74%</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Lower Shabelle Cluster</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526280"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75%</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Banadir Displacement Sites</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4586630" cy="201168"/>
          </a:xfrm>
          <a:prstGeom prst="roundRect">
            <a:avLst>
              <a:gd name="adj" fmla="val 13636"/>
            </a:avLst>
          </a:prstGeom>
          <a:solidFill>
            <a:srgbClr val="F28C28"/>
          </a:solidFill>
          <a:ln w="12700">
            <a:solidFill>
              <a:srgbClr val="F28C28"/>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76%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Multisector severity score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077870"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935517" y="1737360"/>
            <a:ext cx="0" cy="347472"/>
          </a:xfrm>
          <a:prstGeom prst="line">
            <a:avLst/>
          </a:prstGeom>
          <a:noFill/>
          <a:ln w="19050">
            <a:solidFill>
              <a:srgbClr val="0B4F6C"/>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51% / target 92%</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Protection referral coverage</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138221" cy="201168"/>
          </a:xfrm>
          <a:prstGeom prst="roundRect">
            <a:avLst>
              <a:gd name="adj" fmla="val 13636"/>
            </a:avLst>
          </a:prstGeom>
          <a:solidFill>
            <a:srgbClr val="F28C28"/>
          </a:solidFill>
          <a:ln w="12700">
            <a:solidFill>
              <a:srgbClr val="F28C28"/>
            </a:solidFill>
            <a:prstDash val="solid"/>
          </a:ln>
        </p:spPr>
      </p:sp>
      <p:sp>
        <p:nvSpPr>
          <p:cNvPr id="16" name="Shape 13"/>
          <p:cNvSpPr/>
          <p:nvPr/>
        </p:nvSpPr>
        <p:spPr>
          <a:xfrm>
            <a:off x="7969910" y="2359152"/>
            <a:ext cx="0" cy="347472"/>
          </a:xfrm>
          <a:prstGeom prst="line">
            <a:avLst/>
          </a:prstGeom>
          <a:noFill/>
          <a:ln w="19050">
            <a:solidFill>
              <a:srgbClr val="0B4F6C"/>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52% / target 76%</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Safe water access</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198571"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030261" y="2980944"/>
            <a:ext cx="0" cy="347472"/>
          </a:xfrm>
          <a:prstGeom prst="line">
            <a:avLst/>
          </a:prstGeom>
          <a:noFill/>
          <a:ln w="19050">
            <a:solidFill>
              <a:srgbClr val="0B4F6C"/>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53% / target 77%</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23447"/>
                </a:solidFill>
              </a:rPr>
              <a:t>Feedback closure rate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258922" cy="201168"/>
          </a:xfrm>
          <a:prstGeom prst="roundRect">
            <a:avLst>
              <a:gd name="adj" fmla="val 13636"/>
            </a:avLst>
          </a:prstGeom>
          <a:solidFill>
            <a:srgbClr val="F28C28"/>
          </a:solidFill>
          <a:ln w="12700">
            <a:solidFill>
              <a:srgbClr val="F28C28"/>
            </a:solidFill>
            <a:prstDash val="solid"/>
          </a:ln>
        </p:spPr>
      </p:sp>
      <p:sp>
        <p:nvSpPr>
          <p:cNvPr id="26" name="Shape 23"/>
          <p:cNvSpPr/>
          <p:nvPr/>
        </p:nvSpPr>
        <p:spPr>
          <a:xfrm>
            <a:off x="8090611" y="3602736"/>
            <a:ext cx="0" cy="347472"/>
          </a:xfrm>
          <a:prstGeom prst="line">
            <a:avLst/>
          </a:prstGeom>
          <a:noFill/>
          <a:ln w="19050">
            <a:solidFill>
              <a:srgbClr val="0B4F6C"/>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23447"/>
                </a:solidFill>
              </a:rPr>
              <a:t>54% / target 78%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“In Bay Cluster, multisector severity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Gedo Cluster, protection exposure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Lower Shabelle Cluster, safe water access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Prioritise severity-four locations in the next allocation round for humanitarian response.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Scale protection referral and safe disclosure pathways for humanitarian response.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Restore minimum safe-water coverage at priority sites for humanitarian response.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Expand shock-responsive cash with market monitoring for humanitarian response.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23447"/>
                </a:solidFill>
              </a:rPr>
              <a:t>Close the community feedback loop within fourteen days for humanitarian response.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Prioritise severity-four locations in the next allocation round for humanitarian response.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Scale protection referral and safe disclosure pathways for humanitarian response.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Restore minimum safe-water coverage at priority sites for humanitarian response.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Expand shock-responsive cash with market monitoring for humanitarian response.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23447"/>
                </a:solidFill>
              </a:rPr>
              <a:t>Close the community feedback loop within fourteen days for humanitarian response.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“In Bay Cluster, multisector severity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Gedo Cluster, protection exposure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Lower Shabelle Cluster, safe water access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Banadir Displacement Sites, acute livelihood stress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23447"/>
                </a:solidFill>
              </a:rPr>
              <a:t>“In Bay Cluster, accountability to affected people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sampling frame: Synthetic frame covering programme-relevant population groups in Somalia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sample size: 1281</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23447"/>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Results-Based Management: Findings and recommendations are connected to outputs, outcomes and indicators.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Theory of Change: The report tests causal pathways, assumptions and risks without claiming unsupported attribution.</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Core Humanitarian Standard: The report assesses quality and accountability to crisis-affected people.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23447"/>
                </a:solidFill>
              </a:rPr>
              <a:t>Protection, Safeguarding and Human Rights Based Approach: Severity analysis includes safety, participation, non-discrimination and referral considerations.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BFE"/>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23447"/>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F28C28"/>
          </a:solidFill>
          <a:ln w="12700">
            <a:solidFill>
              <a:srgbClr val="F28C28"/>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23447"/>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23447"/>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23447"/>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23447"/>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23447"/>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6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F28C28"/>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Humanitarian Needs Assessment Report</dc:title>
  <dc:subject>Synthetic Demonstration Publication</dc:subject>
  <dc:creator>VoiceInsights Africa</dc:creator>
  <cp:lastModifiedBy>VoiceInsights Africa</cp:lastModifiedBy>
  <cp:revision>1</cp:revision>
  <dcterms:created xsi:type="dcterms:W3CDTF">2026-07-12T22:51:24Z</dcterms:created>
  <dcterms:modified xsi:type="dcterms:W3CDTF">2026-07-12T22:51:24Z</dcterms:modified>
</cp:coreProperties>
</file>