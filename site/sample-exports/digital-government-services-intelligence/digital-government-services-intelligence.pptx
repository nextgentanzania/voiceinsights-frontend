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251D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Accent panel"/>
          <p:cNvSpPr/>
          <p:nvPr/>
        </p:nvSpPr>
        <p:spPr>
          <a:xfrm>
            <a:off x="9300000" y="0"/>
            <a:ext cx="2892000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Gold rule"/>
          <p:cNvSpPr/>
          <p:nvPr/>
        </p:nvSpPr>
        <p:spPr>
          <a:xfrm>
            <a:off x="8880000" y="0"/>
            <a:ext cx="12000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0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1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FFFFFF"/>
                </a:solidFill>
                <a:latin typeface="Aptos"/>
              </a:rPr>
              <a:t>VOICEINSIGHTS AFRICA</a:t>
            </a:r>
          </a:p>
        </p:txBody>
      </p:sp>
      <p:sp>
        <p:nvSpPr>
          <p:cNvPr id="12" name="Classification"/>
          <p:cNvSpPr txBox="1"/>
          <p:nvPr/>
        </p:nvSpPr>
        <p:spPr>
          <a:xfrm>
            <a:off x="640000" y="1160000"/>
            <a:ext cx="71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250" b="1">
                <a:solidFill>
                  <a:srgbClr val="D4AF37"/>
                </a:solidFill>
                <a:latin typeface="Aptos"/>
              </a:rPr>
              <a:t>FLAGSHIP SYNTHETIC DEMONSTRATION PUBLICATION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640000" y="1760000"/>
            <a:ext cx="7600000" cy="1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Aptos"/>
              </a:rPr>
              <a:t>Digital Government Services Intelligence Report</a:t>
            </a:r>
          </a:p>
        </p:txBody>
      </p:sp>
      <p:sp>
        <p:nvSpPr>
          <p:cNvPr id="14" name="Subtitle"/>
          <p:cNvSpPr txBox="1"/>
          <p:nvPr/>
        </p:nvSpPr>
        <p:spPr>
          <a:xfrm>
            <a:off x="640000" y="3900000"/>
            <a:ext cx="69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>
                <a:solidFill>
                  <a:srgbClr val="D8E5DF"/>
                </a:solidFill>
                <a:latin typeface="Aptos"/>
              </a:rPr>
              <a:t>Rwanda | Digital Government Services</a:t>
            </a:r>
          </a:p>
        </p:txBody>
      </p:sp>
      <p:sp>
        <p:nvSpPr>
          <p:cNvPr id="15" name="Prepared"/>
          <p:cNvSpPr txBox="1"/>
          <p:nvPr/>
        </p:nvSpPr>
        <p:spPr>
          <a:xfrm>
            <a:off x="640000" y="5000000"/>
            <a:ext cx="6500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FFFFFF"/>
                </a:solidFill>
                <a:latin typeface="Aptos"/>
              </a:rPr>
              <a:t>Prepared by VoiceInsights Africa Every Voice. Every Language. Every Insight.</a:t>
            </a:r>
          </a:p>
        </p:txBody>
      </p:sp>
      <p:sp>
        <p:nvSpPr>
          <p:cNvPr id="16" name="Notice"/>
          <p:cNvSpPr txBox="1"/>
          <p:nvPr/>
        </p:nvSpPr>
        <p:spPr>
          <a:xfrm>
            <a:off x="9550000" y="5260000"/>
            <a:ext cx="205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SYNTHETIC DATA Not official statistics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Five-minute leadership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executive brief: The priority for government leadership is converting early digital government services progress into durable gains before the next reporting cycle.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Prioritise the digital service with the sharpest adoption-and-trust gap for redesign investment.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Close digital-literacy access constraints in the lowest-adoption districts.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Reduce in-person fallback dependency through targeted outreach.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critical findings: Citizen digital-service adoption gaps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What matters, why it matters and what must be decided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Brief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summary: Rwanda has made real gains in digital government services performance — and real gaps remain alongside them. This publication separates the two, using a governed evidence model built to surface risk and opportunity, not just describe them. No claim in this publication stands alone: findings link to synthetic evidence, recommendations carry a named owner, and every statistic shares one internally consistent dataset.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decision: Prioritise the digital service with the sharpest adoption-and-trust gap for redesign investment.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Accountable choices for leadership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Priority Decisions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Prioritise the digital service with the sharpest adoption-and-trust gap for redesign investment.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Close digital-literacy access constraints in the lowest-adoption districts.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Reduce in-person fallback dependency through targeted outreach.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Strengthen cross-agency service integration for the highest-friction citizen journeys.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Publish a citizen-trust and service-reliability dashboard.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Evidence-backed signals requiring attention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Critical Findings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Citizen digital-service adoption gaps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Service-trust barriers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Digital-literacy access constraints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In-person fallback dependency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Cross-agency service integration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Claim-to-source lineage and confidence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“Rural women in Kigali City frame it simply: when citizen digital-service adoption gaps breaks down, everything else does too.”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“In Northern Province, service-trust barriers shapes whether young adults can turn services into lasting outcomes.”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“Persons with disabilities in Southern Province put it plainly: digital-literacy access constraints is what decides whether progress holds or slips back.”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“Why does Eastern Province lag behind? Ask frontline workers, and the answer comes back to in-person fallback dependency.”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“Elsewhere, cross-agency service integration might be a footnote. For low-income households in Kigali City, it is the whole story.”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evidence: “Rural women in Kigali City frame it simply: when citizen digital-service adoption gaps breaks down, everything else does too.”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“In Northern Province, service-trust barriers shapes whether young adults can turn services into lasting outcomes.”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“Persons with disabilities in Southern Province put it plainly: digital-literacy access constraints is what decides whether progress holds or slips back.”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“Why does Eastern Province lag behind? Ask frontline workers, and the answer comes back to in-person fallback dependency.”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“Elsewhere, cross-agency service integration might be a footnote. For low-income households in Kigali City, it is the whole story.”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Sampling, weighting, uncertainty and reproducibility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Statistical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Rwanda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Prioritisation for management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and Opportunity Matrix</a:t>
            </a:r>
          </a:p>
        </p:txBody>
      </p:sp>
      <p:sp>
        <p:nvSpPr>
          <p:cNvPr id="12" name="Risk panel"/>
          <p:cNvSpPr/>
          <p:nvPr/>
        </p:nvSpPr>
        <p:spPr>
          <a:xfrm>
            <a:off x="640000" y="2050000"/>
            <a:ext cx="5200000" cy="3400000"/>
          </a:xfrm>
          <a:prstGeom prst="roundRect">
            <a:avLst/>
          </a:prstGeom>
          <a:solidFill>
            <a:srgbClr val="FFF2F0"/>
          </a:solidFill>
          <a:ln w="12700">
            <a:solidFill>
              <a:srgbClr val="E7C5BF"/>
            </a:solidFill>
          </a:ln>
        </p:spPr>
      </p:sp>
      <p:sp>
        <p:nvSpPr>
          <p:cNvPr id="13" name="Opportunity panel"/>
          <p:cNvSpPr/>
          <p:nvPr/>
        </p:nvSpPr>
        <p:spPr>
          <a:xfrm>
            <a:off x="5980000" y="2050000"/>
            <a:ext cx="5200000" cy="3400000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B8DCCB"/>
            </a:solidFill>
          </a:ln>
        </p:spPr>
      </p:sp>
      <p:sp>
        <p:nvSpPr>
          <p:cNvPr id="14" name="Risk title"/>
          <p:cNvSpPr txBox="1"/>
          <p:nvPr/>
        </p:nvSpPr>
        <p:spPr>
          <a:xfrm>
            <a:off x="94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A33A2B"/>
                </a:solidFill>
                <a:latin typeface="Aptos"/>
              </a:rPr>
              <a:t>CRITICAL RISKS</a:t>
            </a:r>
          </a:p>
        </p:txBody>
      </p:sp>
      <p:sp>
        <p:nvSpPr>
          <p:cNvPr id="15" name="Opportunity title"/>
          <p:cNvSpPr txBox="1"/>
          <p:nvPr/>
        </p:nvSpPr>
        <p:spPr>
          <a:xfrm>
            <a:off x="628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0B6E4F"/>
                </a:solidFill>
                <a:latin typeface="Aptos"/>
              </a:rPr>
              <a:t>TOP OPPORTUNITIES</a:t>
            </a:r>
          </a:p>
        </p:txBody>
      </p:sp>
      <p:sp>
        <p:nvSpPr>
          <p:cNvPr id="16" name="Risks"/>
          <p:cNvSpPr txBox="1"/>
          <p:nvPr/>
        </p:nvSpPr>
        <p:spPr>
          <a:xfrm>
            <a:off x="94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532B25"/>
                </a:solidFill>
                <a:latin typeface="Aptos"/>
              </a:rPr>
              <a:t>1. Evidence and monitoring capacity lags the pace of decisions being made on digital government services 2. External factors outside this publication's scope could offset gains in digital government services</a:t>
            </a:r>
          </a:p>
        </p:txBody>
      </p:sp>
      <p:sp>
        <p:nvSpPr>
          <p:cNvPr id="17" name="Opportunities"/>
          <p:cNvSpPr txBox="1"/>
          <p:nvPr/>
        </p:nvSpPr>
        <p:spPr>
          <a:xfrm>
            <a:off x="628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64C3A"/>
                </a:solidFill>
                <a:latin typeface="Aptos"/>
              </a:rPr>
              <a:t>1. Closing the equity gap the evidence has already located 2. Using the confidence intervals already published here to focus investment 3. Evidence-led reallocation of resources already committed to digital government services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International Standards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framework: SDG 16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relevance: Applied where relevant to Digital Government Services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EVI-DIG-001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EVI-DIG-002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limitations: Synthetic demonstration mapping; institutional validation not implied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OECD-DAC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Synthetic evidence indicates a strong relevance signal, subject to the stated design limitations.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coherence signal, subject to the stated design limitations.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effectiveness signal, subject to the stated design limitations.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efficiency signal, subject to the stated design limitations.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impact signal, subject to the stated design limitations.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Results-Based Management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inputs: Governed synthetic data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Delivery capacity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Approved financing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Evidence collection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Segmented analysis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Core Humanitarian Standard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commitment number: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commitment: CHS Commitment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EVI-DIG-001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status: CONTEXT ONLY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action: Validate relevance and assign an accountable owner before live use.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Immediate, medium-term and strategic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Prioritise the digital service with the sharpest adoption-and-trust gap for redesign investment.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Close digital-literacy access constraints in the lowest-adoption districts.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Reduce in-person fallback dependency through targeted outreach.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Strengthen cross-agency service integration for the highest-friction citizen journeys.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Publish a citizen-trust and service-reliability dashboard.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Evidence, statistical, visual and decision assurance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Quality Gate</a:t>
            </a:r>
          </a:p>
        </p:txBody>
      </p:sp>
      <p:sp>
        <p:nvSpPr>
          <p:cNvPr id="12" name="Metric card 1"/>
          <p:cNvSpPr/>
          <p:nvPr/>
        </p:nvSpPr>
        <p:spPr>
          <a:xfrm>
            <a:off x="64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3" name="Metric value 1"/>
          <p:cNvSpPr txBox="1"/>
          <p:nvPr/>
        </p:nvSpPr>
        <p:spPr>
          <a:xfrm>
            <a:off x="82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4" name="Metric label 1"/>
          <p:cNvSpPr txBox="1"/>
          <p:nvPr/>
        </p:nvSpPr>
        <p:spPr>
          <a:xfrm>
            <a:off x="82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Editorial Review Passed</a:t>
            </a:r>
          </a:p>
        </p:txBody>
      </p:sp>
      <p:sp>
        <p:nvSpPr>
          <p:cNvPr id="15" name="Metric card 2"/>
          <p:cNvSpPr/>
          <p:nvPr/>
        </p:nvSpPr>
        <p:spPr>
          <a:xfrm>
            <a:off x="347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6" name="Metric value 2"/>
          <p:cNvSpPr txBox="1"/>
          <p:nvPr/>
        </p:nvSpPr>
        <p:spPr>
          <a:xfrm>
            <a:off x="365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7" name="Metric label 2"/>
          <p:cNvSpPr txBox="1"/>
          <p:nvPr/>
        </p:nvSpPr>
        <p:spPr>
          <a:xfrm>
            <a:off x="365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Evidence Review Passed</a:t>
            </a:r>
          </a:p>
        </p:txBody>
      </p:sp>
      <p:sp>
        <p:nvSpPr>
          <p:cNvPr id="18" name="Metric card 3"/>
          <p:cNvSpPr/>
          <p:nvPr/>
        </p:nvSpPr>
        <p:spPr>
          <a:xfrm>
            <a:off x="630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9" name="Metric value 3"/>
          <p:cNvSpPr txBox="1"/>
          <p:nvPr/>
        </p:nvSpPr>
        <p:spPr>
          <a:xfrm>
            <a:off x="648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0" name="Metric label 3"/>
          <p:cNvSpPr txBox="1"/>
          <p:nvPr/>
        </p:nvSpPr>
        <p:spPr>
          <a:xfrm>
            <a:off x="648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Publication Integrity Verified</a:t>
            </a:r>
          </a:p>
        </p:txBody>
      </p:sp>
      <p:sp>
        <p:nvSpPr>
          <p:cNvPr id="21" name="Metric card 4"/>
          <p:cNvSpPr/>
          <p:nvPr/>
        </p:nvSpPr>
        <p:spPr>
          <a:xfrm>
            <a:off x="913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22" name="Metric value 4"/>
          <p:cNvSpPr txBox="1"/>
          <p:nvPr/>
        </p:nvSpPr>
        <p:spPr>
          <a:xfrm>
            <a:off x="931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3" name="Metric label 4"/>
          <p:cNvSpPr txBox="1"/>
          <p:nvPr/>
        </p:nvSpPr>
        <p:spPr>
          <a:xfrm>
            <a:off x="931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Accessibility Verified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Visual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visualizations: Executive Kpi Cards: Digital service adoption rate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Regional Heat Map: Citizen trust index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Choropleth Map: Digital-literacy access rate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Risk Matrix: Manual channel fallback rate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Decision Matrix: Digital service adoption rate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Accessibility Assurance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wcag target: WCAG 2.2 AA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tagged pdf required: true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alt text required: true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table fallback required: true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keyboard navigation required: true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Products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exports: Premium PDF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Editable Word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Native PowerPoint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Statistical Excel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Board Deck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Methodology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research objectives: Assess digital government services performance and equity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research objectives: Identify operational drivers and decision priorities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What outcomes are changing?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Who is being left behind?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Which actions are most likely to improve performance?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Sampling Design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Rwanda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Weighting and Uncertainty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Rwanda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Reliability and Validity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Rwanda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Missing Data and Outliers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Rwanda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Regional Intelligence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Choropleth Map: Digital-literacy access rate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Performance Heat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Regional Heat Map: Citizen trust index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risk: Evidence and monitoring capacity lags the pace of decisions being made on digital government services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Medium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impact: Medium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risk: External factors outside this publication's scope could offset gains in digital government services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Low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Decision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Prioritise the digital service with the sharpest adoption-and-trust gap for redesign investment.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Close digital-literacy access constraints in the lowest-adoption districts.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Reduce in-person fallback dependency through targeted outreach.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Strengthen cross-agency service integration for the highest-friction citizen journeys.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Publish a citizen-trust and service-reliability dashboard.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Opportunity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Closing the equity gap the evidence has already located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Using the confidence intervals already published here to focus investment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Evidence-led reallocation of resources already committed to digital government services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Cost of Inaction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narrative: Without corrective action, existing gaps in digital government services are likely to persist and may increase the future cost of recovery.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Ownership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DEC-DIG-01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DEC-DIG-02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DEC-DIG-03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DEC-DIG-04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DEC-DIG-05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Prioritise the digital service with the sharpest adoption-and-trust gap for redesign investment.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Close digital-literacy access constraints in the lowest-adoption districts.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Reduce in-person fallback dependency through targeted outreach.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Strengthen cross-agency service integration for the highest-friction citizen journeys.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Publish a citizen-trust and service-reliability dashboard.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variable: indicator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label: Synthetic Digital Government Services indicator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type: numeric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allowed values: 0–100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missing code: NA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Appendices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Technical methodology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and weighting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registry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Statistical tables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Responsible interpretation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Limitations and Integrity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All content is synthetic and must not be interpreted as official statistics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Geographic references are illustrative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Budget implications are directional and require formal costing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Causal claims are not made without an appropriate design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34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VoiceInsights Africa</Application>
  <Slides>34</Slides>
</Properties>
</file>

<file path=docProps/core.xml><?xml version="1.0" encoding="utf-8"?>
<cp:coreProperties xmlns:cp="http://schemas.openxmlformats.org/package/2006/metadata/core-properties" xmlns:dc="http://purl.org/dc/elements/1.1/">
  <dc:title>Digital Government Services Intelligence Report</dc:title>
  <dc:creator>VoiceInsights Africa</dc:creator>
</cp:coreProperties>
</file>