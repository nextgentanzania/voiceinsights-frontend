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251D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Accent panel"/>
          <p:cNvSpPr/>
          <p:nvPr/>
        </p:nvSpPr>
        <p:spPr>
          <a:xfrm>
            <a:off x="9300000" y="0"/>
            <a:ext cx="2892000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Gold rule"/>
          <p:cNvSpPr/>
          <p:nvPr/>
        </p:nvSpPr>
        <p:spPr>
          <a:xfrm>
            <a:off x="8880000" y="0"/>
            <a:ext cx="1200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0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1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Aptos"/>
              </a:rPr>
              <a:t>VOICEINSIGHTS AFRICA</a:t>
            </a:r>
          </a:p>
        </p:txBody>
      </p:sp>
      <p:sp>
        <p:nvSpPr>
          <p:cNvPr id="12" name="Classification"/>
          <p:cNvSpPr txBox="1"/>
          <p:nvPr/>
        </p:nvSpPr>
        <p:spPr>
          <a:xfrm>
            <a:off x="640000" y="1160000"/>
            <a:ext cx="71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250" b="1">
                <a:solidFill>
                  <a:srgbClr val="D4AF37"/>
                </a:solidFill>
                <a:latin typeface="Aptos"/>
              </a:rPr>
              <a:t>FLAGSHIP SYNTHETIC DEMONSTRATION PUBLICATION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640000" y="1760000"/>
            <a:ext cx="7600000" cy="1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Aptos"/>
              </a:rPr>
              <a:t>Nutrition Security Intelligence Report</a:t>
            </a:r>
          </a:p>
        </p:txBody>
      </p:sp>
      <p:sp>
        <p:nvSpPr>
          <p:cNvPr id="14" name="Subtitle"/>
          <p:cNvSpPr txBox="1"/>
          <p:nvPr/>
        </p:nvSpPr>
        <p:spPr>
          <a:xfrm>
            <a:off x="640000" y="3900000"/>
            <a:ext cx="69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>
                <a:solidFill>
                  <a:srgbClr val="D8E5DF"/>
                </a:solidFill>
                <a:latin typeface="Aptos"/>
              </a:rPr>
              <a:t>Zambia | Nutrition Security</a:t>
            </a:r>
          </a:p>
        </p:txBody>
      </p:sp>
      <p:sp>
        <p:nvSpPr>
          <p:cNvPr id="15" name="Prepared"/>
          <p:cNvSpPr txBox="1"/>
          <p:nvPr/>
        </p:nvSpPr>
        <p:spPr>
          <a:xfrm>
            <a:off x="640000" y="5000000"/>
            <a:ext cx="650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FFFFFF"/>
                </a:solidFill>
                <a:latin typeface="Aptos"/>
              </a:rPr>
              <a:t>Prepared by VoiceInsights Africa Every Voice. Every Language. Every Insight.</a:t>
            </a:r>
          </a:p>
        </p:txBody>
      </p:sp>
      <p:sp>
        <p:nvSpPr>
          <p:cNvPr id="16" name="Notice"/>
          <p:cNvSpPr txBox="1"/>
          <p:nvPr/>
        </p:nvSpPr>
        <p:spPr>
          <a:xfrm>
            <a:off x="9550000" y="5260000"/>
            <a:ext cx="205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SYNTHETIC DATA Not official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Five-minute leadership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executive brief: Programme leadership's attention should shift from monitoring nutrition security performance to acting on the specific groups and locations the evidence flags as most exposed.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Target food-access interventions in the highest-stunting districts.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Scale infant and young child feeding counselling at community level.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Close micronutrient supplementation coverage gaps.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critical findings: Household food access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What matters, why it matters and what must be decided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Brief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summary: This is not a status update on nutrition security performance in Zambia — it is a decision brief. The governed evidence behind it shows uneven progress, concentrated risk, and a small number of opportunities worth acting on now. Nothing here is asserted without a source: findings are evidence-linked, recommendations are owned, and the underlying dataset is internally consistent throughout.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decision: Target food-access interventions in the highest-stunting districts.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Accountable choices for leadership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Priority Decisions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Target food-access interventions in the highest-stunting districts.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Scale infant and young child feeding counselling at community level.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Close micronutrient supplementation coverage gaps.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Address care-practice knowledge gaps through community health workers.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Build seasonal food-security early-response planning.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Evidence-backed signals requiring attention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Critical Findings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Household food access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Infant and young child feeding practices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Micronutrient supplementation coverage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Care-practice knowledge gaps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Seasonal food-security volatility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Claim-to-source lineage and confidence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“Rural women in Eastern Province frame it simply: when household food access breaks down, everything else does too.”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“In Southern Province, infant and young child feeding practices shape whether young adults can turn services into lasting outcomes.”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“Persons with disabilities in Luapula Province put it plainly: micronutrient supplementation coverage is what decides whether progress holds or slips back.”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“Why does Western Province lag behind? Ask frontline workers, and the answer comes back to care-practice knowledge gaps.”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“Elsewhere, seasonal food-security volatility might be a footnote. For low-income households in Eastern Province, it is the whole story.”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evidence: “Rural women in Eastern Province frame it simply: when household food access breaks down, everything else does too.”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“In Southern Province, infant and young child feeding practices shape whether young adults can turn services into lasting outcomes.”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“Persons with disabilities in Luapula Province put it plainly: micronutrient supplementation coverage is what decides whether progress holds or slips back.”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“Why does Western Province lag behind? Ask frontline workers, and the answer comes back to care-practice knowledge gaps.”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“Elsewhere, seasonal food-security volatility might be a footnote. For low-income households in Eastern Province, it is the whole story.”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Sampling, weighting, uncertainty and reproducibility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Statistical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Zambia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Prioritisation for management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and Opportunity Matrix</a:t>
            </a:r>
          </a:p>
        </p:txBody>
      </p:sp>
      <p:sp>
        <p:nvSpPr>
          <p:cNvPr id="12" name="Risk panel"/>
          <p:cNvSpPr/>
          <p:nvPr/>
        </p:nvSpPr>
        <p:spPr>
          <a:xfrm>
            <a:off x="640000" y="2050000"/>
            <a:ext cx="5200000" cy="3400000"/>
          </a:xfrm>
          <a:prstGeom prst="roundRect">
            <a:avLst/>
          </a:prstGeom>
          <a:solidFill>
            <a:srgbClr val="FFF2F0"/>
          </a:solidFill>
          <a:ln w="12700">
            <a:solidFill>
              <a:srgbClr val="E7C5BF"/>
            </a:solidFill>
          </a:ln>
        </p:spPr>
      </p:sp>
      <p:sp>
        <p:nvSpPr>
          <p:cNvPr id="13" name="Opportunity panel"/>
          <p:cNvSpPr/>
          <p:nvPr/>
        </p:nvSpPr>
        <p:spPr>
          <a:xfrm>
            <a:off x="5980000" y="2050000"/>
            <a:ext cx="5200000" cy="3400000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B8DCCB"/>
            </a:solidFill>
          </a:ln>
        </p:spPr>
      </p:sp>
      <p:sp>
        <p:nvSpPr>
          <p:cNvPr id="14" name="Risk title"/>
          <p:cNvSpPr txBox="1"/>
          <p:nvPr/>
        </p:nvSpPr>
        <p:spPr>
          <a:xfrm>
            <a:off x="94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A33A2B"/>
                </a:solidFill>
                <a:latin typeface="Aptos"/>
              </a:rPr>
              <a:t>CRITICAL RISKS</a:t>
            </a:r>
          </a:p>
        </p:txBody>
      </p:sp>
      <p:sp>
        <p:nvSpPr>
          <p:cNvPr id="15" name="Opportunity title"/>
          <p:cNvSpPr txBox="1"/>
          <p:nvPr/>
        </p:nvSpPr>
        <p:spPr>
          <a:xfrm>
            <a:off x="628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0B6E4F"/>
                </a:solidFill>
                <a:latin typeface="Aptos"/>
              </a:rPr>
              <a:t>TOP OPPORTUNITIES</a:t>
            </a:r>
          </a:p>
        </p:txBody>
      </p:sp>
      <p:sp>
        <p:nvSpPr>
          <p:cNvPr id="16" name="Risks"/>
          <p:cNvSpPr txBox="1"/>
          <p:nvPr/>
        </p:nvSpPr>
        <p:spPr>
          <a:xfrm>
            <a:off x="94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532B25"/>
                </a:solidFill>
                <a:latin typeface="Aptos"/>
              </a:rPr>
              <a:t>1. Uneven implementation widens existing disparities in nutrition security 2. Delayed financing weakens delivery confidence in nutrition security</a:t>
            </a:r>
          </a:p>
        </p:txBody>
      </p:sp>
      <p:sp>
        <p:nvSpPr>
          <p:cNvPr id="17" name="Opportunities"/>
          <p:cNvSpPr txBox="1"/>
          <p:nvPr/>
        </p:nvSpPr>
        <p:spPr>
          <a:xfrm>
            <a:off x="628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64C3A"/>
                </a:solidFill>
                <a:latin typeface="Aptos"/>
              </a:rPr>
              <a:t>1. Stronger feedback accountability between frontline delivery and leadership 2. Evidence-led reallocation of resources already committed to nutrition security 3. Targeted acceleration in the lowest-performing part of nutrition security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International Standards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framework: SUN Movement Framework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relevance: Applied where relevant to Nutrition Security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EVI-NUT-001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EVI-NUT-002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limitations: Synthetic demonstration mapping; institutional validation not implied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OECD-DAC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Synthetic evidence indicates a strong relevance signal, subject to the stated design limitations.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coherence signal, subject to the stated design limitations.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effectiveness signal, subject to the stated design limitations.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efficiency signal, subject to the stated design limitations.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impact signal, subject to the stated design limitations.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Results-Based Management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inputs: Governed synthetic data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Delivery capacity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Approved financing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Evidence collection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Segmented analysis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Core Humanitarian Standard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commitment number: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commitment: CHS Commitment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EVI-NUT-001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status: APPLIED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action: Validate relevance and assign an accountable owner before live use.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Immediate, medium-term and strategic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Target food-access interventions in the highest-stunting districts.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Scale infant and young child feeding counselling at community level.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Close micronutrient supplementation coverage gaps.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Address care-practice knowledge gaps through community health workers.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Build seasonal food-security early-response planning.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Evidence, statistical, visual and decision assurance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Quality Gate</a:t>
            </a:r>
          </a:p>
        </p:txBody>
      </p:sp>
      <p:sp>
        <p:nvSpPr>
          <p:cNvPr id="12" name="Metric card 1"/>
          <p:cNvSpPr/>
          <p:nvPr/>
        </p:nvSpPr>
        <p:spPr>
          <a:xfrm>
            <a:off x="64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3" name="Metric value 1"/>
          <p:cNvSpPr txBox="1"/>
          <p:nvPr/>
        </p:nvSpPr>
        <p:spPr>
          <a:xfrm>
            <a:off x="82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4" name="Metric label 1"/>
          <p:cNvSpPr txBox="1"/>
          <p:nvPr/>
        </p:nvSpPr>
        <p:spPr>
          <a:xfrm>
            <a:off x="82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Editorial Review Passed</a:t>
            </a:r>
          </a:p>
        </p:txBody>
      </p:sp>
      <p:sp>
        <p:nvSpPr>
          <p:cNvPr id="15" name="Metric card 2"/>
          <p:cNvSpPr/>
          <p:nvPr/>
        </p:nvSpPr>
        <p:spPr>
          <a:xfrm>
            <a:off x="347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6" name="Metric value 2"/>
          <p:cNvSpPr txBox="1"/>
          <p:nvPr/>
        </p:nvSpPr>
        <p:spPr>
          <a:xfrm>
            <a:off x="365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7" name="Metric label 2"/>
          <p:cNvSpPr txBox="1"/>
          <p:nvPr/>
        </p:nvSpPr>
        <p:spPr>
          <a:xfrm>
            <a:off x="365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Evidence Review Passed</a:t>
            </a:r>
          </a:p>
        </p:txBody>
      </p:sp>
      <p:sp>
        <p:nvSpPr>
          <p:cNvPr id="18" name="Metric card 3"/>
          <p:cNvSpPr/>
          <p:nvPr/>
        </p:nvSpPr>
        <p:spPr>
          <a:xfrm>
            <a:off x="630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9" name="Metric value 3"/>
          <p:cNvSpPr txBox="1"/>
          <p:nvPr/>
        </p:nvSpPr>
        <p:spPr>
          <a:xfrm>
            <a:off x="648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0" name="Metric label 3"/>
          <p:cNvSpPr txBox="1"/>
          <p:nvPr/>
        </p:nvSpPr>
        <p:spPr>
          <a:xfrm>
            <a:off x="648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Publication Integrity Verified</a:t>
            </a:r>
          </a:p>
        </p:txBody>
      </p:sp>
      <p:sp>
        <p:nvSpPr>
          <p:cNvPr id="21" name="Metric card 4"/>
          <p:cNvSpPr/>
          <p:nvPr/>
        </p:nvSpPr>
        <p:spPr>
          <a:xfrm>
            <a:off x="913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22" name="Metric value 4"/>
          <p:cNvSpPr txBox="1"/>
          <p:nvPr/>
        </p:nvSpPr>
        <p:spPr>
          <a:xfrm>
            <a:off x="931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3" name="Metric label 4"/>
          <p:cNvSpPr txBox="1"/>
          <p:nvPr/>
        </p:nvSpPr>
        <p:spPr>
          <a:xfrm>
            <a:off x="931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Accessibility Verified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Visual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visualizations: Executive Kpi Cards: Stunting prevalence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Regional Heat Map: Infant and young child feeding practice score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Choropleth Map: Micronutrient supplementation coverage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Risk Matrix: Household food-access score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Decision Matrix: Stunting prevalence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Accessibility Assurance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wcag target: WCAG 2.2 AA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tagged pdf required: true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alt text required: true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table fallback required: true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keyboard navigation required: true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Products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exports: Premium PDF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Editable Word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Native PowerPoint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Statistical Excel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Board Deck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Methodology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research objectives: Assess nutrition security performance and equity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research objectives: Identify operational drivers and decision priorities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What outcomes are changing?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Who is being left behind?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Which actions are most likely to improve performance?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Sampling Design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Zambia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Weighting and Uncertainty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Zambia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Reliability and Validity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Zambia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Missing Data and Outliers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Zambia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Regional Intelligence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Choropleth Map: Micronutrient supplementation coverage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Performance Heat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Regional Heat Map: Infant and young child feeding practice score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risk: Uneven implementation widens existing disparities in nutrition security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High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impact: High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risk: Delayed financing weakens delivery confidence in nutrition security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Medium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Decision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Target food-access interventions in the highest-stunting districts.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Scale infant and young child feeding counselling at community level.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Close micronutrient supplementation coverage gaps.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Address care-practice knowledge gaps through community health workers.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Build seasonal food-security early-response planning.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Opportunity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Stronger feedback accountability between frontline delivery and leadership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Evidence-led reallocation of resources already committed to nutrition security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Targeted acceleration in the lowest-performing part of nutrition security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Cost of Inaction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narrative: Delaying action on nutrition security performance is unlikely to be neutral: the evidence suggests the current gap compounds rather than holds steady.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Ownership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DEC-NUT-01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DEC-NUT-02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DEC-NUT-03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DEC-NUT-04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DEC-NUT-05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Target food-access interventions in the highest-stunting districts.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Scale infant and young child feeding counselling at community level.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Close micronutrient supplementation coverage gaps.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Address care-practice knowledge gaps through community health workers.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Build seasonal food-security early-response planning.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variable: indicator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label: Synthetic Nutrition Security indicator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type: numeric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allowed values: 0–100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missing code: NA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Appendices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Technical methodology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and weighting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registry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Statistical tables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Responsible interpretation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Limitations and Integrity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All content is synthetic and must not be interpreted as official statistics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Geographic references are illustrative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Budget implications are directional and require formal costing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Causal claims are not made without an appropriate design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34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VoiceInsights Africa</Application>
  <Slides>34</Slides>
</Properties>
</file>

<file path=docProps/core.xml><?xml version="1.0" encoding="utf-8"?>
<cp:coreProperties xmlns:cp="http://schemas.openxmlformats.org/package/2006/metadata/core-properties" xmlns:dc="http://purl.org/dc/elements/1.1/">
  <dc:title>Nutrition Security Intelligence Report</dc:title>
  <dc:creator>VoiceInsights Africa</dc:creator>
</cp:coreProperties>
</file>