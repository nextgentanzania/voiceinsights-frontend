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B55"/>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1669A8"/>
          </a:solidFill>
          <a:ln w="12700">
            <a:solidFill>
              <a:srgbClr val="1669A8"/>
            </a:solidFill>
            <a:prstDash val="solid"/>
          </a:ln>
        </p:spPr>
      </p:sp>
      <p:sp>
        <p:nvSpPr>
          <p:cNvPr id="3" name="Shape 1"/>
          <p:cNvSpPr/>
          <p:nvPr/>
        </p:nvSpPr>
        <p:spPr>
          <a:xfrm>
            <a:off x="0" y="1536192"/>
            <a:ext cx="12191695" cy="91440"/>
          </a:xfrm>
          <a:prstGeom prst="rect">
            <a:avLst/>
          </a:prstGeom>
          <a:solidFill>
            <a:srgbClr val="D4AF37"/>
          </a:solidFill>
          <a:ln w="12700">
            <a:solidFill>
              <a:srgbClr val="D4AF37"/>
            </a:solidFill>
            <a:prstDash val="solid"/>
          </a:ln>
        </p:spPr>
      </p:sp>
      <p:sp>
        <p:nvSpPr>
          <p:cNvPr id="4" name="Shape 2"/>
          <p:cNvSpPr/>
          <p:nvPr/>
        </p:nvSpPr>
        <p:spPr>
          <a:xfrm>
            <a:off x="1554480" y="1554480"/>
            <a:ext cx="2057400" cy="64008"/>
          </a:xfrm>
          <a:prstGeom prst="rect">
            <a:avLst/>
          </a:prstGeom>
          <a:solidFill>
            <a:srgbClr val="D4AF37"/>
          </a:solidFill>
          <a:ln w="12700">
            <a:solidFill>
              <a:srgbClr val="D4AF37"/>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D4AF37"/>
                </a:solidFill>
              </a:rPr>
              <a:t>FLAGSHIP SYNTHETIC DEMONSTRATION PUBLICATION | COVER 3</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Government Policy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Kenya | Public Service Delivery</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This flagship synthetic demonstration publication examines public service delivery performance in Kenya.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Issue a cabinet delivery directive with named accountabilities for public service delivery.</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082B55"/>
                </a:solidFill>
              </a:rPr>
              <a:t>4629</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082B55"/>
                </a:solidFill>
              </a:rPr>
              <a:t>85%</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082B55"/>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082B55"/>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Across Kenya's synthetic study areas, policy reach is the clearest differentiator of public service delivery performance. The evidence is strongest in Nairobi Metro,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Kenya's synthetic study areas, administrative burden is the clearest differentiator of public service delivery performance. The evidence is strongest in Coast Counties,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Kenya's synthetic study areas, county implementation variance is the clearest differentiator of public service delivery performance. The evidence is strongest in Western Counties,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Nairobi Metro</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681374"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61%</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Coast Counties</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3741725" cy="201168"/>
          </a:xfrm>
          <a:prstGeom prst="roundRect">
            <a:avLst>
              <a:gd name="adj" fmla="val 13636"/>
            </a:avLst>
          </a:prstGeom>
          <a:solidFill>
            <a:srgbClr val="D4AF37"/>
          </a:solidFill>
          <a:ln w="12700">
            <a:solidFill>
              <a:srgbClr val="D4AF37"/>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62%</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Western Counties</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3802075"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63%</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Arid and Semi-Arid Counties</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3862426" cy="201168"/>
          </a:xfrm>
          <a:prstGeom prst="roundRect">
            <a:avLst>
              <a:gd name="adj" fmla="val 13636"/>
            </a:avLst>
          </a:prstGeom>
          <a:solidFill>
            <a:srgbClr val="D4AF37"/>
          </a:solidFill>
          <a:ln w="12700">
            <a:solidFill>
              <a:srgbClr val="D4AF37"/>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Policy reach rate</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043477"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875166" y="1737360"/>
            <a:ext cx="0" cy="347472"/>
          </a:xfrm>
          <a:prstGeom prst="line">
            <a:avLst/>
          </a:prstGeom>
          <a:noFill/>
          <a:ln w="19050">
            <a:solidFill>
              <a:srgbClr val="082B55"/>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67% / target 91%</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Administrative burden score</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4103827" cy="201168"/>
          </a:xfrm>
          <a:prstGeom prst="roundRect">
            <a:avLst>
              <a:gd name="adj" fmla="val 13636"/>
            </a:avLst>
          </a:prstGeom>
          <a:solidFill>
            <a:srgbClr val="D4AF37"/>
          </a:solidFill>
          <a:ln w="12700">
            <a:solidFill>
              <a:srgbClr val="D4AF37"/>
            </a:solidFill>
            <a:prstDash val="solid"/>
          </a:ln>
        </p:spPr>
      </p:sp>
      <p:sp>
        <p:nvSpPr>
          <p:cNvPr id="16" name="Shape 13"/>
          <p:cNvSpPr/>
          <p:nvPr/>
        </p:nvSpPr>
        <p:spPr>
          <a:xfrm>
            <a:off x="8935517" y="2359152"/>
            <a:ext cx="0" cy="347472"/>
          </a:xfrm>
          <a:prstGeom prst="line">
            <a:avLst/>
          </a:prstGeom>
          <a:noFill/>
          <a:ln w="19050">
            <a:solidFill>
              <a:srgbClr val="082B55"/>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68% / target 92%</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Implementation fidelity</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4164178"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7969910" y="2980944"/>
            <a:ext cx="0" cy="347472"/>
          </a:xfrm>
          <a:prstGeom prst="line">
            <a:avLst/>
          </a:prstGeom>
          <a:noFill/>
          <a:ln w="19050">
            <a:solidFill>
              <a:srgbClr val="082B55"/>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69% / target 76%</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Grievance resolution rate</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4224528" cy="201168"/>
          </a:xfrm>
          <a:prstGeom prst="roundRect">
            <a:avLst>
              <a:gd name="adj" fmla="val 13636"/>
            </a:avLst>
          </a:prstGeom>
          <a:solidFill>
            <a:srgbClr val="D4AF37"/>
          </a:solidFill>
          <a:ln w="12700">
            <a:solidFill>
              <a:srgbClr val="D4AF37"/>
            </a:solidFill>
            <a:prstDash val="solid"/>
          </a:ln>
        </p:spPr>
      </p:sp>
      <p:sp>
        <p:nvSpPr>
          <p:cNvPr id="26" name="Shape 23"/>
          <p:cNvSpPr/>
          <p:nvPr/>
        </p:nvSpPr>
        <p:spPr>
          <a:xfrm>
            <a:off x="8030261" y="3602736"/>
            <a:ext cx="0" cy="347472"/>
          </a:xfrm>
          <a:prstGeom prst="line">
            <a:avLst/>
          </a:prstGeom>
          <a:noFill/>
          <a:ln w="19050">
            <a:solidFill>
              <a:srgbClr val="082B55"/>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70% / target 77%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Nairobi Metro, policy reach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Coast Counties, administrative burden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Western Counties, county implementation variance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Issue a cabinet delivery directive with named accountabilities for public service delivery.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Simplify the highest-burden service procedures for public service delivery.</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Deploy county implementation support teams for public service delivery.</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Publish a citizen trust and service recovery dashboard for public service delivery.</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Set statutory grievance-resolution service levels for public service delivery.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Issue a cabinet delivery directive with named accountabilities for public service delivery.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Simplify the highest-burden service procedures for public service delivery.</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Deploy county implementation support teams for public service delivery.</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Publish a citizen trust and service recovery dashboard for public service delivery.</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Set statutory grievance-resolution service levels for public service delivery.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Nairobi Metro, policy reach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Coast Counties, administrative burden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Western Counties, county implementation variance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Arid and Semi-Arid Counties, citizen trust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Nairobi Metro, grievance resolution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sampling frame: Synthetic frame covering programme-relevant population groups in Kenya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sample size: 4629</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Results-Based Management: Findings and recommendations are connected to outputs, outcomes and indicators.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Theory of Change: The report tests causal pathways, assumptions and risks without claiming unsupported attribution.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SDG 16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2B5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D4AF37"/>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Policy Intelligence Report</dc:title>
  <dc:subject>Synthetic Demonstration Publication</dc:subject>
  <dc:creator>VoiceInsights Africa</dc:creator>
  <cp:lastModifiedBy>VoiceInsights Africa</cp:lastModifiedBy>
  <cp:revision>1</cp:revision>
  <dcterms:created xsi:type="dcterms:W3CDTF">2026-07-12T22:51:24Z</dcterms:created>
  <dcterms:modified xsi:type="dcterms:W3CDTF">2026-07-12T22:51:24Z</dcterms:modified>
</cp:coreProperties>
</file>