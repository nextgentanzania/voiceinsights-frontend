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251D"/>
          </a:solidFill>
          <a:ln>
            <a:noFill/>
          </a:ln>
        </p:spPr>
      </p:sp>
      <p:sp>
        <p:nvSpPr>
          <p:cNvPr id="3" name="Top rule"/>
          <p:cNvSpPr/>
          <p:nvPr/>
        </p:nvSpPr>
        <p:spPr>
          <a:xfrm>
            <a:off x="0" y="0"/>
            <a:ext cx="12192000" cy="70000"/>
          </a:xfrm>
          <a:prstGeom prst="rect">
            <a:avLst/>
          </a:prstGeom>
          <a:solidFill>
            <a:srgbClr val="D4AF37"/>
          </a:solidFill>
          <a:ln>
            <a:noFill/>
          </a:ln>
        </p:spPr>
      </p:sp>
      <p:sp>
        <p:nvSpPr>
          <p:cNvPr id="4" name="Accent panel"/>
          <p:cNvSpPr/>
          <p:nvPr/>
        </p:nvSpPr>
        <p:spPr>
          <a:xfrm>
            <a:off x="9300000" y="0"/>
            <a:ext cx="2892000" cy="6858000"/>
          </a:xfrm>
          <a:prstGeom prst="rect">
            <a:avLst/>
          </a:prstGeom>
          <a:solidFill>
            <a:srgbClr val="0B6E4F"/>
          </a:solidFill>
          <a:ln>
            <a:noFill/>
          </a:ln>
        </p:spPr>
      </p:sp>
      <p:sp>
        <p:nvSpPr>
          <p:cNvPr id="5" name="Gold rule"/>
          <p:cNvSpPr/>
          <p:nvPr/>
        </p:nvSpPr>
        <p:spPr>
          <a:xfrm>
            <a:off x="8880000" y="0"/>
            <a:ext cx="120000" cy="6858000"/>
          </a:xfrm>
          <a:prstGeom prst="rect">
            <a:avLst/>
          </a:prstGeom>
          <a:solidFill>
            <a:srgbClr val="D4AF37"/>
          </a:solidFill>
          <a:ln>
            <a:noFill/>
          </a:ln>
        </p:spPr>
      </p:sp>
      <p:sp>
        <p:nvSpPr>
          <p:cNvPr id="6" name="VoiceInsights logo bar 1"/>
          <p:cNvSpPr/>
          <p:nvPr/>
        </p:nvSpPr>
        <p:spPr>
          <a:xfrm>
            <a:off x="640000" y="400000"/>
            <a:ext cx="90000" cy="180000"/>
          </a:xfrm>
          <a:prstGeom prst="roundRect">
            <a:avLst/>
          </a:prstGeom>
          <a:solidFill>
            <a:srgbClr val="0B6E4F"/>
          </a:solidFill>
          <a:ln>
            <a:noFill/>
          </a:ln>
        </p:spPr>
      </p:sp>
      <p:sp>
        <p:nvSpPr>
          <p:cNvPr id="7" name="VoiceInsights logo bar 2"/>
          <p:cNvSpPr/>
          <p:nvPr/>
        </p:nvSpPr>
        <p:spPr>
          <a:xfrm>
            <a:off x="800000" y="315000"/>
            <a:ext cx="110000" cy="350000"/>
          </a:xfrm>
          <a:prstGeom prst="roundRect">
            <a:avLst/>
          </a:prstGeom>
          <a:solidFill>
            <a:srgbClr val="0B6E4F"/>
          </a:solidFill>
          <a:ln>
            <a:noFill/>
          </a:ln>
        </p:spPr>
      </p:sp>
      <p:sp>
        <p:nvSpPr>
          <p:cNvPr id="8" name="VoiceInsights logo bar 3"/>
          <p:cNvSpPr/>
          <p:nvPr/>
        </p:nvSpPr>
        <p:spPr>
          <a:xfrm>
            <a:off x="980000" y="210000"/>
            <a:ext cx="125000" cy="560000"/>
          </a:xfrm>
          <a:prstGeom prst="roundRect">
            <a:avLst/>
          </a:prstGeom>
          <a:solidFill>
            <a:srgbClr val="0B6E4F"/>
          </a:solidFill>
          <a:ln>
            <a:noFill/>
          </a:ln>
        </p:spPr>
      </p:sp>
      <p:sp>
        <p:nvSpPr>
          <p:cNvPr id="9" name="VoiceInsights logo bar 4"/>
          <p:cNvSpPr/>
          <p:nvPr/>
        </p:nvSpPr>
        <p:spPr>
          <a:xfrm>
            <a:off x="1175000" y="315000"/>
            <a:ext cx="110000" cy="350000"/>
          </a:xfrm>
          <a:prstGeom prst="roundRect">
            <a:avLst/>
          </a:prstGeom>
          <a:solidFill>
            <a:srgbClr val="0B6E4F"/>
          </a:solidFill>
          <a:ln>
            <a:noFill/>
          </a:ln>
        </p:spPr>
      </p:sp>
      <p:sp>
        <p:nvSpPr>
          <p:cNvPr id="10" name="VoiceInsights logo bar 5"/>
          <p:cNvSpPr/>
          <p:nvPr/>
        </p:nvSpPr>
        <p:spPr>
          <a:xfrm>
            <a:off x="1355000" y="400000"/>
            <a:ext cx="90000" cy="180000"/>
          </a:xfrm>
          <a:prstGeom prst="roundRect">
            <a:avLst/>
          </a:prstGeom>
          <a:solidFill>
            <a:srgbClr val="0B6E4F"/>
          </a:solidFill>
          <a:ln>
            <a:noFill/>
          </a:ln>
        </p:spPr>
      </p:sp>
      <p:sp>
        <p:nvSpPr>
          <p:cNvPr id="11"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FFFFFF"/>
                </a:solidFill>
                <a:latin typeface="Aptos"/>
              </a:rPr>
              <a:t>VOICEINSIGHTS AFRICA</a:t>
            </a:r>
          </a:p>
        </p:txBody>
      </p:sp>
      <p:sp>
        <p:nvSpPr>
          <p:cNvPr id="12" name="Classification"/>
          <p:cNvSpPr txBox="1"/>
          <p:nvPr/>
        </p:nvSpPr>
        <p:spPr>
          <a:xfrm>
            <a:off x="640000" y="1160000"/>
            <a:ext cx="7100000" cy="420000"/>
          </a:xfrm>
          <a:prstGeom prst="rect">
            <a:avLst/>
          </a:prstGeom>
          <a:noFill/>
          <a:ln>
            <a:noFill/>
          </a:ln>
        </p:spPr>
        <p:txBody>
          <a:bodyPr wrap="square" anchor="t" lIns="0" rIns="0" tIns="0" bIns="0"/>
          <a:lstStyle/>
          <a:p>
            <a:pPr algn="l"/>
            <a:r>
              <a:rPr lang="en-US" sz="1250" b="1">
                <a:solidFill>
                  <a:srgbClr val="D4AF37"/>
                </a:solidFill>
                <a:latin typeface="Aptos"/>
              </a:rPr>
              <a:t>FLAGSHIP SYNTHETIC DEMONSTRATION PUBLICATION</a:t>
            </a:r>
          </a:p>
        </p:txBody>
      </p:sp>
      <p:sp>
        <p:nvSpPr>
          <p:cNvPr id="13" name="Title"/>
          <p:cNvSpPr txBox="1"/>
          <p:nvPr/>
        </p:nvSpPr>
        <p:spPr>
          <a:xfrm>
            <a:off x="640000" y="1760000"/>
            <a:ext cx="7600000" cy="1900000"/>
          </a:xfrm>
          <a:prstGeom prst="rect">
            <a:avLst/>
          </a:prstGeom>
          <a:noFill/>
          <a:ln>
            <a:noFill/>
          </a:ln>
        </p:spPr>
        <p:txBody>
          <a:bodyPr wrap="square" anchor="t" lIns="0" rIns="0" tIns="0" bIns="0"/>
          <a:lstStyle/>
          <a:p>
            <a:pPr algn="l"/>
            <a:r>
              <a:rPr lang="en-US" sz="3600" b="1">
                <a:solidFill>
                  <a:srgbClr val="FFFFFF"/>
                </a:solidFill>
                <a:latin typeface="Aptos"/>
              </a:rPr>
              <a:t>Maternal &amp; Child Health Continuity Intelligence Report</a:t>
            </a:r>
          </a:p>
        </p:txBody>
      </p:sp>
      <p:sp>
        <p:nvSpPr>
          <p:cNvPr id="14" name="Subtitle"/>
          <p:cNvSpPr txBox="1"/>
          <p:nvPr/>
        </p:nvSpPr>
        <p:spPr>
          <a:xfrm>
            <a:off x="640000" y="3900000"/>
            <a:ext cx="6900000" cy="450000"/>
          </a:xfrm>
          <a:prstGeom prst="rect">
            <a:avLst/>
          </a:prstGeom>
          <a:noFill/>
          <a:ln>
            <a:noFill/>
          </a:ln>
        </p:spPr>
        <p:txBody>
          <a:bodyPr wrap="square" anchor="t" lIns="0" rIns="0" tIns="0" bIns="0"/>
          <a:lstStyle/>
          <a:p>
            <a:pPr algn="l"/>
            <a:r>
              <a:rPr lang="en-US" sz="1800">
                <a:solidFill>
                  <a:srgbClr val="D8E5DF"/>
                </a:solidFill>
                <a:latin typeface="Aptos"/>
              </a:rPr>
              <a:t>Uganda | Maternal and Child Health</a:t>
            </a:r>
          </a:p>
        </p:txBody>
      </p:sp>
      <p:sp>
        <p:nvSpPr>
          <p:cNvPr id="15" name="Prepared"/>
          <p:cNvSpPr txBox="1"/>
          <p:nvPr/>
        </p:nvSpPr>
        <p:spPr>
          <a:xfrm>
            <a:off x="640000" y="5000000"/>
            <a:ext cx="6500000" cy="760000"/>
          </a:xfrm>
          <a:prstGeom prst="rect">
            <a:avLst/>
          </a:prstGeom>
          <a:noFill/>
          <a:ln>
            <a:noFill/>
          </a:ln>
        </p:spPr>
        <p:txBody>
          <a:bodyPr wrap="square" anchor="t" lIns="0" rIns="0" tIns="0" bIns="0"/>
          <a:lstStyle/>
          <a:p>
            <a:pPr algn="l"/>
            <a:r>
              <a:rPr lang="en-US" sz="1450">
                <a:solidFill>
                  <a:srgbClr val="FFFFFF"/>
                </a:solidFill>
                <a:latin typeface="Aptos"/>
              </a:rPr>
              <a:t>Prepared by VoiceInsights Africa Every Voice. Every Language. Every Insight.</a:t>
            </a:r>
          </a:p>
        </p:txBody>
      </p:sp>
      <p:sp>
        <p:nvSpPr>
          <p:cNvPr id="16" name="Notice"/>
          <p:cNvSpPr txBox="1"/>
          <p:nvPr/>
        </p:nvSpPr>
        <p:spPr>
          <a:xfrm>
            <a:off x="9550000" y="5260000"/>
            <a:ext cx="2050000" cy="650000"/>
          </a:xfrm>
          <a:prstGeom prst="rect">
            <a:avLst/>
          </a:prstGeom>
          <a:noFill/>
          <a:ln>
            <a:noFill/>
          </a:ln>
        </p:spPr>
        <p:txBody>
          <a:bodyPr wrap="square" anchor="ctr" lIns="0" rIns="0" tIns="0" bIns="0"/>
          <a:lstStyle/>
          <a:p>
            <a:pPr algn="c"/>
            <a:r>
              <a:rPr lang="en-US" sz="1250" b="1">
                <a:solidFill>
                  <a:srgbClr val="FFFFFF"/>
                </a:solidFill>
                <a:latin typeface="Aptos"/>
              </a:rPr>
              <a:t>SYNTHETIC DATA Not official statistics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Five-minute leadership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executive brief: Donor leadership's attention should shift from monitoring maternal and child health performance to acting on the specific groups and locations the evidence flags as most exposed.</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Target antenatal-continuity investment in the lowest-completion districts.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Expand skilled birth attendance at facility level in underserved districts.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Strengthen postnatal follow-up scheduling and reminder systems.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critical findings: Antenatal-care continuity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What matters, why it matters and what must be decided</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Brief</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summary: Every number in this publication answers one question: what is actually happening with maternal and child health performance in Uganda, and for whom. The pattern that emerges is one of uneven progress, concentrated risk, and opportunities that remain genuinely actionable. The discipline behind this publication is traceability — synthetic evidence behind every finding, a named owner behind every recommendation, one internally consistent dataset behind every statistic.</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Target antenatal-continuity investment in the lowest-completion districts.</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Accountable choices for leadership</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Priority Decisions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antenatal-continuity investment in the lowest-completion districts.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skilled birth attendance at facility level in underserved districts.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Strengthen postnatal follow-up scheduling and reminder systems.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routine under-five growth monitoring at community level.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Cut emergency obstetric referral delays through transport and communication fixes.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Evidence-backed signals requiring attention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Critical Findings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Antenatal-care continuity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Skilled birth attendance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Postnatal follow-up completion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Under-five growth monitoring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Emergency obstetric referral timeliness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Claim-to-source lineage and confidence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“Rural women in Northern Uganda frame it simply: when antenatal-care continuity breaks down, everything else does too.”</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 Karamoja Sub-region, skilled birth attendance shapes whether young adults can turn services into lasting outcomes.”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“Persons with disabilities in Eastern Uganda put it plainly: postnatal follow-up completion is what decides whether progress holds or slips back.”</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“Why does West Nile lag behind? Ask frontline workers, and the answer comes back to under-five growth monitoring.”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“Elsewhere, emergency obstetric referral timeliness might be a footnote. For low-income households in Northern Uganda, it is the whole story.”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 “Rural women in Northern Uganda frame it simply: when antenatal-care continuity breaks down, everything else does too.”</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“In Karamoja Sub-region, skilled birth attendance shapes whether young adults can turn services into lasting outcomes.”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“Persons with disabilities in Eastern Uganda put it plainly: postnatal follow-up completion is what decides whether progress holds or slips back.”</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“Why does West Nile lag behind? Ask frontline workers, and the answer comes back to under-five growth monitoring.”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“Elsewhere, emergency obstetric referral timeliness might be a footnote. For low-income households in Northern Uganda, it is the whole story.”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Sampling, weighting, uncertainty and reproducibility</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Statistical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Uganda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Prioritisation for management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and Opportunity Matrix</a:t>
            </a:r>
          </a:p>
        </p:txBody>
      </p:sp>
      <p:sp>
        <p:nvSpPr>
          <p:cNvPr id="12" name="Risk panel"/>
          <p:cNvSpPr/>
          <p:nvPr/>
        </p:nvSpPr>
        <p:spPr>
          <a:xfrm>
            <a:off x="640000" y="2050000"/>
            <a:ext cx="5200000" cy="3400000"/>
          </a:xfrm>
          <a:prstGeom prst="roundRect">
            <a:avLst/>
          </a:prstGeom>
          <a:solidFill>
            <a:srgbClr val="FFF2F0"/>
          </a:solidFill>
          <a:ln w="12700">
            <a:solidFill>
              <a:srgbClr val="E7C5BF"/>
            </a:solidFill>
          </a:ln>
        </p:spPr>
      </p:sp>
      <p:sp>
        <p:nvSpPr>
          <p:cNvPr id="13" name="Opportunity panel"/>
          <p:cNvSpPr/>
          <p:nvPr/>
        </p:nvSpPr>
        <p:spPr>
          <a:xfrm>
            <a:off x="5980000" y="2050000"/>
            <a:ext cx="5200000" cy="3400000"/>
          </a:xfrm>
          <a:prstGeom prst="roundRect">
            <a:avLst/>
          </a:prstGeom>
          <a:solidFill>
            <a:srgbClr val="ECF7F1"/>
          </a:solidFill>
          <a:ln w="12700">
            <a:solidFill>
              <a:srgbClr val="B8DCCB"/>
            </a:solidFill>
          </a:ln>
        </p:spPr>
      </p:sp>
      <p:sp>
        <p:nvSpPr>
          <p:cNvPr id="14" name="Risk title"/>
          <p:cNvSpPr txBox="1"/>
          <p:nvPr/>
        </p:nvSpPr>
        <p:spPr>
          <a:xfrm>
            <a:off x="940000" y="2320000"/>
            <a:ext cx="4400000" cy="330000"/>
          </a:xfrm>
          <a:prstGeom prst="rect">
            <a:avLst/>
          </a:prstGeom>
          <a:noFill/>
          <a:ln>
            <a:noFill/>
          </a:ln>
        </p:spPr>
        <p:txBody>
          <a:bodyPr wrap="square" anchor="t" lIns="0" rIns="0" tIns="0" bIns="0"/>
          <a:lstStyle/>
          <a:p>
            <a:pPr algn="l"/>
            <a:r>
              <a:rPr lang="en-US" sz="1350" b="1">
                <a:solidFill>
                  <a:srgbClr val="A33A2B"/>
                </a:solidFill>
                <a:latin typeface="Aptos"/>
              </a:rPr>
              <a:t>CRITICAL RISKS</a:t>
            </a:r>
          </a:p>
        </p:txBody>
      </p:sp>
      <p:sp>
        <p:nvSpPr>
          <p:cNvPr id="15" name="Opportunity title"/>
          <p:cNvSpPr txBox="1"/>
          <p:nvPr/>
        </p:nvSpPr>
        <p:spPr>
          <a:xfrm>
            <a:off x="6280000" y="2320000"/>
            <a:ext cx="4400000" cy="330000"/>
          </a:xfrm>
          <a:prstGeom prst="rect">
            <a:avLst/>
          </a:prstGeom>
          <a:noFill/>
          <a:ln>
            <a:noFill/>
          </a:ln>
        </p:spPr>
        <p:txBody>
          <a:bodyPr wrap="square" anchor="t" lIns="0" rIns="0" tIns="0" bIns="0"/>
          <a:lstStyle/>
          <a:p>
            <a:pPr algn="l"/>
            <a:r>
              <a:rPr lang="en-US" sz="1350" b="1">
                <a:solidFill>
                  <a:srgbClr val="0B6E4F"/>
                </a:solidFill>
                <a:latin typeface="Aptos"/>
              </a:rPr>
              <a:t>TOP OPPORTUNITIES</a:t>
            </a:r>
          </a:p>
        </p:txBody>
      </p:sp>
      <p:sp>
        <p:nvSpPr>
          <p:cNvPr id="16" name="Risks"/>
          <p:cNvSpPr txBox="1"/>
          <p:nvPr/>
        </p:nvSpPr>
        <p:spPr>
          <a:xfrm>
            <a:off x="940000" y="2850000"/>
            <a:ext cx="4400000" cy="2200000"/>
          </a:xfrm>
          <a:prstGeom prst="rect">
            <a:avLst/>
          </a:prstGeom>
          <a:noFill/>
          <a:ln>
            <a:noFill/>
          </a:ln>
        </p:spPr>
        <p:txBody>
          <a:bodyPr wrap="square" anchor="t" lIns="0" rIns="0" tIns="0" bIns="0"/>
          <a:lstStyle/>
          <a:p>
            <a:pPr algn="l"/>
            <a:r>
              <a:rPr lang="en-US" sz="1450">
                <a:solidFill>
                  <a:srgbClr val="532B25"/>
                </a:solidFill>
                <a:latin typeface="Aptos"/>
              </a:rPr>
              <a:t>1. External factors outside this publication's scope could offset gains in maternal and child health 2. Uneven implementation widens existing disparities in maternal and child health</a:t>
            </a:r>
          </a:p>
        </p:txBody>
      </p:sp>
      <p:sp>
        <p:nvSpPr>
          <p:cNvPr id="17" name="Opportunities"/>
          <p:cNvSpPr txBox="1"/>
          <p:nvPr/>
        </p:nvSpPr>
        <p:spPr>
          <a:xfrm>
            <a:off x="6280000" y="2850000"/>
            <a:ext cx="4400000" cy="2200000"/>
          </a:xfrm>
          <a:prstGeom prst="rect">
            <a:avLst/>
          </a:prstGeom>
          <a:noFill/>
          <a:ln>
            <a:noFill/>
          </a:ln>
        </p:spPr>
        <p:txBody>
          <a:bodyPr wrap="square" anchor="t" lIns="0" rIns="0" tIns="0" bIns="0"/>
          <a:lstStyle/>
          <a:p>
            <a:pPr algn="l"/>
            <a:r>
              <a:rPr lang="en-US" sz="1450">
                <a:solidFill>
                  <a:srgbClr val="164C3A"/>
                </a:solidFill>
                <a:latin typeface="Aptos"/>
              </a:rPr>
              <a:t>1. Scaling what is already working in the highest-performing region 2. Targeted acceleration in the lowest-performing part of maternal and child health 3. Stronger feedback accountability between frontline delivery and leadership</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International Standards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framework: SDG 3</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relevance: Applied where relevant to Maternal and Child Health</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EVI-MAT-001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EVI-MAT-002</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limitations: Synthetic demonstration mapping; institutional validation not implied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OECD-DAC</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Synthetic evidence indicates a strong relevance signal, subject to the stated design limitations.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coherence signal, subject to the stated design limitations.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effectiveness signal, subject to the stated design limitations.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efficiency signal, subject to the stated design limitations.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impact signal, subject to the stated design limitations.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Results-Based Management</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inputs: Governed synthetic data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Delivery capacity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Approved financing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Evidence collection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Segmented analysis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Core Humanitarian Standard</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commitment number: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commitment: CHS Commitment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EVI-MAT-001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status: CONTEXT ONLY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action: Validate relevance and assign an accountable owner before live use.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Immediate, medium-term and strategic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antenatal-continuity investment in the lowest-completion districts.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skilled birth attendance at facility level in underserved districts.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Strengthen postnatal follow-up scheduling and reminder systems.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routine under-five growth monitoring at community level.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Cut emergency obstetric referral delays through transport and communication fixes.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 statistical, visual and decision assurance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Quality Gate</a:t>
            </a:r>
          </a:p>
        </p:txBody>
      </p:sp>
      <p:sp>
        <p:nvSpPr>
          <p:cNvPr id="12" name="Metric card 1"/>
          <p:cNvSpPr/>
          <p:nvPr/>
        </p:nvSpPr>
        <p:spPr>
          <a:xfrm>
            <a:off x="640000" y="2050000"/>
            <a:ext cx="2580000" cy="1500000"/>
          </a:xfrm>
          <a:prstGeom prst="roundRect">
            <a:avLst/>
          </a:prstGeom>
          <a:solidFill>
            <a:srgbClr val="FFFFFF"/>
          </a:solidFill>
          <a:ln w="12700">
            <a:solidFill>
              <a:srgbClr val="DCE7E2"/>
            </a:solidFill>
          </a:ln>
        </p:spPr>
      </p:sp>
      <p:sp>
        <p:nvSpPr>
          <p:cNvPr id="13" name="Metric value 1"/>
          <p:cNvSpPr txBox="1"/>
          <p:nvPr/>
        </p:nvSpPr>
        <p:spPr>
          <a:xfrm>
            <a:off x="82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4" name="Metric label 1"/>
          <p:cNvSpPr txBox="1"/>
          <p:nvPr/>
        </p:nvSpPr>
        <p:spPr>
          <a:xfrm>
            <a:off x="82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Editorial Review Passed</a:t>
            </a:r>
          </a:p>
        </p:txBody>
      </p:sp>
      <p:sp>
        <p:nvSpPr>
          <p:cNvPr id="15" name="Metric card 2"/>
          <p:cNvSpPr/>
          <p:nvPr/>
        </p:nvSpPr>
        <p:spPr>
          <a:xfrm>
            <a:off x="3470000" y="2050000"/>
            <a:ext cx="2580000" cy="1500000"/>
          </a:xfrm>
          <a:prstGeom prst="roundRect">
            <a:avLst/>
          </a:prstGeom>
          <a:solidFill>
            <a:srgbClr val="FFFFFF"/>
          </a:solidFill>
          <a:ln w="12700">
            <a:solidFill>
              <a:srgbClr val="DCE7E2"/>
            </a:solidFill>
          </a:ln>
        </p:spPr>
      </p:sp>
      <p:sp>
        <p:nvSpPr>
          <p:cNvPr id="16" name="Metric value 2"/>
          <p:cNvSpPr txBox="1"/>
          <p:nvPr/>
        </p:nvSpPr>
        <p:spPr>
          <a:xfrm>
            <a:off x="365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7" name="Metric label 2"/>
          <p:cNvSpPr txBox="1"/>
          <p:nvPr/>
        </p:nvSpPr>
        <p:spPr>
          <a:xfrm>
            <a:off x="365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Evidence Review Passed</a:t>
            </a:r>
          </a:p>
        </p:txBody>
      </p:sp>
      <p:sp>
        <p:nvSpPr>
          <p:cNvPr id="18" name="Metric card 3"/>
          <p:cNvSpPr/>
          <p:nvPr/>
        </p:nvSpPr>
        <p:spPr>
          <a:xfrm>
            <a:off x="6300000" y="2050000"/>
            <a:ext cx="2580000" cy="1500000"/>
          </a:xfrm>
          <a:prstGeom prst="roundRect">
            <a:avLst/>
          </a:prstGeom>
          <a:solidFill>
            <a:srgbClr val="FFFFFF"/>
          </a:solidFill>
          <a:ln w="12700">
            <a:solidFill>
              <a:srgbClr val="DCE7E2"/>
            </a:solidFill>
          </a:ln>
        </p:spPr>
      </p:sp>
      <p:sp>
        <p:nvSpPr>
          <p:cNvPr id="19" name="Metric value 3"/>
          <p:cNvSpPr txBox="1"/>
          <p:nvPr/>
        </p:nvSpPr>
        <p:spPr>
          <a:xfrm>
            <a:off x="648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0" name="Metric label 3"/>
          <p:cNvSpPr txBox="1"/>
          <p:nvPr/>
        </p:nvSpPr>
        <p:spPr>
          <a:xfrm>
            <a:off x="648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Publication Integrity Verified</a:t>
            </a:r>
          </a:p>
        </p:txBody>
      </p:sp>
      <p:sp>
        <p:nvSpPr>
          <p:cNvPr id="21" name="Metric card 4"/>
          <p:cNvSpPr/>
          <p:nvPr/>
        </p:nvSpPr>
        <p:spPr>
          <a:xfrm>
            <a:off x="9130000" y="2050000"/>
            <a:ext cx="2580000" cy="1500000"/>
          </a:xfrm>
          <a:prstGeom prst="roundRect">
            <a:avLst/>
          </a:prstGeom>
          <a:solidFill>
            <a:srgbClr val="FFFFFF"/>
          </a:solidFill>
          <a:ln w="12700">
            <a:solidFill>
              <a:srgbClr val="DCE7E2"/>
            </a:solidFill>
          </a:ln>
        </p:spPr>
      </p:sp>
      <p:sp>
        <p:nvSpPr>
          <p:cNvPr id="22" name="Metric value 4"/>
          <p:cNvSpPr txBox="1"/>
          <p:nvPr/>
        </p:nvSpPr>
        <p:spPr>
          <a:xfrm>
            <a:off x="931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3" name="Metric label 4"/>
          <p:cNvSpPr txBox="1"/>
          <p:nvPr/>
        </p:nvSpPr>
        <p:spPr>
          <a:xfrm>
            <a:off x="931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Accessibility Verified</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Visual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visualizations: Executive Kpi Cards: Antenatal-care continuity rate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Regional Heat Map: Skilled birth attendance rate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Choropleth Map: Postnatal follow-up completion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Risk Matrix: Under-five growth monitoring coverage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Decision Matrix: Antenatal-care continuity rate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Accessibility Assurance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wcag target: WCAG 2.2 AA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tagged pdf required: true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alt text required: true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table fallback required: true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keyboard navigation required: true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Products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exports: Premium PDF</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Editable Word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Native PowerPoint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Statistical Excel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Board Deck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Methodology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research objectives: Assess maternal and child health performance and equity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research objectives: Identify operational drivers and decision priorities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What outcomes are changing?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Who is being left behind?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Which actions are most likely to improve performance?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Sampling Design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Uganda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Weighting and Uncertainty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Uganda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Reliability and Validity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Uganda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Missing Data and Outliers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Uganda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Regional Intelligence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Choropleth Map: Postnatal follow-up completion</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Performance Heat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Regional Heat Map: Skilled birth attendance rate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risk: External factors outside this publication's scope could offset gains in maternal and child health</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Low</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impact: Medium</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risk: Uneven implementation widens existing disparities in maternal and child health</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High</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Decision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antenatal-continuity investment in the lowest-completion districts.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skilled birth attendance at facility level in underserved districts.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Strengthen postnatal follow-up scheduling and reminder systems.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routine under-five growth monitoring at community level.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Cut emergency obstetric referral delays through transport and communication fixes.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Opportunity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Scaling what is already working in the highest-performing region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Targeted acceleration in the lowest-performing part of maternal and child health</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Stronger feedback accountability between frontline delivery and leadership</a:t>
            </a:r>
          </a:p>
        </p:txBody>
      </p:sp>
      <p:sp>
        <p:nvSpPr>
          <p:cNvPr id="21"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Cost of Inaction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narrative: Delaying action on maternal and child health performance is unlikely to be neutral: the evidence suggests the current gap compounds rather than holds steady.</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Ownership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DEC-MAT-01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DEC-MAT-02</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DEC-MAT-03</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DEC-MAT-04</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DEC-MAT-05</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antenatal-continuity investment in the lowest-completion districts.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skilled birth attendance at facility level in underserved districts.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Strengthen postnatal follow-up scheduling and reminder systems.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routine under-five growth monitoring at community level.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Cut emergency obstetric referral delays through transport and communication fixes.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Data Dictionary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variable: indicator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label: Synthetic Maternal and Child Health indicator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type: numeric</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allowed values: 0–100</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missing code: NA</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Appendices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Technical methodology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and weighting</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registry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Statistical tables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Data dictionary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Responsible interpretation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Limitations and Integrity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All content is synthetic and must not be interpreted as official statistics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Geographic references are illustrative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Budget implications are directional and require formal costing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Causal claims are not made without an appropriate design</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34</a:t>
            </a:r>
          </a:p>
        </p:txBody>
      </p:sp>
    </p:spTree>
  </p:cSld>
  <p:clrMapOvr>
    <a:masterClrMapping/>
  </p:clrMapOvr>
</p:sld>
</file>

<file path=docProps/app.xml><?xml version="1.0" encoding="utf-8"?>
<Properties xmlns="http://schemas.openxmlformats.org/officeDocument/2006/extended-properties">
  <Application>VoiceInsights Africa</Application>
  <Slides>34</Slides>
</Properties>
</file>

<file path=docProps/core.xml><?xml version="1.0" encoding="utf-8"?>
<cp:coreProperties xmlns:cp="http://schemas.openxmlformats.org/package/2006/metadata/core-properties" xmlns:dc="http://purl.org/dc/elements/1.1/">
  <dc:title>Maternal &amp; Child Health Continuity Intelligence Report</dc:title>
  <dc:creator>VoiceInsights Africa</dc:creator>
</cp:coreProperties>
</file>