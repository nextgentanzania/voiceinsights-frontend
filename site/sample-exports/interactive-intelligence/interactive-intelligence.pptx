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2C24"/>
        </a:solidFill>
      </p:bgPr>
    </p:bg>
    <p:spTree>
      <p:nvGrpSpPr>
        <p:cNvPr id="1" name=""/>
        <p:cNvGrpSpPr/>
        <p:nvPr/>
      </p:nvGrpSpPr>
      <p:grpSpPr>
        <a:xfrm>
          <a:off x="0" y="0"/>
          <a:ext cx="0" cy="0"/>
          <a:chOff x="0" y="0"/>
          <a:chExt cx="0" cy="0"/>
        </a:xfrm>
      </p:grpSpPr>
      <p:sp>
        <p:nvSpPr>
          <p:cNvPr id="2" name="Shape 0"/>
          <p:cNvSpPr/>
          <p:nvPr/>
        </p:nvSpPr>
        <p:spPr>
          <a:xfrm>
            <a:off x="0" y="0"/>
            <a:ext cx="2377440" cy="6858000"/>
          </a:xfrm>
          <a:prstGeom prst="rect">
            <a:avLst/>
          </a:prstGeom>
          <a:solidFill>
            <a:srgbClr val="07883F"/>
          </a:solidFill>
          <a:ln w="12700">
            <a:solidFill>
              <a:srgbClr val="07883F"/>
            </a:solidFill>
            <a:prstDash val="solid"/>
          </a:ln>
        </p:spPr>
      </p:sp>
      <p:sp>
        <p:nvSpPr>
          <p:cNvPr id="3" name="Shape 1"/>
          <p:cNvSpPr/>
          <p:nvPr/>
        </p:nvSpPr>
        <p:spPr>
          <a:xfrm>
            <a:off x="2542032" y="0"/>
            <a:ext cx="91440" cy="6858000"/>
          </a:xfrm>
          <a:prstGeom prst="rect">
            <a:avLst/>
          </a:prstGeom>
          <a:solidFill>
            <a:srgbClr val="D4AF37"/>
          </a:solidFill>
          <a:ln w="12700">
            <a:solidFill>
              <a:srgbClr val="D4AF37"/>
            </a:solidFill>
            <a:prstDash val="solid"/>
          </a:ln>
        </p:spPr>
      </p:sp>
      <p:sp>
        <p:nvSpPr>
          <p:cNvPr id="4" name="Shape 2"/>
          <p:cNvSpPr/>
          <p:nvPr/>
        </p:nvSpPr>
        <p:spPr>
          <a:xfrm>
            <a:off x="1874520" y="1261872"/>
            <a:ext cx="1737360" cy="64008"/>
          </a:xfrm>
          <a:prstGeom prst="rect">
            <a:avLst/>
          </a:prstGeom>
          <a:solidFill>
            <a:srgbClr val="D4AF37"/>
          </a:solidFill>
          <a:ln w="12700">
            <a:solidFill>
              <a:srgbClr val="D4AF37"/>
            </a:solidFill>
            <a:prstDash val="solid"/>
          </a:ln>
        </p:spPr>
      </p:sp>
      <p:pic>
        <p:nvPicPr>
          <p:cNvPr id="5" name="Image 0" descr="preencoded.png">    </p:cNvPr>
          <p:cNvPicPr>
            <a:picLocks noChangeAspect="1"/>
          </p:cNvPicPr>
          <p:nvPr/>
        </p:nvPicPr>
        <p:blipFill>
          <a:blip r:embed="rId1"/>
          <a:stretch>
            <a:fillRect/>
          </a:stretch>
        </p:blipFill>
        <p:spPr>
          <a:xfrm>
            <a:off x="594360" y="320040"/>
            <a:ext cx="777240" cy="548640"/>
          </a:xfrm>
          <a:prstGeom prst="rect">
            <a:avLst/>
          </a:prstGeom>
        </p:spPr>
      </p:pic>
      <p:sp>
        <p:nvSpPr>
          <p:cNvPr id="6" name="Text 3"/>
          <p:cNvSpPr/>
          <p:nvPr/>
        </p:nvSpPr>
        <p:spPr>
          <a:xfrm>
            <a:off x="1508760" y="429768"/>
            <a:ext cx="2926080" cy="201168"/>
          </a:xfrm>
          <a:prstGeom prst="rect">
            <a:avLst/>
          </a:prstGeom>
          <a:noFill/>
          <a:ln/>
        </p:spPr>
        <p:txBody>
          <a:bodyPr wrap="square" lIns="0" tIns="0" rIns="0" bIns="0" rtlCol="0" anchor="ctr"/>
          <a:lstStyle/>
          <a:p>
            <a:pPr indent="0" marL="0">
              <a:buNone/>
            </a:pPr>
            <a:r>
              <a:rPr lang="en-US" sz="1100" b="1" dirty="0">
                <a:solidFill>
                  <a:srgbClr val="FFFFFF"/>
                </a:solidFill>
              </a:rPr>
              <a:t>VOICEINSIGHTS AFRICA</a:t>
            </a:r>
            <a:endParaRPr lang="en-US" sz="1100" dirty="0"/>
          </a:p>
        </p:txBody>
      </p:sp>
      <p:sp>
        <p:nvSpPr>
          <p:cNvPr id="7" name="Text 4"/>
          <p:cNvSpPr/>
          <p:nvPr/>
        </p:nvSpPr>
        <p:spPr>
          <a:xfrm>
            <a:off x="594360" y="1234440"/>
            <a:ext cx="7132320" cy="228600"/>
          </a:xfrm>
          <a:prstGeom prst="rect">
            <a:avLst/>
          </a:prstGeom>
          <a:noFill/>
          <a:ln/>
        </p:spPr>
        <p:txBody>
          <a:bodyPr wrap="square" lIns="0" tIns="0" rIns="0" bIns="0" rtlCol="0" anchor="ctr"/>
          <a:lstStyle/>
          <a:p>
            <a:pPr indent="0" marL="0">
              <a:buNone/>
            </a:pPr>
            <a:r>
              <a:rPr lang="en-US" sz="900" b="1" spc="100" kern="0" dirty="0">
                <a:solidFill>
                  <a:srgbClr val="D4AF37"/>
                </a:solidFill>
              </a:rPr>
              <a:t>FLAGSHIP SYNTHETIC DEMONSTRATION PUBLICATION | COVER 14</a:t>
            </a:r>
            <a:endParaRPr lang="en-US" sz="900" dirty="0"/>
          </a:p>
        </p:txBody>
      </p:sp>
      <p:sp>
        <p:nvSpPr>
          <p:cNvPr id="8" name="Text 5"/>
          <p:cNvSpPr/>
          <p:nvPr/>
        </p:nvSpPr>
        <p:spPr>
          <a:xfrm>
            <a:off x="594360" y="1828800"/>
            <a:ext cx="7589520" cy="1371600"/>
          </a:xfrm>
          <a:prstGeom prst="rect">
            <a:avLst/>
          </a:prstGeom>
          <a:noFill/>
          <a:ln/>
        </p:spPr>
        <p:txBody>
          <a:bodyPr wrap="square" lIns="0" tIns="0" rIns="0" bIns="0" rtlCol="0" anchor="ctr"/>
          <a:lstStyle/>
          <a:p>
            <a:pPr indent="0" marL="0">
              <a:buNone/>
            </a:pPr>
            <a:r>
              <a:rPr lang="en-US" sz="3000" b="1" dirty="0">
                <a:solidFill>
                  <a:srgbClr val="FFFFFF"/>
                </a:solidFill>
              </a:rPr>
              <a:t>Interactive Intelligence Report</a:t>
            </a:r>
            <a:endParaRPr lang="en-US" sz="3000" dirty="0"/>
          </a:p>
        </p:txBody>
      </p:sp>
      <p:sp>
        <p:nvSpPr>
          <p:cNvPr id="9" name="Text 6"/>
          <p:cNvSpPr/>
          <p:nvPr/>
        </p:nvSpPr>
        <p:spPr>
          <a:xfrm>
            <a:off x="594360" y="3566160"/>
            <a:ext cx="5943600" cy="320040"/>
          </a:xfrm>
          <a:prstGeom prst="rect">
            <a:avLst/>
          </a:prstGeom>
          <a:noFill/>
          <a:ln/>
        </p:spPr>
        <p:txBody>
          <a:bodyPr wrap="square" lIns="0" tIns="0" rIns="0" bIns="0" rtlCol="0" anchor="ctr"/>
          <a:lstStyle/>
          <a:p>
            <a:pPr indent="0" marL="0">
              <a:buNone/>
            </a:pPr>
            <a:r>
              <a:rPr lang="en-US" sz="1600" dirty="0">
                <a:solidFill>
                  <a:srgbClr val="DDE9E4"/>
                </a:solidFill>
              </a:rPr>
              <a:t>East Africa | Regional Development</a:t>
            </a:r>
            <a:endParaRPr lang="en-US" sz="1600" dirty="0"/>
          </a:p>
        </p:txBody>
      </p:sp>
      <p:sp>
        <p:nvSpPr>
          <p:cNvPr id="10" name="Text 7"/>
          <p:cNvSpPr/>
          <p:nvPr/>
        </p:nvSpPr>
        <p:spPr>
          <a:xfrm>
            <a:off x="594360" y="4526280"/>
            <a:ext cx="6035040" cy="640080"/>
          </a:xfrm>
          <a:prstGeom prst="rect">
            <a:avLst/>
          </a:prstGeom>
          <a:noFill/>
          <a:ln/>
        </p:spPr>
        <p:txBody>
          <a:bodyPr wrap="square" lIns="0" tIns="0" rIns="0" bIns="0" rtlCol="0" anchor="ctr"/>
          <a:lstStyle/>
          <a:p>
            <a:pPr indent="0" marL="0">
              <a:buNone/>
            </a:pPr>
            <a:r>
              <a:rPr lang="en-US" sz="1100" dirty="0">
                <a:solidFill>
                  <a:srgbClr val="FFFFFF"/>
                </a:solidFill>
              </a:rPr>
              <a:t>Prepared by VoiceInsights Africa</a:t>
            </a:r>
            <a:endParaRPr lang="en-US" sz="1100" dirty="0"/>
          </a:p>
          <a:p>
            <a:pPr indent="0" marL="0">
              <a:buNone/>
            </a:pPr>
            <a:r>
              <a:rPr lang="en-US" sz="1100" dirty="0">
                <a:solidFill>
                  <a:srgbClr val="FFFFFF"/>
                </a:solidFill>
              </a:rPr>
              <a:t>Every Voice. Every Language. Every Insight.</a:t>
            </a:r>
            <a:endParaRPr lang="en-US" sz="1100" dirty="0"/>
          </a:p>
        </p:txBody>
      </p:sp>
      <p:sp>
        <p:nvSpPr>
          <p:cNvPr id="11" name="Text 8"/>
          <p:cNvSpPr/>
          <p:nvPr/>
        </p:nvSpPr>
        <p:spPr>
          <a:xfrm>
            <a:off x="9555480" y="5394960"/>
            <a:ext cx="2194560" cy="640080"/>
          </a:xfrm>
          <a:prstGeom prst="rect">
            <a:avLst/>
          </a:prstGeom>
          <a:noFill/>
          <a:ln/>
        </p:spPr>
        <p:txBody>
          <a:bodyPr wrap="square" lIns="0" tIns="0" rIns="0" bIns="0" rtlCol="0" anchor="ctr"/>
          <a:lstStyle/>
          <a:p>
            <a:pPr algn="ctr" indent="0" marL="0">
              <a:buNone/>
            </a:pPr>
            <a:r>
              <a:rPr lang="en-US" sz="1100" b="1" dirty="0">
                <a:solidFill>
                  <a:srgbClr val="FFFFFF"/>
                </a:solidFill>
              </a:rPr>
              <a:t>SYNTHETIC DATA</a:t>
            </a:r>
            <a:endParaRPr lang="en-US" sz="1100" dirty="0"/>
          </a:p>
          <a:p>
            <a:pPr algn="ctr" indent="0" marL="0">
              <a:buNone/>
            </a:pPr>
            <a:r>
              <a:rPr lang="en-US" sz="1100" b="1" dirty="0">
                <a:solidFill>
                  <a:srgbClr val="FFFFFF"/>
                </a:solidFill>
              </a:rPr>
              <a:t>Not official statistics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9F6"/>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EXECUTIVE BRIEF</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The decision in five minutes</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02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D4AF37"/>
          </a:solidFill>
          <a:ln w="12700">
            <a:solidFill>
              <a:srgbClr val="D4AF37"/>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This flagship synthetic demonstration publication examines regional development performance in East Africa. The governed evidence model identifies uneven progress, concentrated risks and actionable opportunities. Findings are linked to synthetic source records, recommendations carry named accountability fields, and all statistical claims are generated from one internally consistent dataset.</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02A43"/>
                </a:solidFill>
              </a:rPr>
              <a:t>Activate a regional exception-monitoring workspace for regional development.</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02A43"/>
                </a:solidFill>
              </a:rPr>
              <a:t>Improvement is achievable within 12–18 months if ownership, resourcing and evidence review are maintained.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9F6"/>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PERFORMANCE AND CONFIDENCE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Executive dashboard</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03 | Synthetic Demonstration Publication</a:t>
            </a:r>
            <a:endParaRPr lang="en-US" sz="700" dirty="0"/>
          </a:p>
        </p:txBody>
      </p:sp>
      <p:sp>
        <p:nvSpPr>
          <p:cNvPr id="8" name="Shape 5"/>
          <p:cNvSpPr/>
          <p:nvPr/>
        </p:nvSpPr>
        <p:spPr>
          <a:xfrm>
            <a:off x="548640" y="1874520"/>
            <a:ext cx="2514600" cy="1280160"/>
          </a:xfrm>
          <a:prstGeom prst="roundRect">
            <a:avLst>
              <a:gd name="adj" fmla="val 5714"/>
            </a:avLst>
          </a:prstGeom>
          <a:solidFill>
            <a:srgbClr val="FFFFFF"/>
          </a:solidFill>
          <a:ln w="12700">
            <a:solidFill>
              <a:srgbClr val="D8E5DF"/>
            </a:solidFill>
            <a:prstDash val="solid"/>
          </a:ln>
        </p:spPr>
      </p:sp>
      <p:sp>
        <p:nvSpPr>
          <p:cNvPr id="9" name="Text 6"/>
          <p:cNvSpPr/>
          <p:nvPr/>
        </p:nvSpPr>
        <p:spPr>
          <a:xfrm>
            <a:off x="713232" y="2121408"/>
            <a:ext cx="2148840" cy="411480"/>
          </a:xfrm>
          <a:prstGeom prst="rect">
            <a:avLst/>
          </a:prstGeom>
          <a:noFill/>
          <a:ln/>
        </p:spPr>
        <p:txBody>
          <a:bodyPr wrap="square" lIns="0" tIns="0" rIns="0" bIns="0" rtlCol="0" anchor="ctr"/>
          <a:lstStyle/>
          <a:p>
            <a:pPr indent="0" marL="0">
              <a:buNone/>
            </a:pPr>
            <a:r>
              <a:rPr lang="en-US" sz="2500" b="1" dirty="0">
                <a:solidFill>
                  <a:srgbClr val="062C24"/>
                </a:solidFill>
              </a:rPr>
              <a:t>4840</a:t>
            </a:r>
            <a:endParaRPr lang="en-US" sz="2500" dirty="0"/>
          </a:p>
        </p:txBody>
      </p:sp>
      <p:sp>
        <p:nvSpPr>
          <p:cNvPr id="10" name="Text 7"/>
          <p:cNvSpPr/>
          <p:nvPr/>
        </p:nvSpPr>
        <p:spPr>
          <a:xfrm>
            <a:off x="713232" y="2743200"/>
            <a:ext cx="2148840" cy="182880"/>
          </a:xfrm>
          <a:prstGeom prst="rect">
            <a:avLst/>
          </a:prstGeom>
          <a:noFill/>
          <a:ln/>
        </p:spPr>
        <p:txBody>
          <a:bodyPr wrap="square" lIns="0" tIns="0" rIns="0" bIns="0" rtlCol="0" anchor="ctr"/>
          <a:lstStyle/>
          <a:p>
            <a:pPr indent="0" marL="0">
              <a:buNone/>
            </a:pPr>
            <a:r>
              <a:rPr lang="en-US" sz="1000" b="1" dirty="0">
                <a:solidFill>
                  <a:srgbClr val="60756B"/>
                </a:solidFill>
              </a:rPr>
              <a:t>Synthetic responses</a:t>
            </a:r>
            <a:endParaRPr lang="en-US" sz="1000" dirty="0"/>
          </a:p>
        </p:txBody>
      </p:sp>
      <p:sp>
        <p:nvSpPr>
          <p:cNvPr id="11" name="Shape 8"/>
          <p:cNvSpPr/>
          <p:nvPr/>
        </p:nvSpPr>
        <p:spPr>
          <a:xfrm>
            <a:off x="3337560" y="1874520"/>
            <a:ext cx="2514600" cy="1280160"/>
          </a:xfrm>
          <a:prstGeom prst="roundRect">
            <a:avLst>
              <a:gd name="adj" fmla="val 5714"/>
            </a:avLst>
          </a:prstGeom>
          <a:solidFill>
            <a:srgbClr val="FFFFFF"/>
          </a:solidFill>
          <a:ln w="12700">
            <a:solidFill>
              <a:srgbClr val="D8E5DF"/>
            </a:solidFill>
            <a:prstDash val="solid"/>
          </a:ln>
        </p:spPr>
      </p:sp>
      <p:sp>
        <p:nvSpPr>
          <p:cNvPr id="12" name="Text 9"/>
          <p:cNvSpPr/>
          <p:nvPr/>
        </p:nvSpPr>
        <p:spPr>
          <a:xfrm>
            <a:off x="3502152" y="2121408"/>
            <a:ext cx="2148840" cy="411480"/>
          </a:xfrm>
          <a:prstGeom prst="rect">
            <a:avLst/>
          </a:prstGeom>
          <a:noFill/>
          <a:ln/>
        </p:spPr>
        <p:txBody>
          <a:bodyPr wrap="square" lIns="0" tIns="0" rIns="0" bIns="0" rtlCol="0" anchor="ctr"/>
          <a:lstStyle/>
          <a:p>
            <a:pPr indent="0" marL="0">
              <a:buNone/>
            </a:pPr>
            <a:r>
              <a:rPr lang="en-US" sz="2500" b="1" dirty="0">
                <a:solidFill>
                  <a:srgbClr val="062C24"/>
                </a:solidFill>
              </a:rPr>
              <a:t>92%</a:t>
            </a:r>
            <a:endParaRPr lang="en-US" sz="2500" dirty="0"/>
          </a:p>
        </p:txBody>
      </p:sp>
      <p:sp>
        <p:nvSpPr>
          <p:cNvPr id="13" name="Text 10"/>
          <p:cNvSpPr/>
          <p:nvPr/>
        </p:nvSpPr>
        <p:spPr>
          <a:xfrm>
            <a:off x="3502152" y="2743200"/>
            <a:ext cx="2148840" cy="182880"/>
          </a:xfrm>
          <a:prstGeom prst="rect">
            <a:avLst/>
          </a:prstGeom>
          <a:noFill/>
          <a:ln/>
        </p:spPr>
        <p:txBody>
          <a:bodyPr wrap="square" lIns="0" tIns="0" rIns="0" bIns="0" rtlCol="0" anchor="ctr"/>
          <a:lstStyle/>
          <a:p>
            <a:pPr indent="0" marL="0">
              <a:buNone/>
            </a:pPr>
            <a:r>
              <a:rPr lang="en-US" sz="1000" b="1" dirty="0">
                <a:solidFill>
                  <a:srgbClr val="60756B"/>
                </a:solidFill>
              </a:rPr>
              <a:t>Response rate</a:t>
            </a:r>
            <a:endParaRPr lang="en-US" sz="1000" dirty="0"/>
          </a:p>
        </p:txBody>
      </p:sp>
      <p:sp>
        <p:nvSpPr>
          <p:cNvPr id="14" name="Shape 11"/>
          <p:cNvSpPr/>
          <p:nvPr/>
        </p:nvSpPr>
        <p:spPr>
          <a:xfrm>
            <a:off x="6126480" y="1874520"/>
            <a:ext cx="2514600" cy="1280160"/>
          </a:xfrm>
          <a:prstGeom prst="roundRect">
            <a:avLst>
              <a:gd name="adj" fmla="val 5714"/>
            </a:avLst>
          </a:prstGeom>
          <a:solidFill>
            <a:srgbClr val="FFFFFF"/>
          </a:solidFill>
          <a:ln w="12700">
            <a:solidFill>
              <a:srgbClr val="D8E5DF"/>
            </a:solidFill>
            <a:prstDash val="solid"/>
          </a:ln>
        </p:spPr>
      </p:sp>
      <p:sp>
        <p:nvSpPr>
          <p:cNvPr id="15" name="Text 12"/>
          <p:cNvSpPr/>
          <p:nvPr/>
        </p:nvSpPr>
        <p:spPr>
          <a:xfrm>
            <a:off x="6291072" y="2121408"/>
            <a:ext cx="2148840" cy="411480"/>
          </a:xfrm>
          <a:prstGeom prst="rect">
            <a:avLst/>
          </a:prstGeom>
          <a:noFill/>
          <a:ln/>
        </p:spPr>
        <p:txBody>
          <a:bodyPr wrap="square" lIns="0" tIns="0" rIns="0" bIns="0" rtlCol="0" anchor="ctr"/>
          <a:lstStyle/>
          <a:p>
            <a:pPr indent="0" marL="0">
              <a:buNone/>
            </a:pPr>
            <a:r>
              <a:rPr lang="en-US" sz="2500" b="1" dirty="0">
                <a:solidFill>
                  <a:srgbClr val="062C24"/>
                </a:solidFill>
              </a:rPr>
              <a:t>4</a:t>
            </a:r>
            <a:endParaRPr lang="en-US" sz="2500" dirty="0"/>
          </a:p>
        </p:txBody>
      </p:sp>
      <p:sp>
        <p:nvSpPr>
          <p:cNvPr id="16" name="Text 13"/>
          <p:cNvSpPr/>
          <p:nvPr/>
        </p:nvSpPr>
        <p:spPr>
          <a:xfrm>
            <a:off x="6291072" y="2743200"/>
            <a:ext cx="2148840" cy="182880"/>
          </a:xfrm>
          <a:prstGeom prst="rect">
            <a:avLst/>
          </a:prstGeom>
          <a:noFill/>
          <a:ln/>
        </p:spPr>
        <p:txBody>
          <a:bodyPr wrap="square" lIns="0" tIns="0" rIns="0" bIns="0" rtlCol="0" anchor="ctr"/>
          <a:lstStyle/>
          <a:p>
            <a:pPr indent="0" marL="0">
              <a:buNone/>
            </a:pPr>
            <a:r>
              <a:rPr lang="en-US" sz="1000" b="1" dirty="0">
                <a:solidFill>
                  <a:srgbClr val="60756B"/>
                </a:solidFill>
              </a:rPr>
              <a:t>Regions</a:t>
            </a:r>
            <a:endParaRPr lang="en-US" sz="1000" dirty="0"/>
          </a:p>
        </p:txBody>
      </p:sp>
      <p:sp>
        <p:nvSpPr>
          <p:cNvPr id="17" name="Shape 14"/>
          <p:cNvSpPr/>
          <p:nvPr/>
        </p:nvSpPr>
        <p:spPr>
          <a:xfrm>
            <a:off x="8915400" y="1874520"/>
            <a:ext cx="2514600" cy="1280160"/>
          </a:xfrm>
          <a:prstGeom prst="roundRect">
            <a:avLst>
              <a:gd name="adj" fmla="val 5714"/>
            </a:avLst>
          </a:prstGeom>
          <a:solidFill>
            <a:srgbClr val="FFFFFF"/>
          </a:solidFill>
          <a:ln w="12700">
            <a:solidFill>
              <a:srgbClr val="D8E5DF"/>
            </a:solidFill>
            <a:prstDash val="solid"/>
          </a:ln>
        </p:spPr>
      </p:sp>
      <p:sp>
        <p:nvSpPr>
          <p:cNvPr id="18" name="Text 15"/>
          <p:cNvSpPr/>
          <p:nvPr/>
        </p:nvSpPr>
        <p:spPr>
          <a:xfrm>
            <a:off x="9079992" y="2121408"/>
            <a:ext cx="2148840" cy="411480"/>
          </a:xfrm>
          <a:prstGeom prst="rect">
            <a:avLst/>
          </a:prstGeom>
          <a:noFill/>
          <a:ln/>
        </p:spPr>
        <p:txBody>
          <a:bodyPr wrap="square" lIns="0" tIns="0" rIns="0" bIns="0" rtlCol="0" anchor="ctr"/>
          <a:lstStyle/>
          <a:p>
            <a:pPr indent="0" marL="0">
              <a:buNone/>
            </a:pPr>
            <a:r>
              <a:rPr lang="en-US" sz="2500" b="1" dirty="0">
                <a:solidFill>
                  <a:srgbClr val="062C24"/>
                </a:solidFill>
              </a:rPr>
              <a:t>82/100</a:t>
            </a:r>
            <a:endParaRPr lang="en-US" sz="2500" dirty="0"/>
          </a:p>
        </p:txBody>
      </p:sp>
      <p:sp>
        <p:nvSpPr>
          <p:cNvPr id="19" name="Text 16"/>
          <p:cNvSpPr/>
          <p:nvPr/>
        </p:nvSpPr>
        <p:spPr>
          <a:xfrm>
            <a:off x="9079992" y="2743200"/>
            <a:ext cx="2148840" cy="182880"/>
          </a:xfrm>
          <a:prstGeom prst="rect">
            <a:avLst/>
          </a:prstGeom>
          <a:noFill/>
          <a:ln/>
        </p:spPr>
        <p:txBody>
          <a:bodyPr wrap="square" lIns="0" tIns="0" rIns="0" bIns="0" rtlCol="0" anchor="ctr"/>
          <a:lstStyle/>
          <a:p>
            <a:pPr indent="0" marL="0">
              <a:buNone/>
            </a:pPr>
            <a:r>
              <a:rPr lang="en-US" sz="1000" b="1" dirty="0">
                <a:solidFill>
                  <a:srgbClr val="60756B"/>
                </a:solidFill>
              </a:rPr>
              <a:t>Demonstration readiness</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9F6"/>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CRITICAL FINDINGS</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Three findings require leadership attention</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04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D4AF37"/>
          </a:solidFill>
          <a:ln w="12700">
            <a:solidFill>
              <a:srgbClr val="D4AF37"/>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Across East Africa's synthetic study areas, regional divergence is the clearest differentiator of regional development performance. The evidence is strongest in Kenya, where rural women face the largest gap. If the pattern remains unaddressed for twelve months, it is likely to weaken equity, delivery confidence and the durability of outcomes.</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02A43"/>
                </a:solidFill>
              </a:rPr>
              <a:t>Across East Africa's synthetic study areas, cross-border service access is the clearest differentiator of regional development performance. The evidence is strongest in Tanzania, where young adults face the largest gap. If the pattern remains unaddressed for twelve months, it is likely to weaken equity, delivery confidence and the durability of outcomes.</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02A43"/>
                </a:solidFill>
              </a:rPr>
              <a:t>Across East Africa's synthetic study areas, evidence connectivity is the clearest differentiator of regional development performance. The evidence is strongest in Uganda, where persons with disabilities face the largest gap. If the pattern remains unaddressed for twelve months, it is likely to weaken equity, delivery confidence and the durability of outcomes.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9F6"/>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REGIONAL INTELLIGENCE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Outcomes vary materially by region</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05 | Synthetic Demonstration Publication</a:t>
            </a:r>
            <a:endParaRPr lang="en-US" sz="700" dirty="0"/>
          </a:p>
        </p:txBody>
      </p:sp>
      <p:sp>
        <p:nvSpPr>
          <p:cNvPr id="8" name="Text 5"/>
          <p:cNvSpPr/>
          <p:nvPr/>
        </p:nvSpPr>
        <p:spPr>
          <a:xfrm>
            <a:off x="548640" y="1783080"/>
            <a:ext cx="2926080" cy="228600"/>
          </a:xfrm>
          <a:prstGeom prst="rect">
            <a:avLst/>
          </a:prstGeom>
          <a:noFill/>
          <a:ln/>
        </p:spPr>
        <p:txBody>
          <a:bodyPr wrap="square" lIns="0" tIns="0" rIns="0" bIns="0" rtlCol="0" anchor="ctr"/>
          <a:lstStyle/>
          <a:p>
            <a:pPr indent="0" marL="0">
              <a:buNone/>
            </a:pPr>
            <a:r>
              <a:rPr lang="en-US" sz="1100" b="1" dirty="0">
                <a:solidFill>
                  <a:srgbClr val="102A43"/>
                </a:solidFill>
              </a:rPr>
              <a:t>Kenya</a:t>
            </a:r>
            <a:endParaRPr lang="en-US" sz="1100" dirty="0"/>
          </a:p>
        </p:txBody>
      </p:sp>
      <p:sp>
        <p:nvSpPr>
          <p:cNvPr id="9" name="Shape 6"/>
          <p:cNvSpPr/>
          <p:nvPr/>
        </p:nvSpPr>
        <p:spPr>
          <a:xfrm>
            <a:off x="3383280" y="1801368"/>
            <a:ext cx="6035040" cy="201168"/>
          </a:xfrm>
          <a:prstGeom prst="roundRect">
            <a:avLst>
              <a:gd name="adj" fmla="val 13636"/>
            </a:avLst>
          </a:prstGeom>
          <a:solidFill>
            <a:srgbClr val="DDE8E3"/>
          </a:solidFill>
          <a:ln w="12700">
            <a:solidFill>
              <a:srgbClr val="DDE8E3"/>
            </a:solidFill>
            <a:prstDash val="solid"/>
          </a:ln>
        </p:spPr>
      </p:sp>
      <p:sp>
        <p:nvSpPr>
          <p:cNvPr id="10" name="Shape 7"/>
          <p:cNvSpPr/>
          <p:nvPr/>
        </p:nvSpPr>
        <p:spPr>
          <a:xfrm>
            <a:off x="3383280" y="1801368"/>
            <a:ext cx="4646981" cy="201168"/>
          </a:xfrm>
          <a:prstGeom prst="roundRect">
            <a:avLst>
              <a:gd name="adj" fmla="val 13636"/>
            </a:avLst>
          </a:prstGeom>
          <a:solidFill>
            <a:srgbClr val="07883F"/>
          </a:solidFill>
          <a:ln w="12700">
            <a:solidFill>
              <a:srgbClr val="07883F"/>
            </a:solidFill>
            <a:prstDash val="solid"/>
          </a:ln>
        </p:spPr>
      </p:sp>
      <p:sp>
        <p:nvSpPr>
          <p:cNvPr id="11" name="Text 8"/>
          <p:cNvSpPr/>
          <p:nvPr/>
        </p:nvSpPr>
        <p:spPr>
          <a:xfrm>
            <a:off x="9601200" y="1783080"/>
            <a:ext cx="1554480" cy="228600"/>
          </a:xfrm>
          <a:prstGeom prst="rect">
            <a:avLst/>
          </a:prstGeom>
          <a:noFill/>
          <a:ln/>
        </p:spPr>
        <p:txBody>
          <a:bodyPr wrap="square" lIns="0" tIns="0" rIns="0" bIns="0" rtlCol="0" anchor="ctr"/>
          <a:lstStyle/>
          <a:p>
            <a:pPr algn="r" indent="0" marL="0">
              <a:buNone/>
            </a:pPr>
            <a:r>
              <a:rPr lang="en-US" sz="1000" b="1" dirty="0">
                <a:solidFill>
                  <a:srgbClr val="102A43"/>
                </a:solidFill>
              </a:rPr>
              <a:t>77%</a:t>
            </a:r>
            <a:endParaRPr lang="en-US" sz="1000" dirty="0"/>
          </a:p>
        </p:txBody>
      </p:sp>
      <p:sp>
        <p:nvSpPr>
          <p:cNvPr id="12" name="Text 9"/>
          <p:cNvSpPr/>
          <p:nvPr/>
        </p:nvSpPr>
        <p:spPr>
          <a:xfrm>
            <a:off x="548640" y="2404872"/>
            <a:ext cx="2926080" cy="228600"/>
          </a:xfrm>
          <a:prstGeom prst="rect">
            <a:avLst/>
          </a:prstGeom>
          <a:noFill/>
          <a:ln/>
        </p:spPr>
        <p:txBody>
          <a:bodyPr wrap="square" lIns="0" tIns="0" rIns="0" bIns="0" rtlCol="0" anchor="ctr"/>
          <a:lstStyle/>
          <a:p>
            <a:pPr indent="0" marL="0">
              <a:buNone/>
            </a:pPr>
            <a:r>
              <a:rPr lang="en-US" sz="1100" b="1" dirty="0">
                <a:solidFill>
                  <a:srgbClr val="102A43"/>
                </a:solidFill>
              </a:rPr>
              <a:t>Tanzania</a:t>
            </a:r>
            <a:endParaRPr lang="en-US" sz="1100" dirty="0"/>
          </a:p>
        </p:txBody>
      </p:sp>
      <p:sp>
        <p:nvSpPr>
          <p:cNvPr id="13" name="Shape 10"/>
          <p:cNvSpPr/>
          <p:nvPr/>
        </p:nvSpPr>
        <p:spPr>
          <a:xfrm>
            <a:off x="3383280" y="2423160"/>
            <a:ext cx="6035040" cy="201168"/>
          </a:xfrm>
          <a:prstGeom prst="roundRect">
            <a:avLst>
              <a:gd name="adj" fmla="val 13636"/>
            </a:avLst>
          </a:prstGeom>
          <a:solidFill>
            <a:srgbClr val="DDE8E3"/>
          </a:solidFill>
          <a:ln w="12700">
            <a:solidFill>
              <a:srgbClr val="DDE8E3"/>
            </a:solidFill>
            <a:prstDash val="solid"/>
          </a:ln>
        </p:spPr>
      </p:sp>
      <p:sp>
        <p:nvSpPr>
          <p:cNvPr id="14" name="Shape 11"/>
          <p:cNvSpPr/>
          <p:nvPr/>
        </p:nvSpPr>
        <p:spPr>
          <a:xfrm>
            <a:off x="3383280" y="2423160"/>
            <a:ext cx="4707331" cy="201168"/>
          </a:xfrm>
          <a:prstGeom prst="roundRect">
            <a:avLst>
              <a:gd name="adj" fmla="val 13636"/>
            </a:avLst>
          </a:prstGeom>
          <a:solidFill>
            <a:srgbClr val="D4AF37"/>
          </a:solidFill>
          <a:ln w="12700">
            <a:solidFill>
              <a:srgbClr val="D4AF37"/>
            </a:solidFill>
            <a:prstDash val="solid"/>
          </a:ln>
        </p:spPr>
      </p:sp>
      <p:sp>
        <p:nvSpPr>
          <p:cNvPr id="15" name="Text 12"/>
          <p:cNvSpPr/>
          <p:nvPr/>
        </p:nvSpPr>
        <p:spPr>
          <a:xfrm>
            <a:off x="9601200" y="2404872"/>
            <a:ext cx="1554480" cy="228600"/>
          </a:xfrm>
          <a:prstGeom prst="rect">
            <a:avLst/>
          </a:prstGeom>
          <a:noFill/>
          <a:ln/>
        </p:spPr>
        <p:txBody>
          <a:bodyPr wrap="square" lIns="0" tIns="0" rIns="0" bIns="0" rtlCol="0" anchor="ctr"/>
          <a:lstStyle/>
          <a:p>
            <a:pPr algn="r" indent="0" marL="0">
              <a:buNone/>
            </a:pPr>
            <a:r>
              <a:rPr lang="en-US" sz="1000" b="1" dirty="0">
                <a:solidFill>
                  <a:srgbClr val="102A43"/>
                </a:solidFill>
              </a:rPr>
              <a:t>78%</a:t>
            </a:r>
            <a:endParaRPr lang="en-US" sz="1000" dirty="0"/>
          </a:p>
        </p:txBody>
      </p:sp>
      <p:sp>
        <p:nvSpPr>
          <p:cNvPr id="16" name="Text 13"/>
          <p:cNvSpPr/>
          <p:nvPr/>
        </p:nvSpPr>
        <p:spPr>
          <a:xfrm>
            <a:off x="548640" y="3026664"/>
            <a:ext cx="2926080" cy="228600"/>
          </a:xfrm>
          <a:prstGeom prst="rect">
            <a:avLst/>
          </a:prstGeom>
          <a:noFill/>
          <a:ln/>
        </p:spPr>
        <p:txBody>
          <a:bodyPr wrap="square" lIns="0" tIns="0" rIns="0" bIns="0" rtlCol="0" anchor="ctr"/>
          <a:lstStyle/>
          <a:p>
            <a:pPr indent="0" marL="0">
              <a:buNone/>
            </a:pPr>
            <a:r>
              <a:rPr lang="en-US" sz="1100" b="1" dirty="0">
                <a:solidFill>
                  <a:srgbClr val="102A43"/>
                </a:solidFill>
              </a:rPr>
              <a:t>Uganda</a:t>
            </a:r>
            <a:endParaRPr lang="en-US" sz="1100" dirty="0"/>
          </a:p>
        </p:txBody>
      </p:sp>
      <p:sp>
        <p:nvSpPr>
          <p:cNvPr id="17" name="Shape 14"/>
          <p:cNvSpPr/>
          <p:nvPr/>
        </p:nvSpPr>
        <p:spPr>
          <a:xfrm>
            <a:off x="3383280" y="3044952"/>
            <a:ext cx="6035040" cy="201168"/>
          </a:xfrm>
          <a:prstGeom prst="roundRect">
            <a:avLst>
              <a:gd name="adj" fmla="val 13636"/>
            </a:avLst>
          </a:prstGeom>
          <a:solidFill>
            <a:srgbClr val="DDE8E3"/>
          </a:solidFill>
          <a:ln w="12700">
            <a:solidFill>
              <a:srgbClr val="DDE8E3"/>
            </a:solidFill>
            <a:prstDash val="solid"/>
          </a:ln>
        </p:spPr>
      </p:sp>
      <p:sp>
        <p:nvSpPr>
          <p:cNvPr id="18" name="Shape 15"/>
          <p:cNvSpPr/>
          <p:nvPr/>
        </p:nvSpPr>
        <p:spPr>
          <a:xfrm>
            <a:off x="3383280" y="3044952"/>
            <a:ext cx="4767682" cy="201168"/>
          </a:xfrm>
          <a:prstGeom prst="roundRect">
            <a:avLst>
              <a:gd name="adj" fmla="val 13636"/>
            </a:avLst>
          </a:prstGeom>
          <a:solidFill>
            <a:srgbClr val="07883F"/>
          </a:solidFill>
          <a:ln w="12700">
            <a:solidFill>
              <a:srgbClr val="07883F"/>
            </a:solidFill>
            <a:prstDash val="solid"/>
          </a:ln>
        </p:spPr>
      </p:sp>
      <p:sp>
        <p:nvSpPr>
          <p:cNvPr id="19" name="Text 16"/>
          <p:cNvSpPr/>
          <p:nvPr/>
        </p:nvSpPr>
        <p:spPr>
          <a:xfrm>
            <a:off x="9601200" y="3026664"/>
            <a:ext cx="1554480" cy="228600"/>
          </a:xfrm>
          <a:prstGeom prst="rect">
            <a:avLst/>
          </a:prstGeom>
          <a:noFill/>
          <a:ln/>
        </p:spPr>
        <p:txBody>
          <a:bodyPr wrap="square" lIns="0" tIns="0" rIns="0" bIns="0" rtlCol="0" anchor="ctr"/>
          <a:lstStyle/>
          <a:p>
            <a:pPr algn="r" indent="0" marL="0">
              <a:buNone/>
            </a:pPr>
            <a:r>
              <a:rPr lang="en-US" sz="1000" b="1" dirty="0">
                <a:solidFill>
                  <a:srgbClr val="102A43"/>
                </a:solidFill>
              </a:rPr>
              <a:t>79%</a:t>
            </a:r>
            <a:endParaRPr lang="en-US" sz="1000" dirty="0"/>
          </a:p>
        </p:txBody>
      </p:sp>
      <p:sp>
        <p:nvSpPr>
          <p:cNvPr id="20" name="Text 17"/>
          <p:cNvSpPr/>
          <p:nvPr/>
        </p:nvSpPr>
        <p:spPr>
          <a:xfrm>
            <a:off x="548640" y="3648456"/>
            <a:ext cx="2926080" cy="228600"/>
          </a:xfrm>
          <a:prstGeom prst="rect">
            <a:avLst/>
          </a:prstGeom>
          <a:noFill/>
          <a:ln/>
        </p:spPr>
        <p:txBody>
          <a:bodyPr wrap="square" lIns="0" tIns="0" rIns="0" bIns="0" rtlCol="0" anchor="ctr"/>
          <a:lstStyle/>
          <a:p>
            <a:pPr indent="0" marL="0">
              <a:buNone/>
            </a:pPr>
            <a:r>
              <a:rPr lang="en-US" sz="1100" b="1" dirty="0">
                <a:solidFill>
                  <a:srgbClr val="102A43"/>
                </a:solidFill>
              </a:rPr>
              <a:t>Rwanda</a:t>
            </a:r>
            <a:endParaRPr lang="en-US" sz="1100" dirty="0"/>
          </a:p>
        </p:txBody>
      </p:sp>
      <p:sp>
        <p:nvSpPr>
          <p:cNvPr id="21" name="Shape 18"/>
          <p:cNvSpPr/>
          <p:nvPr/>
        </p:nvSpPr>
        <p:spPr>
          <a:xfrm>
            <a:off x="3383280" y="3666744"/>
            <a:ext cx="6035040" cy="201168"/>
          </a:xfrm>
          <a:prstGeom prst="roundRect">
            <a:avLst>
              <a:gd name="adj" fmla="val 13636"/>
            </a:avLst>
          </a:prstGeom>
          <a:solidFill>
            <a:srgbClr val="DDE8E3"/>
          </a:solidFill>
          <a:ln w="12700">
            <a:solidFill>
              <a:srgbClr val="DDE8E3"/>
            </a:solidFill>
            <a:prstDash val="solid"/>
          </a:ln>
        </p:spPr>
      </p:sp>
      <p:sp>
        <p:nvSpPr>
          <p:cNvPr id="22" name="Shape 19"/>
          <p:cNvSpPr/>
          <p:nvPr/>
        </p:nvSpPr>
        <p:spPr>
          <a:xfrm>
            <a:off x="3383280" y="3666744"/>
            <a:ext cx="4828032" cy="201168"/>
          </a:xfrm>
          <a:prstGeom prst="roundRect">
            <a:avLst>
              <a:gd name="adj" fmla="val 13636"/>
            </a:avLst>
          </a:prstGeom>
          <a:solidFill>
            <a:srgbClr val="D4AF37"/>
          </a:solidFill>
          <a:ln w="12700">
            <a:solidFill>
              <a:srgbClr val="D4AF37"/>
            </a:solidFill>
            <a:prstDash val="solid"/>
          </a:ln>
        </p:spPr>
      </p:sp>
      <p:sp>
        <p:nvSpPr>
          <p:cNvPr id="23" name="Text 20"/>
          <p:cNvSpPr/>
          <p:nvPr/>
        </p:nvSpPr>
        <p:spPr>
          <a:xfrm>
            <a:off x="9601200" y="3648456"/>
            <a:ext cx="1554480" cy="228600"/>
          </a:xfrm>
          <a:prstGeom prst="rect">
            <a:avLst/>
          </a:prstGeom>
          <a:noFill/>
          <a:ln/>
        </p:spPr>
        <p:txBody>
          <a:bodyPr wrap="square" lIns="0" tIns="0" rIns="0" bIns="0" rtlCol="0" anchor="ctr"/>
          <a:lstStyle/>
          <a:p>
            <a:pPr algn="r" indent="0" marL="0">
              <a:buNone/>
            </a:pPr>
            <a:r>
              <a:rPr lang="en-US" sz="1000" b="1" dirty="0">
                <a:solidFill>
                  <a:srgbClr val="102A43"/>
                </a:solidFill>
              </a:rPr>
              <a:t>80%</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9F6"/>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INDICATOR INTELLIGENCE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Target gaps reveal where delivery is slipping</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06 | Synthetic Demonstration Publication</a:t>
            </a:r>
            <a:endParaRPr lang="en-US" sz="700" dirty="0"/>
          </a:p>
        </p:txBody>
      </p:sp>
      <p:sp>
        <p:nvSpPr>
          <p:cNvPr id="8" name="Text 5"/>
          <p:cNvSpPr/>
          <p:nvPr/>
        </p:nvSpPr>
        <p:spPr>
          <a:xfrm>
            <a:off x="548640" y="1783080"/>
            <a:ext cx="2926080" cy="228600"/>
          </a:xfrm>
          <a:prstGeom prst="rect">
            <a:avLst/>
          </a:prstGeom>
          <a:noFill/>
          <a:ln/>
        </p:spPr>
        <p:txBody>
          <a:bodyPr wrap="square" lIns="0" tIns="0" rIns="0" bIns="0" rtlCol="0" anchor="ctr"/>
          <a:lstStyle/>
          <a:p>
            <a:pPr indent="0" marL="0">
              <a:buNone/>
            </a:pPr>
            <a:r>
              <a:rPr lang="en-US" sz="1100" b="1" dirty="0">
                <a:solidFill>
                  <a:srgbClr val="102A43"/>
                </a:solidFill>
              </a:rPr>
              <a:t>Regional convergence index</a:t>
            </a:r>
            <a:endParaRPr lang="en-US" sz="1100" dirty="0"/>
          </a:p>
        </p:txBody>
      </p:sp>
      <p:sp>
        <p:nvSpPr>
          <p:cNvPr id="9" name="Shape 6"/>
          <p:cNvSpPr/>
          <p:nvPr/>
        </p:nvSpPr>
        <p:spPr>
          <a:xfrm>
            <a:off x="3383280" y="1801368"/>
            <a:ext cx="6035040" cy="201168"/>
          </a:xfrm>
          <a:prstGeom prst="roundRect">
            <a:avLst>
              <a:gd name="adj" fmla="val 13636"/>
            </a:avLst>
          </a:prstGeom>
          <a:solidFill>
            <a:srgbClr val="DDE8E3"/>
          </a:solidFill>
          <a:ln w="12700">
            <a:solidFill>
              <a:srgbClr val="DDE8E3"/>
            </a:solidFill>
            <a:prstDash val="solid"/>
          </a:ln>
        </p:spPr>
      </p:sp>
      <p:sp>
        <p:nvSpPr>
          <p:cNvPr id="10" name="Shape 7"/>
          <p:cNvSpPr/>
          <p:nvPr/>
        </p:nvSpPr>
        <p:spPr>
          <a:xfrm>
            <a:off x="3383280" y="1801368"/>
            <a:ext cx="3439973" cy="201168"/>
          </a:xfrm>
          <a:prstGeom prst="roundRect">
            <a:avLst>
              <a:gd name="adj" fmla="val 13636"/>
            </a:avLst>
          </a:prstGeom>
          <a:solidFill>
            <a:srgbClr val="07883F"/>
          </a:solidFill>
          <a:ln w="12700">
            <a:solidFill>
              <a:srgbClr val="07883F"/>
            </a:solidFill>
            <a:prstDash val="solid"/>
          </a:ln>
        </p:spPr>
      </p:sp>
      <p:sp>
        <p:nvSpPr>
          <p:cNvPr id="11" name="Shape 8"/>
          <p:cNvSpPr/>
          <p:nvPr/>
        </p:nvSpPr>
        <p:spPr>
          <a:xfrm>
            <a:off x="8271662" y="1737360"/>
            <a:ext cx="0" cy="347472"/>
          </a:xfrm>
          <a:prstGeom prst="line">
            <a:avLst/>
          </a:prstGeom>
          <a:noFill/>
          <a:ln w="19050">
            <a:solidFill>
              <a:srgbClr val="062C24"/>
            </a:solidFill>
            <a:prstDash val="solid"/>
          </a:ln>
        </p:spPr>
      </p:sp>
      <p:sp>
        <p:nvSpPr>
          <p:cNvPr id="12" name="Text 9"/>
          <p:cNvSpPr/>
          <p:nvPr/>
        </p:nvSpPr>
        <p:spPr>
          <a:xfrm>
            <a:off x="9601200" y="1783080"/>
            <a:ext cx="1554480" cy="228600"/>
          </a:xfrm>
          <a:prstGeom prst="rect">
            <a:avLst/>
          </a:prstGeom>
          <a:noFill/>
          <a:ln/>
        </p:spPr>
        <p:txBody>
          <a:bodyPr wrap="square" lIns="0" tIns="0" rIns="0" bIns="0" rtlCol="0" anchor="ctr"/>
          <a:lstStyle/>
          <a:p>
            <a:pPr algn="r" indent="0" marL="0">
              <a:buNone/>
            </a:pPr>
            <a:r>
              <a:rPr lang="en-US" sz="1000" b="1" dirty="0">
                <a:solidFill>
                  <a:srgbClr val="102A43"/>
                </a:solidFill>
              </a:rPr>
              <a:t>57% / target 81%</a:t>
            </a:r>
            <a:endParaRPr lang="en-US" sz="1000" dirty="0"/>
          </a:p>
        </p:txBody>
      </p:sp>
      <p:sp>
        <p:nvSpPr>
          <p:cNvPr id="13" name="Text 10"/>
          <p:cNvSpPr/>
          <p:nvPr/>
        </p:nvSpPr>
        <p:spPr>
          <a:xfrm>
            <a:off x="548640" y="2404872"/>
            <a:ext cx="2926080" cy="228600"/>
          </a:xfrm>
          <a:prstGeom prst="rect">
            <a:avLst/>
          </a:prstGeom>
          <a:noFill/>
          <a:ln/>
        </p:spPr>
        <p:txBody>
          <a:bodyPr wrap="square" lIns="0" tIns="0" rIns="0" bIns="0" rtlCol="0" anchor="ctr"/>
          <a:lstStyle/>
          <a:p>
            <a:pPr indent="0" marL="0">
              <a:buNone/>
            </a:pPr>
            <a:r>
              <a:rPr lang="en-US" sz="1100" b="1" dirty="0">
                <a:solidFill>
                  <a:srgbClr val="102A43"/>
                </a:solidFill>
              </a:rPr>
              <a:t>Cross-border access continuity</a:t>
            </a:r>
            <a:endParaRPr lang="en-US" sz="1100" dirty="0"/>
          </a:p>
        </p:txBody>
      </p:sp>
      <p:sp>
        <p:nvSpPr>
          <p:cNvPr id="14" name="Shape 11"/>
          <p:cNvSpPr/>
          <p:nvPr/>
        </p:nvSpPr>
        <p:spPr>
          <a:xfrm>
            <a:off x="3383280" y="2423160"/>
            <a:ext cx="6035040" cy="201168"/>
          </a:xfrm>
          <a:prstGeom prst="roundRect">
            <a:avLst>
              <a:gd name="adj" fmla="val 13636"/>
            </a:avLst>
          </a:prstGeom>
          <a:solidFill>
            <a:srgbClr val="DDE8E3"/>
          </a:solidFill>
          <a:ln w="12700">
            <a:solidFill>
              <a:srgbClr val="DDE8E3"/>
            </a:solidFill>
            <a:prstDash val="solid"/>
          </a:ln>
        </p:spPr>
      </p:sp>
      <p:sp>
        <p:nvSpPr>
          <p:cNvPr id="15" name="Shape 12"/>
          <p:cNvSpPr/>
          <p:nvPr/>
        </p:nvSpPr>
        <p:spPr>
          <a:xfrm>
            <a:off x="3383280" y="2423160"/>
            <a:ext cx="3500323" cy="201168"/>
          </a:xfrm>
          <a:prstGeom prst="roundRect">
            <a:avLst>
              <a:gd name="adj" fmla="val 13636"/>
            </a:avLst>
          </a:prstGeom>
          <a:solidFill>
            <a:srgbClr val="D4AF37"/>
          </a:solidFill>
          <a:ln w="12700">
            <a:solidFill>
              <a:srgbClr val="D4AF37"/>
            </a:solidFill>
            <a:prstDash val="solid"/>
          </a:ln>
        </p:spPr>
      </p:sp>
      <p:sp>
        <p:nvSpPr>
          <p:cNvPr id="16" name="Shape 13"/>
          <p:cNvSpPr/>
          <p:nvPr/>
        </p:nvSpPr>
        <p:spPr>
          <a:xfrm>
            <a:off x="8332013" y="2359152"/>
            <a:ext cx="0" cy="347472"/>
          </a:xfrm>
          <a:prstGeom prst="line">
            <a:avLst/>
          </a:prstGeom>
          <a:noFill/>
          <a:ln w="19050">
            <a:solidFill>
              <a:srgbClr val="062C24"/>
            </a:solidFill>
            <a:prstDash val="solid"/>
          </a:ln>
        </p:spPr>
      </p:sp>
      <p:sp>
        <p:nvSpPr>
          <p:cNvPr id="17" name="Text 14"/>
          <p:cNvSpPr/>
          <p:nvPr/>
        </p:nvSpPr>
        <p:spPr>
          <a:xfrm>
            <a:off x="9601200" y="2404872"/>
            <a:ext cx="1554480" cy="228600"/>
          </a:xfrm>
          <a:prstGeom prst="rect">
            <a:avLst/>
          </a:prstGeom>
          <a:noFill/>
          <a:ln/>
        </p:spPr>
        <p:txBody>
          <a:bodyPr wrap="square" lIns="0" tIns="0" rIns="0" bIns="0" rtlCol="0" anchor="ctr"/>
          <a:lstStyle/>
          <a:p>
            <a:pPr algn="r" indent="0" marL="0">
              <a:buNone/>
            </a:pPr>
            <a:r>
              <a:rPr lang="en-US" sz="1000" b="1" dirty="0">
                <a:solidFill>
                  <a:srgbClr val="102A43"/>
                </a:solidFill>
              </a:rPr>
              <a:t>58% / target 82%</a:t>
            </a:r>
            <a:endParaRPr lang="en-US" sz="1000" dirty="0"/>
          </a:p>
        </p:txBody>
      </p:sp>
      <p:sp>
        <p:nvSpPr>
          <p:cNvPr id="18" name="Text 15"/>
          <p:cNvSpPr/>
          <p:nvPr/>
        </p:nvSpPr>
        <p:spPr>
          <a:xfrm>
            <a:off x="548640" y="3026664"/>
            <a:ext cx="2926080" cy="228600"/>
          </a:xfrm>
          <a:prstGeom prst="rect">
            <a:avLst/>
          </a:prstGeom>
          <a:noFill/>
          <a:ln/>
        </p:spPr>
        <p:txBody>
          <a:bodyPr wrap="square" lIns="0" tIns="0" rIns="0" bIns="0" rtlCol="0" anchor="ctr"/>
          <a:lstStyle/>
          <a:p>
            <a:pPr indent="0" marL="0">
              <a:buNone/>
            </a:pPr>
            <a:r>
              <a:rPr lang="en-US" sz="1100" b="1" dirty="0">
                <a:solidFill>
                  <a:srgbClr val="102A43"/>
                </a:solidFill>
              </a:rPr>
              <a:t>Evidence graph completeness</a:t>
            </a:r>
            <a:endParaRPr lang="en-US" sz="1100" dirty="0"/>
          </a:p>
        </p:txBody>
      </p:sp>
      <p:sp>
        <p:nvSpPr>
          <p:cNvPr id="19" name="Shape 16"/>
          <p:cNvSpPr/>
          <p:nvPr/>
        </p:nvSpPr>
        <p:spPr>
          <a:xfrm>
            <a:off x="3383280" y="3044952"/>
            <a:ext cx="6035040" cy="201168"/>
          </a:xfrm>
          <a:prstGeom prst="roundRect">
            <a:avLst>
              <a:gd name="adj" fmla="val 13636"/>
            </a:avLst>
          </a:prstGeom>
          <a:solidFill>
            <a:srgbClr val="DDE8E3"/>
          </a:solidFill>
          <a:ln w="12700">
            <a:solidFill>
              <a:srgbClr val="DDE8E3"/>
            </a:solidFill>
            <a:prstDash val="solid"/>
          </a:ln>
        </p:spPr>
      </p:sp>
      <p:sp>
        <p:nvSpPr>
          <p:cNvPr id="20" name="Shape 17"/>
          <p:cNvSpPr/>
          <p:nvPr/>
        </p:nvSpPr>
        <p:spPr>
          <a:xfrm>
            <a:off x="3383280" y="3044952"/>
            <a:ext cx="3560674" cy="201168"/>
          </a:xfrm>
          <a:prstGeom prst="roundRect">
            <a:avLst>
              <a:gd name="adj" fmla="val 13636"/>
            </a:avLst>
          </a:prstGeom>
          <a:solidFill>
            <a:srgbClr val="07883F"/>
          </a:solidFill>
          <a:ln w="12700">
            <a:solidFill>
              <a:srgbClr val="07883F"/>
            </a:solidFill>
            <a:prstDash val="solid"/>
          </a:ln>
        </p:spPr>
      </p:sp>
      <p:sp>
        <p:nvSpPr>
          <p:cNvPr id="21" name="Shape 18"/>
          <p:cNvSpPr/>
          <p:nvPr/>
        </p:nvSpPr>
        <p:spPr>
          <a:xfrm>
            <a:off x="8392363" y="2980944"/>
            <a:ext cx="0" cy="347472"/>
          </a:xfrm>
          <a:prstGeom prst="line">
            <a:avLst/>
          </a:prstGeom>
          <a:noFill/>
          <a:ln w="19050">
            <a:solidFill>
              <a:srgbClr val="062C24"/>
            </a:solidFill>
            <a:prstDash val="solid"/>
          </a:ln>
        </p:spPr>
      </p:sp>
      <p:sp>
        <p:nvSpPr>
          <p:cNvPr id="22" name="Text 19"/>
          <p:cNvSpPr/>
          <p:nvPr/>
        </p:nvSpPr>
        <p:spPr>
          <a:xfrm>
            <a:off x="9601200" y="3026664"/>
            <a:ext cx="1554480" cy="228600"/>
          </a:xfrm>
          <a:prstGeom prst="rect">
            <a:avLst/>
          </a:prstGeom>
          <a:noFill/>
          <a:ln/>
        </p:spPr>
        <p:txBody>
          <a:bodyPr wrap="square" lIns="0" tIns="0" rIns="0" bIns="0" rtlCol="0" anchor="ctr"/>
          <a:lstStyle/>
          <a:p>
            <a:pPr algn="r" indent="0" marL="0">
              <a:buNone/>
            </a:pPr>
            <a:r>
              <a:rPr lang="en-US" sz="1000" b="1" dirty="0">
                <a:solidFill>
                  <a:srgbClr val="102A43"/>
                </a:solidFill>
              </a:rPr>
              <a:t>59% / target 83%</a:t>
            </a:r>
            <a:endParaRPr lang="en-US" sz="1000" dirty="0"/>
          </a:p>
        </p:txBody>
      </p:sp>
      <p:sp>
        <p:nvSpPr>
          <p:cNvPr id="23" name="Text 20"/>
          <p:cNvSpPr/>
          <p:nvPr/>
        </p:nvSpPr>
        <p:spPr>
          <a:xfrm>
            <a:off x="548640" y="3648456"/>
            <a:ext cx="2926080" cy="228600"/>
          </a:xfrm>
          <a:prstGeom prst="rect">
            <a:avLst/>
          </a:prstGeom>
          <a:noFill/>
          <a:ln/>
        </p:spPr>
        <p:txBody>
          <a:bodyPr wrap="square" lIns="0" tIns="0" rIns="0" bIns="0" rtlCol="0" anchor="ctr"/>
          <a:lstStyle/>
          <a:p>
            <a:pPr indent="0" marL="0">
              <a:buNone/>
            </a:pPr>
            <a:r>
              <a:rPr lang="en-US" sz="1100" b="1" dirty="0">
                <a:solidFill>
                  <a:srgbClr val="102A43"/>
                </a:solidFill>
              </a:rPr>
              <a:t>Decision latency</a:t>
            </a:r>
            <a:endParaRPr lang="en-US" sz="1100" dirty="0"/>
          </a:p>
        </p:txBody>
      </p:sp>
      <p:sp>
        <p:nvSpPr>
          <p:cNvPr id="24" name="Shape 21"/>
          <p:cNvSpPr/>
          <p:nvPr/>
        </p:nvSpPr>
        <p:spPr>
          <a:xfrm>
            <a:off x="3383280" y="3666744"/>
            <a:ext cx="6035040" cy="201168"/>
          </a:xfrm>
          <a:prstGeom prst="roundRect">
            <a:avLst>
              <a:gd name="adj" fmla="val 13636"/>
            </a:avLst>
          </a:prstGeom>
          <a:solidFill>
            <a:srgbClr val="DDE8E3"/>
          </a:solidFill>
          <a:ln w="12700">
            <a:solidFill>
              <a:srgbClr val="DDE8E3"/>
            </a:solidFill>
            <a:prstDash val="solid"/>
          </a:ln>
        </p:spPr>
      </p:sp>
      <p:sp>
        <p:nvSpPr>
          <p:cNvPr id="25" name="Shape 22"/>
          <p:cNvSpPr/>
          <p:nvPr/>
        </p:nvSpPr>
        <p:spPr>
          <a:xfrm>
            <a:off x="3383280" y="3666744"/>
            <a:ext cx="3621024" cy="201168"/>
          </a:xfrm>
          <a:prstGeom prst="roundRect">
            <a:avLst>
              <a:gd name="adj" fmla="val 13636"/>
            </a:avLst>
          </a:prstGeom>
          <a:solidFill>
            <a:srgbClr val="D4AF37"/>
          </a:solidFill>
          <a:ln w="12700">
            <a:solidFill>
              <a:srgbClr val="D4AF37"/>
            </a:solidFill>
            <a:prstDash val="solid"/>
          </a:ln>
        </p:spPr>
      </p:sp>
      <p:sp>
        <p:nvSpPr>
          <p:cNvPr id="26" name="Shape 23"/>
          <p:cNvSpPr/>
          <p:nvPr/>
        </p:nvSpPr>
        <p:spPr>
          <a:xfrm>
            <a:off x="8452714" y="3602736"/>
            <a:ext cx="0" cy="347472"/>
          </a:xfrm>
          <a:prstGeom prst="line">
            <a:avLst/>
          </a:prstGeom>
          <a:noFill/>
          <a:ln w="19050">
            <a:solidFill>
              <a:srgbClr val="062C24"/>
            </a:solidFill>
            <a:prstDash val="solid"/>
          </a:ln>
        </p:spPr>
      </p:sp>
      <p:sp>
        <p:nvSpPr>
          <p:cNvPr id="27" name="Text 24"/>
          <p:cNvSpPr/>
          <p:nvPr/>
        </p:nvSpPr>
        <p:spPr>
          <a:xfrm>
            <a:off x="9601200" y="3648456"/>
            <a:ext cx="1554480" cy="228600"/>
          </a:xfrm>
          <a:prstGeom prst="rect">
            <a:avLst/>
          </a:prstGeom>
          <a:noFill/>
          <a:ln/>
        </p:spPr>
        <p:txBody>
          <a:bodyPr wrap="square" lIns="0" tIns="0" rIns="0" bIns="0" rtlCol="0" anchor="ctr"/>
          <a:lstStyle/>
          <a:p>
            <a:pPr algn="r" indent="0" marL="0">
              <a:buNone/>
            </a:pPr>
            <a:r>
              <a:rPr lang="en-US" sz="1000" b="1" dirty="0">
                <a:solidFill>
                  <a:srgbClr val="102A43"/>
                </a:solidFill>
              </a:rPr>
              <a:t>60% / target 84%</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9F6"/>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RESPONDENT VOICE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What respondents are telling decision-makers</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07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D4AF37"/>
          </a:solidFill>
          <a:ln w="12700">
            <a:solidFill>
              <a:srgbClr val="D4AF37"/>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“In Kenya, regional divergence shapes whether rural women can turn services into lasting outcomes.”</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02A43"/>
                </a:solidFill>
              </a:rPr>
              <a:t>“In Tanzania, cross-border service access shapes whether young adults can turn services into lasting outcomes.”</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02A43"/>
                </a:solidFill>
              </a:rPr>
              <a:t>“In Uganda, evidence connectivity shapes whether persons with disabilities can turn services into lasting outcomes.”</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9F6"/>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DECISION INTELLIGENCE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Priority decisions and accountable owners</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08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D4AF37"/>
          </a:solidFill>
          <a:ln w="12700">
            <a:solidFill>
              <a:srgbClr val="D4AF37"/>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Activate a regional exception-monitoring workspace for regional development.</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02A43"/>
                </a:solidFill>
              </a:rPr>
              <a:t>Create cross-border service continuity protocols for regional development.</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02A43"/>
                </a:solidFill>
              </a:rPr>
              <a:t>Expose claim-to-source knowledge graph links for regional development.</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02A43"/>
                </a:solidFill>
              </a:rPr>
              <a:t>Set decision turnaround service levels for regional development.</a:t>
            </a:r>
            <a:endParaRPr lang="en-US" sz="1500" dirty="0"/>
          </a:p>
        </p:txBody>
      </p:sp>
      <p:sp>
        <p:nvSpPr>
          <p:cNvPr id="20" name="Shape 17"/>
          <p:cNvSpPr/>
          <p:nvPr/>
        </p:nvSpPr>
        <p:spPr>
          <a:xfrm>
            <a:off x="548640" y="5074920"/>
            <a:ext cx="384048" cy="384048"/>
          </a:xfrm>
          <a:prstGeom prst="roundRect">
            <a:avLst>
              <a:gd name="adj" fmla="val 11905"/>
            </a:avLst>
          </a:prstGeom>
          <a:solidFill>
            <a:srgbClr val="07883F"/>
          </a:solidFill>
          <a:ln w="12700">
            <a:solidFill>
              <a:srgbClr val="07883F"/>
            </a:solidFill>
            <a:prstDash val="solid"/>
          </a:ln>
        </p:spPr>
      </p:sp>
      <p:sp>
        <p:nvSpPr>
          <p:cNvPr id="21" name="Text 18"/>
          <p:cNvSpPr/>
          <p:nvPr/>
        </p:nvSpPr>
        <p:spPr>
          <a:xfrm>
            <a:off x="548640" y="515721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2" name="Text 19"/>
          <p:cNvSpPr/>
          <p:nvPr/>
        </p:nvSpPr>
        <p:spPr>
          <a:xfrm>
            <a:off x="1143000" y="5056632"/>
            <a:ext cx="9875520" cy="475488"/>
          </a:xfrm>
          <a:prstGeom prst="rect">
            <a:avLst/>
          </a:prstGeom>
          <a:noFill/>
          <a:ln/>
        </p:spPr>
        <p:txBody>
          <a:bodyPr wrap="square" lIns="0" tIns="0" rIns="0" bIns="0" rtlCol="0" anchor="ctr"/>
          <a:lstStyle/>
          <a:p>
            <a:pPr indent="0" marL="0">
              <a:buNone/>
            </a:pPr>
            <a:r>
              <a:rPr lang="en-US" sz="1500" dirty="0">
                <a:solidFill>
                  <a:srgbClr val="102A43"/>
                </a:solidFill>
              </a:rPr>
              <a:t>Publish scenario assumptions beside every forecast for regional development.</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9F6"/>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STRATEGIC CONSEQUENCE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The cost of inaction compounds over time</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09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D4AF37"/>
          </a:solidFill>
          <a:ln w="12700">
            <a:solidFill>
              <a:srgbClr val="D4AF37"/>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Without corrective action, existing gaps are likely to persist and may increase the future cost of recovery.</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02A43"/>
                </a:solidFill>
              </a:rPr>
              <a:t>A medium-scale reprioritization is indicated; formal costing and fiduciary review are required.</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9F6"/>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IMPLEMENTATION</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A phased implementation roadmap</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10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D4AF37"/>
          </a:solidFill>
          <a:ln w="12700">
            <a:solidFill>
              <a:srgbClr val="D4AF37"/>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Activate a regional exception-monitoring workspace for regional development.</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02A43"/>
                </a:solidFill>
              </a:rPr>
              <a:t>Create cross-border service continuity protocols for regional development.</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02A43"/>
                </a:solidFill>
              </a:rPr>
              <a:t>Expose claim-to-source knowledge graph links for regional development.</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02A43"/>
                </a:solidFill>
              </a:rPr>
              <a:t>Set decision turnaround service levels for regional development.</a:t>
            </a:r>
            <a:endParaRPr lang="en-US" sz="1500" dirty="0"/>
          </a:p>
        </p:txBody>
      </p:sp>
      <p:sp>
        <p:nvSpPr>
          <p:cNvPr id="20" name="Shape 17"/>
          <p:cNvSpPr/>
          <p:nvPr/>
        </p:nvSpPr>
        <p:spPr>
          <a:xfrm>
            <a:off x="548640" y="5074920"/>
            <a:ext cx="384048" cy="384048"/>
          </a:xfrm>
          <a:prstGeom prst="roundRect">
            <a:avLst>
              <a:gd name="adj" fmla="val 11905"/>
            </a:avLst>
          </a:prstGeom>
          <a:solidFill>
            <a:srgbClr val="07883F"/>
          </a:solidFill>
          <a:ln w="12700">
            <a:solidFill>
              <a:srgbClr val="07883F"/>
            </a:solidFill>
            <a:prstDash val="solid"/>
          </a:ln>
        </p:spPr>
      </p:sp>
      <p:sp>
        <p:nvSpPr>
          <p:cNvPr id="21" name="Text 18"/>
          <p:cNvSpPr/>
          <p:nvPr/>
        </p:nvSpPr>
        <p:spPr>
          <a:xfrm>
            <a:off x="548640" y="515721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2" name="Text 19"/>
          <p:cNvSpPr/>
          <p:nvPr/>
        </p:nvSpPr>
        <p:spPr>
          <a:xfrm>
            <a:off x="1143000" y="5056632"/>
            <a:ext cx="9875520" cy="475488"/>
          </a:xfrm>
          <a:prstGeom prst="rect">
            <a:avLst/>
          </a:prstGeom>
          <a:noFill/>
          <a:ln/>
        </p:spPr>
        <p:txBody>
          <a:bodyPr wrap="square" lIns="0" tIns="0" rIns="0" bIns="0" rtlCol="0" anchor="ctr"/>
          <a:lstStyle/>
          <a:p>
            <a:pPr indent="0" marL="0">
              <a:buNone/>
            </a:pPr>
            <a:r>
              <a:rPr lang="en-US" sz="1500" dirty="0">
                <a:solidFill>
                  <a:srgbClr val="102A43"/>
                </a:solidFill>
              </a:rPr>
              <a:t>Publish scenario assumptions beside every forecast for regional development.</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9F6"/>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EVIDENCE LINEAGE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Every material claim links back to evidence</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11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D4AF37"/>
          </a:solidFill>
          <a:ln w="12700">
            <a:solidFill>
              <a:srgbClr val="D4AF37"/>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“In Kenya, regional divergence shapes whether rural women can turn services into lasting outcomes.”</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02A43"/>
                </a:solidFill>
              </a:rPr>
              <a:t>“In Tanzania, cross-border service access shapes whether young adults can turn services into lasting outcomes.”</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02A43"/>
                </a:solidFill>
              </a:rPr>
              <a:t>“In Uganda, evidence connectivity shapes whether persons with disabilities can turn services into lasting outcomes.”</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02A43"/>
                </a:solidFill>
              </a:rPr>
              <a:t>“In Rwanda, decision latency shapes whether frontline workers can turn services into lasting outcomes.”</a:t>
            </a:r>
            <a:endParaRPr lang="en-US" sz="1500" dirty="0"/>
          </a:p>
        </p:txBody>
      </p:sp>
      <p:sp>
        <p:nvSpPr>
          <p:cNvPr id="20" name="Shape 17"/>
          <p:cNvSpPr/>
          <p:nvPr/>
        </p:nvSpPr>
        <p:spPr>
          <a:xfrm>
            <a:off x="548640" y="5074920"/>
            <a:ext cx="384048" cy="384048"/>
          </a:xfrm>
          <a:prstGeom prst="roundRect">
            <a:avLst>
              <a:gd name="adj" fmla="val 11905"/>
            </a:avLst>
          </a:prstGeom>
          <a:solidFill>
            <a:srgbClr val="07883F"/>
          </a:solidFill>
          <a:ln w="12700">
            <a:solidFill>
              <a:srgbClr val="07883F"/>
            </a:solidFill>
            <a:prstDash val="solid"/>
          </a:ln>
        </p:spPr>
      </p:sp>
      <p:sp>
        <p:nvSpPr>
          <p:cNvPr id="21" name="Text 18"/>
          <p:cNvSpPr/>
          <p:nvPr/>
        </p:nvSpPr>
        <p:spPr>
          <a:xfrm>
            <a:off x="548640" y="515721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2" name="Text 19"/>
          <p:cNvSpPr/>
          <p:nvPr/>
        </p:nvSpPr>
        <p:spPr>
          <a:xfrm>
            <a:off x="1143000" y="5056632"/>
            <a:ext cx="9875520" cy="475488"/>
          </a:xfrm>
          <a:prstGeom prst="rect">
            <a:avLst/>
          </a:prstGeom>
          <a:noFill/>
          <a:ln/>
        </p:spPr>
        <p:txBody>
          <a:bodyPr wrap="square" lIns="0" tIns="0" rIns="0" bIns="0" rtlCol="0" anchor="ctr"/>
          <a:lstStyle/>
          <a:p>
            <a:pPr indent="0" marL="0">
              <a:buNone/>
            </a:pPr>
            <a:r>
              <a:rPr lang="en-US" sz="1500" dirty="0">
                <a:solidFill>
                  <a:srgbClr val="102A43"/>
                </a:solidFill>
              </a:rPr>
              <a:t>“In Kenya, scenario sensitivity shapes whether low-income households can turn services into lasting outcomes.”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9F6"/>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STATISTICAL ASSURANCE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Methodology designed for reproducibility</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12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D4AF37"/>
          </a:solidFill>
          <a:ln w="12700">
            <a:solidFill>
              <a:srgbClr val="D4AF37"/>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sampling design: Stratified multi-stage synthetic demonstration design</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02A43"/>
                </a:solidFill>
              </a:rPr>
              <a:t>sampling frame: Synthetic frame covering programme-relevant population groups in East Africa</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02A43"/>
                </a:solidFill>
              </a:rPr>
              <a:t>stratification: ["Region","Urban/rural","Sex","Age","Disability status"]</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02A43"/>
                </a:solidFill>
              </a:rPr>
              <a:t>sample size: 4840</a:t>
            </a:r>
            <a:endParaRPr lang="en-US" sz="1500" dirty="0"/>
          </a:p>
        </p:txBody>
      </p:sp>
      <p:sp>
        <p:nvSpPr>
          <p:cNvPr id="20" name="Shape 17"/>
          <p:cNvSpPr/>
          <p:nvPr/>
        </p:nvSpPr>
        <p:spPr>
          <a:xfrm>
            <a:off x="548640" y="5074920"/>
            <a:ext cx="384048" cy="384048"/>
          </a:xfrm>
          <a:prstGeom prst="roundRect">
            <a:avLst>
              <a:gd name="adj" fmla="val 11905"/>
            </a:avLst>
          </a:prstGeom>
          <a:solidFill>
            <a:srgbClr val="07883F"/>
          </a:solidFill>
          <a:ln w="12700">
            <a:solidFill>
              <a:srgbClr val="07883F"/>
            </a:solidFill>
            <a:prstDash val="solid"/>
          </a:ln>
        </p:spPr>
      </p:sp>
      <p:sp>
        <p:nvSpPr>
          <p:cNvPr id="21" name="Text 18"/>
          <p:cNvSpPr/>
          <p:nvPr/>
        </p:nvSpPr>
        <p:spPr>
          <a:xfrm>
            <a:off x="548640" y="515721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22" name="Text 19"/>
          <p:cNvSpPr/>
          <p:nvPr/>
        </p:nvSpPr>
        <p:spPr>
          <a:xfrm>
            <a:off x="1143000" y="5056632"/>
            <a:ext cx="9875520" cy="475488"/>
          </a:xfrm>
          <a:prstGeom prst="rect">
            <a:avLst/>
          </a:prstGeom>
          <a:noFill/>
          <a:ln/>
        </p:spPr>
        <p:txBody>
          <a:bodyPr wrap="square" lIns="0" tIns="0" rIns="0" bIns="0" rtlCol="0" anchor="ctr"/>
          <a:lstStyle/>
          <a:p>
            <a:pPr indent="0" marL="0">
              <a:buNone/>
            </a:pPr>
            <a:r>
              <a:rPr lang="en-US" sz="1500" dirty="0">
                <a:solidFill>
                  <a:srgbClr val="102A43"/>
                </a:solidFill>
              </a:rPr>
              <a:t>weighting: Post-stratification weights normalized to the synthetic population frame</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9F6"/>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INTERNATIONAL ALIGNMENT</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Standards are applied where genuinely relevant</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13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D4AF37"/>
          </a:solidFill>
          <a:ln w="12700">
            <a:solidFill>
              <a:srgbClr val="D4AF37"/>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Data Protection and Privacy Controls: The publication uses governed response, evidence and export data.</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02A43"/>
                </a:solidFill>
              </a:rPr>
              <a:t>Responsible AI: AI-assisted interpretation requires grounding, human review, privacy and limitations.</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02A43"/>
                </a:solidFill>
              </a:rPr>
              <a:t>Accessibility: Publications must be readable and operable across formats and assistive technologies.</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9F6"/>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SDG INTELLIGENCE</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SDG contribution is transparent and bounded</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14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D4AF37"/>
          </a:solidFill>
          <a:ln w="12700">
            <a:solidFill>
              <a:srgbClr val="D4AF37"/>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SDG Context-specific — Primary. Contribution mapping only; no attribution or institutional endorsement is implied.</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9F6"/>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07883F"/>
          </a:solidFill>
          <a:ln w="12700">
            <a:solidFill>
              <a:srgbClr val="07883F"/>
            </a:solidFill>
            <a:prstDash val="solid"/>
          </a:ln>
        </p:spPr>
      </p:sp>
      <p:pic>
        <p:nvPicPr>
          <p:cNvPr id="3" name="Image 0" descr="preencoded.png">    </p:cNvPr>
          <p:cNvPicPr>
            <a:picLocks noChangeAspect="1"/>
          </p:cNvPicPr>
          <p:nvPr/>
        </p:nvPicPr>
        <p:blipFill>
          <a:blip r:embed="rId1"/>
          <a:stretch>
            <a:fillRect/>
          </a:stretch>
        </p:blipFill>
        <p:spPr>
          <a:xfrm>
            <a:off x="411480" y="164592"/>
            <a:ext cx="566928" cy="393192"/>
          </a:xfrm>
          <a:prstGeom prst="rect">
            <a:avLst/>
          </a:prstGeom>
        </p:spPr>
      </p:pic>
      <p:sp>
        <p:nvSpPr>
          <p:cNvPr id="4" name="Text 1"/>
          <p:cNvSpPr/>
          <p:nvPr/>
        </p:nvSpPr>
        <p:spPr>
          <a:xfrm>
            <a:off x="1051560" y="228600"/>
            <a:ext cx="2743200" cy="182880"/>
          </a:xfrm>
          <a:prstGeom prst="rect">
            <a:avLst/>
          </a:prstGeom>
          <a:noFill/>
          <a:ln/>
        </p:spPr>
        <p:txBody>
          <a:bodyPr wrap="square" lIns="0" tIns="0" rIns="0" bIns="0" rtlCol="0" anchor="ctr"/>
          <a:lstStyle/>
          <a:p>
            <a:pPr indent="0" marL="0">
              <a:buNone/>
            </a:pPr>
            <a:r>
              <a:rPr lang="en-US" sz="900" b="1" dirty="0">
                <a:solidFill>
                  <a:srgbClr val="07883F"/>
                </a:solidFill>
                <a:latin typeface="Aptos" pitchFamily="34" charset="0"/>
                <a:ea typeface="Aptos" pitchFamily="34" charset="-122"/>
                <a:cs typeface="Aptos" pitchFamily="34" charset="-120"/>
              </a:rPr>
              <a:t>VOICEINSIGHTS AFRICA</a:t>
            </a:r>
            <a:endParaRPr lang="en-US" sz="900" dirty="0"/>
          </a:p>
        </p:txBody>
      </p:sp>
      <p:sp>
        <p:nvSpPr>
          <p:cNvPr id="5" name="Text 2"/>
          <p:cNvSpPr/>
          <p:nvPr/>
        </p:nvSpPr>
        <p:spPr>
          <a:xfrm>
            <a:off x="502920" y="658368"/>
            <a:ext cx="4572000" cy="201168"/>
          </a:xfrm>
          <a:prstGeom prst="rect">
            <a:avLst/>
          </a:prstGeom>
          <a:noFill/>
          <a:ln/>
        </p:spPr>
        <p:txBody>
          <a:bodyPr wrap="square" lIns="0" tIns="0" rIns="0" bIns="0" rtlCol="0" anchor="ctr"/>
          <a:lstStyle/>
          <a:p>
            <a:pPr indent="0" marL="0">
              <a:buNone/>
            </a:pPr>
            <a:r>
              <a:rPr lang="en-US" sz="800" b="1" spc="100" kern="0" dirty="0">
                <a:solidFill>
                  <a:srgbClr val="07883F"/>
                </a:solidFill>
              </a:rPr>
              <a:t>PUBLICATION INTEGRITY</a:t>
            </a:r>
            <a:endParaRPr lang="en-US" sz="800" dirty="0"/>
          </a:p>
        </p:txBody>
      </p:sp>
      <p:sp>
        <p:nvSpPr>
          <p:cNvPr id="6" name="Text 3"/>
          <p:cNvSpPr/>
          <p:nvPr/>
        </p:nvSpPr>
        <p:spPr>
          <a:xfrm>
            <a:off x="502920" y="987552"/>
            <a:ext cx="10789920" cy="502920"/>
          </a:xfrm>
          <a:prstGeom prst="rect">
            <a:avLst/>
          </a:prstGeom>
          <a:noFill/>
          <a:ln/>
        </p:spPr>
        <p:txBody>
          <a:bodyPr wrap="square" lIns="0" tIns="0" rIns="0" bIns="0" rtlCol="0" anchor="ctr"/>
          <a:lstStyle/>
          <a:p>
            <a:pPr indent="0" marL="0">
              <a:buNone/>
            </a:pPr>
            <a:r>
              <a:rPr lang="en-US" sz="2500" b="1" dirty="0">
                <a:solidFill>
                  <a:srgbClr val="102A43"/>
                </a:solidFill>
              </a:rPr>
              <a:t>Limitations and responsible interpretation</a:t>
            </a:r>
            <a:endParaRPr lang="en-US" sz="2500" dirty="0"/>
          </a:p>
        </p:txBody>
      </p:sp>
      <p:sp>
        <p:nvSpPr>
          <p:cNvPr id="7" name="Text 4"/>
          <p:cNvSpPr/>
          <p:nvPr/>
        </p:nvSpPr>
        <p:spPr>
          <a:xfrm>
            <a:off x="502920" y="6537960"/>
            <a:ext cx="4114800" cy="137160"/>
          </a:xfrm>
          <a:prstGeom prst="rect">
            <a:avLst/>
          </a:prstGeom>
          <a:noFill/>
          <a:ln/>
        </p:spPr>
        <p:txBody>
          <a:bodyPr wrap="square" lIns="0" tIns="0" rIns="0" bIns="0" rtlCol="0" anchor="ctr"/>
          <a:lstStyle/>
          <a:p>
            <a:pPr indent="0" marL="0">
              <a:buNone/>
            </a:pPr>
            <a:r>
              <a:rPr lang="en-US" sz="700" dirty="0">
                <a:solidFill>
                  <a:srgbClr val="66788A"/>
                </a:solidFill>
              </a:rPr>
              <a:t>15 | Synthetic Demonstration Publication</a:t>
            </a:r>
            <a:endParaRPr lang="en-US" sz="700" dirty="0"/>
          </a:p>
        </p:txBody>
      </p:sp>
      <p:sp>
        <p:nvSpPr>
          <p:cNvPr id="8" name="Shape 5"/>
          <p:cNvSpPr/>
          <p:nvPr/>
        </p:nvSpPr>
        <p:spPr>
          <a:xfrm>
            <a:off x="548640" y="1783080"/>
            <a:ext cx="384048" cy="384048"/>
          </a:xfrm>
          <a:prstGeom prst="roundRect">
            <a:avLst>
              <a:gd name="adj" fmla="val 11905"/>
            </a:avLst>
          </a:prstGeom>
          <a:solidFill>
            <a:srgbClr val="D4AF37"/>
          </a:solidFill>
          <a:ln w="12700">
            <a:solidFill>
              <a:srgbClr val="D4AF37"/>
            </a:solidFill>
            <a:prstDash val="solid"/>
          </a:ln>
        </p:spPr>
      </p:sp>
      <p:sp>
        <p:nvSpPr>
          <p:cNvPr id="9" name="Text 6"/>
          <p:cNvSpPr/>
          <p:nvPr/>
        </p:nvSpPr>
        <p:spPr>
          <a:xfrm>
            <a:off x="548640" y="1865376"/>
            <a:ext cx="384048" cy="164592"/>
          </a:xfrm>
          <a:prstGeom prst="rect">
            <a:avLst/>
          </a:prstGeom>
          <a:noFill/>
          <a:ln/>
        </p:spPr>
        <p:txBody>
          <a:bodyPr wrap="square" lIns="0" tIns="0" rIns="0" bIns="0" rtlCol="0" anchor="ctr"/>
          <a:lstStyle/>
          <a:p>
            <a:pPr algn="ctr" indent="0" marL="0">
              <a:buNone/>
            </a:pPr>
            <a:r>
              <a:rPr lang="en-US" sz="1000" b="1" dirty="0">
                <a:solidFill>
                  <a:srgbClr val="102A43"/>
                </a:solidFill>
              </a:rPr>
              <a:t>1</a:t>
            </a:r>
            <a:endParaRPr lang="en-US" sz="1000" dirty="0"/>
          </a:p>
        </p:txBody>
      </p:sp>
      <p:sp>
        <p:nvSpPr>
          <p:cNvPr id="10" name="Text 7"/>
          <p:cNvSpPr/>
          <p:nvPr/>
        </p:nvSpPr>
        <p:spPr>
          <a:xfrm>
            <a:off x="1143000" y="1764792"/>
            <a:ext cx="9875520" cy="475488"/>
          </a:xfrm>
          <a:prstGeom prst="rect">
            <a:avLst/>
          </a:prstGeom>
          <a:noFill/>
          <a:ln/>
        </p:spPr>
        <p:txBody>
          <a:bodyPr wrap="square" lIns="0" tIns="0" rIns="0" bIns="0" rtlCol="0" anchor="ctr"/>
          <a:lstStyle/>
          <a:p>
            <a:pPr indent="0" marL="0">
              <a:buNone/>
            </a:pPr>
            <a:r>
              <a:rPr lang="en-US" sz="1700" b="1" dirty="0">
                <a:solidFill>
                  <a:srgbClr val="102A43"/>
                </a:solidFill>
              </a:rPr>
              <a:t>All content is synthetic and must not be interpreted as official statistics</a:t>
            </a:r>
            <a:endParaRPr lang="en-US" sz="1700" dirty="0"/>
          </a:p>
        </p:txBody>
      </p:sp>
      <p:sp>
        <p:nvSpPr>
          <p:cNvPr id="11" name="Shape 8"/>
          <p:cNvSpPr/>
          <p:nvPr/>
        </p:nvSpPr>
        <p:spPr>
          <a:xfrm>
            <a:off x="548640" y="2606040"/>
            <a:ext cx="384048" cy="384048"/>
          </a:xfrm>
          <a:prstGeom prst="roundRect">
            <a:avLst>
              <a:gd name="adj" fmla="val 11905"/>
            </a:avLst>
          </a:prstGeom>
          <a:solidFill>
            <a:srgbClr val="07883F"/>
          </a:solidFill>
          <a:ln w="12700">
            <a:solidFill>
              <a:srgbClr val="07883F"/>
            </a:solidFill>
            <a:prstDash val="solid"/>
          </a:ln>
        </p:spPr>
      </p:sp>
      <p:sp>
        <p:nvSpPr>
          <p:cNvPr id="12" name="Text 9"/>
          <p:cNvSpPr/>
          <p:nvPr/>
        </p:nvSpPr>
        <p:spPr>
          <a:xfrm>
            <a:off x="548640" y="268833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3" name="Text 10"/>
          <p:cNvSpPr/>
          <p:nvPr/>
        </p:nvSpPr>
        <p:spPr>
          <a:xfrm>
            <a:off x="1143000" y="2587752"/>
            <a:ext cx="9875520" cy="475488"/>
          </a:xfrm>
          <a:prstGeom prst="rect">
            <a:avLst/>
          </a:prstGeom>
          <a:noFill/>
          <a:ln/>
        </p:spPr>
        <p:txBody>
          <a:bodyPr wrap="square" lIns="0" tIns="0" rIns="0" bIns="0" rtlCol="0" anchor="ctr"/>
          <a:lstStyle/>
          <a:p>
            <a:pPr indent="0" marL="0">
              <a:buNone/>
            </a:pPr>
            <a:r>
              <a:rPr lang="en-US" sz="1500" dirty="0">
                <a:solidFill>
                  <a:srgbClr val="102A43"/>
                </a:solidFill>
              </a:rPr>
              <a:t>Geographic references are illustrative</a:t>
            </a:r>
            <a:endParaRPr lang="en-US" sz="1500" dirty="0"/>
          </a:p>
        </p:txBody>
      </p:sp>
      <p:sp>
        <p:nvSpPr>
          <p:cNvPr id="14" name="Shape 11"/>
          <p:cNvSpPr/>
          <p:nvPr/>
        </p:nvSpPr>
        <p:spPr>
          <a:xfrm>
            <a:off x="548640" y="3429000"/>
            <a:ext cx="384048" cy="384048"/>
          </a:xfrm>
          <a:prstGeom prst="roundRect">
            <a:avLst>
              <a:gd name="adj" fmla="val 11905"/>
            </a:avLst>
          </a:prstGeom>
          <a:solidFill>
            <a:srgbClr val="07883F"/>
          </a:solidFill>
          <a:ln w="12700">
            <a:solidFill>
              <a:srgbClr val="07883F"/>
            </a:solidFill>
            <a:prstDash val="solid"/>
          </a:ln>
        </p:spPr>
      </p:sp>
      <p:sp>
        <p:nvSpPr>
          <p:cNvPr id="15" name="Text 12"/>
          <p:cNvSpPr/>
          <p:nvPr/>
        </p:nvSpPr>
        <p:spPr>
          <a:xfrm>
            <a:off x="548640" y="351129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6" name="Text 13"/>
          <p:cNvSpPr/>
          <p:nvPr/>
        </p:nvSpPr>
        <p:spPr>
          <a:xfrm>
            <a:off x="1143000" y="3410712"/>
            <a:ext cx="9875520" cy="475488"/>
          </a:xfrm>
          <a:prstGeom prst="rect">
            <a:avLst/>
          </a:prstGeom>
          <a:noFill/>
          <a:ln/>
        </p:spPr>
        <p:txBody>
          <a:bodyPr wrap="square" lIns="0" tIns="0" rIns="0" bIns="0" rtlCol="0" anchor="ctr"/>
          <a:lstStyle/>
          <a:p>
            <a:pPr indent="0" marL="0">
              <a:buNone/>
            </a:pPr>
            <a:r>
              <a:rPr lang="en-US" sz="1500" dirty="0">
                <a:solidFill>
                  <a:srgbClr val="102A43"/>
                </a:solidFill>
              </a:rPr>
              <a:t>Budget implications are directional and require formal costing</a:t>
            </a:r>
            <a:endParaRPr lang="en-US" sz="1500" dirty="0"/>
          </a:p>
        </p:txBody>
      </p:sp>
      <p:sp>
        <p:nvSpPr>
          <p:cNvPr id="17" name="Shape 14"/>
          <p:cNvSpPr/>
          <p:nvPr/>
        </p:nvSpPr>
        <p:spPr>
          <a:xfrm>
            <a:off x="548640" y="4251960"/>
            <a:ext cx="384048" cy="384048"/>
          </a:xfrm>
          <a:prstGeom prst="roundRect">
            <a:avLst>
              <a:gd name="adj" fmla="val 11905"/>
            </a:avLst>
          </a:prstGeom>
          <a:solidFill>
            <a:srgbClr val="07883F"/>
          </a:solidFill>
          <a:ln w="12700">
            <a:solidFill>
              <a:srgbClr val="07883F"/>
            </a:solidFill>
            <a:prstDash val="solid"/>
          </a:ln>
        </p:spPr>
      </p:sp>
      <p:sp>
        <p:nvSpPr>
          <p:cNvPr id="18" name="Text 15"/>
          <p:cNvSpPr/>
          <p:nvPr/>
        </p:nvSpPr>
        <p:spPr>
          <a:xfrm>
            <a:off x="548640" y="4334256"/>
            <a:ext cx="384048" cy="164592"/>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9" name="Text 16"/>
          <p:cNvSpPr/>
          <p:nvPr/>
        </p:nvSpPr>
        <p:spPr>
          <a:xfrm>
            <a:off x="1143000" y="4233672"/>
            <a:ext cx="9875520" cy="475488"/>
          </a:xfrm>
          <a:prstGeom prst="rect">
            <a:avLst/>
          </a:prstGeom>
          <a:noFill/>
          <a:ln/>
        </p:spPr>
        <p:txBody>
          <a:bodyPr wrap="square" lIns="0" tIns="0" rIns="0" bIns="0" rtlCol="0" anchor="ctr"/>
          <a:lstStyle/>
          <a:p>
            <a:pPr indent="0" marL="0">
              <a:buNone/>
            </a:pPr>
            <a:r>
              <a:rPr lang="en-US" sz="1500" dirty="0">
                <a:solidFill>
                  <a:srgbClr val="102A43"/>
                </a:solidFill>
              </a:rPr>
              <a:t>Causal claims are not made without an appropriate design</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62C24"/>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94360" y="411480"/>
            <a:ext cx="777240" cy="548640"/>
          </a:xfrm>
          <a:prstGeom prst="rect">
            <a:avLst/>
          </a:prstGeom>
        </p:spPr>
      </p:pic>
      <p:sp>
        <p:nvSpPr>
          <p:cNvPr id="3" name="Text 0"/>
          <p:cNvSpPr/>
          <p:nvPr/>
        </p:nvSpPr>
        <p:spPr>
          <a:xfrm>
            <a:off x="1508760" y="521208"/>
            <a:ext cx="2926080" cy="201168"/>
          </a:xfrm>
          <a:prstGeom prst="rect">
            <a:avLst/>
          </a:prstGeom>
          <a:noFill/>
          <a:ln/>
        </p:spPr>
        <p:txBody>
          <a:bodyPr wrap="square" lIns="0" tIns="0" rIns="0" bIns="0" rtlCol="0" anchor="ctr"/>
          <a:lstStyle/>
          <a:p>
            <a:pPr indent="0" marL="0">
              <a:buNone/>
            </a:pPr>
            <a:r>
              <a:rPr lang="en-US" sz="1100" b="1" dirty="0">
                <a:solidFill>
                  <a:srgbClr val="FFFFFF"/>
                </a:solidFill>
              </a:rPr>
              <a:t>VOICEINSIGHTS AFRICA</a:t>
            </a:r>
            <a:endParaRPr lang="en-US" sz="1100" dirty="0"/>
          </a:p>
        </p:txBody>
      </p:sp>
      <p:sp>
        <p:nvSpPr>
          <p:cNvPr id="4" name="Text 1"/>
          <p:cNvSpPr/>
          <p:nvPr/>
        </p:nvSpPr>
        <p:spPr>
          <a:xfrm>
            <a:off x="594360" y="1965960"/>
            <a:ext cx="7589520" cy="1005840"/>
          </a:xfrm>
          <a:prstGeom prst="rect">
            <a:avLst/>
          </a:prstGeom>
          <a:noFill/>
          <a:ln/>
        </p:spPr>
        <p:txBody>
          <a:bodyPr wrap="square" lIns="0" tIns="0" rIns="0" bIns="0" rtlCol="0" anchor="ctr"/>
          <a:lstStyle/>
          <a:p>
            <a:pPr indent="0" marL="0">
              <a:buNone/>
            </a:pPr>
            <a:r>
              <a:rPr lang="en-US" sz="3000" b="1" dirty="0">
                <a:solidFill>
                  <a:srgbClr val="FFFFFF"/>
                </a:solidFill>
              </a:rPr>
              <a:t>From every voice to an accountable decision</a:t>
            </a:r>
            <a:endParaRPr lang="en-US" sz="3000" dirty="0"/>
          </a:p>
        </p:txBody>
      </p:sp>
      <p:sp>
        <p:nvSpPr>
          <p:cNvPr id="5" name="Text 2"/>
          <p:cNvSpPr/>
          <p:nvPr/>
        </p:nvSpPr>
        <p:spPr>
          <a:xfrm>
            <a:off x="594360" y="3337560"/>
            <a:ext cx="6400800" cy="320040"/>
          </a:xfrm>
          <a:prstGeom prst="rect">
            <a:avLst/>
          </a:prstGeom>
          <a:noFill/>
          <a:ln/>
        </p:spPr>
        <p:txBody>
          <a:bodyPr wrap="square" lIns="0" tIns="0" rIns="0" bIns="0" rtlCol="0" anchor="ctr"/>
          <a:lstStyle/>
          <a:p>
            <a:pPr indent="0" marL="0">
              <a:buNone/>
            </a:pPr>
            <a:r>
              <a:rPr lang="en-US" sz="1700" dirty="0">
                <a:solidFill>
                  <a:srgbClr val="D4AF37"/>
                </a:solidFill>
              </a:rPr>
              <a:t>Every Voice. Every Language. Every Insight.</a:t>
            </a:r>
            <a:endParaRPr lang="en-US" sz="1700" dirty="0"/>
          </a:p>
        </p:txBody>
      </p:sp>
      <p:sp>
        <p:nvSpPr>
          <p:cNvPr id="6" name="Shape 3"/>
          <p:cNvSpPr/>
          <p:nvPr/>
        </p:nvSpPr>
        <p:spPr>
          <a:xfrm>
            <a:off x="9235440" y="0"/>
            <a:ext cx="2956255" cy="6858000"/>
          </a:xfrm>
          <a:prstGeom prst="rect">
            <a:avLst/>
          </a:prstGeom>
          <a:solidFill>
            <a:srgbClr val="07883F"/>
          </a:solidFill>
          <a:ln w="12700">
            <a:solidFill>
              <a:srgbClr val="07883F"/>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VoiceInsights Africa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Interactive Intelligence Report</dc:title>
  <dc:subject>Synthetic Demonstration Publication</dc:subject>
  <dc:creator>VoiceInsights Africa</dc:creator>
  <cp:lastModifiedBy>VoiceInsights Africa</cp:lastModifiedBy>
  <cp:revision>1</cp:revision>
  <dcterms:created xsi:type="dcterms:W3CDTF">2026-07-12T22:51:26Z</dcterms:created>
  <dcterms:modified xsi:type="dcterms:W3CDTF">2026-07-12T22:51:26Z</dcterms:modified>
</cp:coreProperties>
</file>